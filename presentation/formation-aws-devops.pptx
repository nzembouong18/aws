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Lst>
  <p:notesMasterIdLst>
    <p:notesMasterId r:id="rId1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7f3c225-81fe-af51-e38b-845b6d13cac8}">
          <p14:sldIdLst>
            <p14:sldId id="256"/>
            <p14:sldId id="257"/>
            <p14:sldId id="258"/>
            <p14:sldId id="259"/>
            <p14:sldId id="260"/>
            <p14:sldId id="261"/>
          </p14:sldIdLst>
        </p14:section>
        <p14:section name="00 Démarrage" id="{c4eb38e0-b585-9e06-a1ed-6c7f5736bf38}">
          <p14:sldIdLst>
            <p14:sldId id="262"/>
            <p14:sldId id="263"/>
            <p14:sldId id="264"/>
            <p14:sldId id="265"/>
            <p14:sldId id="266"/>
            <p14:sldId id="267"/>
          </p14:sldIdLst>
        </p14:section>
        <p14:section name="01 Fondamentaux du cloud" id="{a410167e-ad53-19c2-8508-7761d6c38ab8}">
          <p14:sldIdLst>
            <p14:sldId id="268"/>
            <p14:sldId id="269"/>
            <p14:sldId id="270"/>
            <p14:sldId id="271"/>
            <p14:sldId id="272"/>
            <p14:sldId id="273"/>
          </p14:sldIdLst>
        </p14:section>
        <p14:section name="02 IAM : identités et accès" id="{b77aac82-dd3d-3cf8-1985-a075af3f0ae2}">
          <p14:sldIdLst>
            <p14:sldId id="274"/>
            <p14:sldId id="275"/>
            <p14:sldId id="276"/>
            <p14:sldId id="277"/>
            <p14:sldId id="278"/>
            <p14:sldId id="279"/>
            <p14:sldId id="280"/>
            <p14:sldId id="281"/>
          </p14:sldIdLst>
        </p14:section>
        <p14:section name="03 Réseau : Amazon VPC" id="{be17c85c-4733-c914-af86-429fbf1cf489}">
          <p14:sldIdLst>
            <p14:sldId id="282"/>
            <p14:sldId id="283"/>
            <p14:sldId id="284"/>
            <p14:sldId id="285"/>
            <p14:sldId id="286"/>
            <p14:sldId id="287"/>
            <p14:sldId id="288"/>
          </p14:sldIdLst>
        </p14:section>
        <p14:section name="04 Compute : Amazon EC2" id="{52fe4ec3-673f-db74-9217-ba1a6aa8f367}">
          <p14:sldIdLst>
            <p14:sldId id="289"/>
            <p14:sldId id="290"/>
            <p14:sldId id="291"/>
            <p14:sldId id="292"/>
            <p14:sldId id="293"/>
            <p14:sldId id="294"/>
            <p14:sldId id="295"/>
          </p14:sldIdLst>
        </p14:section>
        <p14:section name="05 Stockage : S3, EBS, EFS" id="{99c0d52a-78d1-f233-2f5d-72203aac19e2}">
          <p14:sldIdLst>
            <p14:sldId id="296"/>
            <p14:sldId id="297"/>
            <p14:sldId id="298"/>
            <p14:sldId id="299"/>
            <p14:sldId id="300"/>
            <p14:sldId id="301"/>
          </p14:sldIdLst>
        </p14:section>
        <p14:section name="06 Bases de données" id="{b13017c9-2ef5-fe9b-a50d-e1297a12e576}">
          <p14:sldIdLst>
            <p14:sldId id="302"/>
            <p14:sldId id="303"/>
            <p14:sldId id="304"/>
            <p14:sldId id="305"/>
            <p14:sldId id="306"/>
            <p14:sldId id="307"/>
          </p14:sldIdLst>
        </p14:section>
        <p14:section name="07 Haute disponibilité et edge" id="{e94b0507-115c-09d4-ec70-6b638998b573}">
          <p14:sldIdLst>
            <p14:sldId id="308"/>
            <p14:sldId id="309"/>
            <p14:sldId id="310"/>
            <p14:sldId id="311"/>
            <p14:sldId id="312"/>
            <p14:sldId id="313"/>
            <p14:sldId id="314"/>
          </p14:sldIdLst>
        </p14:section>
        <p14:section name="08 Serverless et messaging" id="{532d0d90-0a53-4236-8f6e-0952a8460682}">
          <p14:sldIdLst>
            <p14:sldId id="315"/>
            <p14:sldId id="316"/>
            <p14:sldId id="317"/>
            <p14:sldId id="318"/>
            <p14:sldId id="319"/>
            <p14:sldId id="320"/>
          </p14:sldIdLst>
        </p14:section>
        <p14:section name="09 Conteneurs : ECR, ECS, EKS" id="{4d10d425-2fc9-2ddc-5ab4-33246043c788}">
          <p14:sldIdLst>
            <p14:sldId id="321"/>
            <p14:sldId id="322"/>
            <p14:sldId id="323"/>
            <p14:sldId id="324"/>
            <p14:sldId id="325"/>
            <p14:sldId id="326"/>
          </p14:sldIdLst>
        </p14:section>
        <p14:section name="10 Infrastructure as Code" id="{3c752bd7-9c15-8406-0427-5e9bb3010de5}">
          <p14:sldIdLst>
            <p14:sldId id="327"/>
            <p14:sldId id="328"/>
            <p14:sldId id="329"/>
            <p14:sldId id="330"/>
            <p14:sldId id="331"/>
            <p14:sldId id="332"/>
            <p14:sldId id="333"/>
          </p14:sldIdLst>
        </p14:section>
        <p14:section name="11 CI/CD sur AWS" id="{4844d3c1-6957-6623-323e-944e93034397}">
          <p14:sldIdLst>
            <p14:sldId id="334"/>
            <p14:sldId id="335"/>
            <p14:sldId id="336"/>
            <p14:sldId id="337"/>
            <p14:sldId id="338"/>
            <p14:sldId id="339"/>
            <p14:sldId id="340"/>
          </p14:sldIdLst>
        </p14:section>
        <p14:section name="12 Observabilité et audit" id="{c5a68f3e-c7f6-18ec-4956-5a0a18525995}">
          <p14:sldIdLst>
            <p14:sldId id="341"/>
            <p14:sldId id="342"/>
            <p14:sldId id="343"/>
            <p14:sldId id="344"/>
            <p14:sldId id="345"/>
            <p14:sldId id="346"/>
          </p14:sldIdLst>
        </p14:section>
        <p14:section name="13 Sécurité avancée" id="{1a99ad3b-2d5d-3570-4038-d140f7e1eb72}">
          <p14:sldIdLst>
            <p14:sldId id="347"/>
            <p14:sldId id="348"/>
            <p14:sldId id="349"/>
            <p14:sldId id="350"/>
            <p14:sldId id="351"/>
            <p14:sldId id="352"/>
            <p14:sldId id="353"/>
            <p14:sldId id="354"/>
          </p14:sldIdLst>
        </p14:section>
        <p14:section name="14 Architecture et FinOps" id="{700936c4-2a53-c058-af82-83bf45b6c7c7}">
          <p14:sldIdLst>
            <p14:sldId id="355"/>
            <p14:sldId id="356"/>
            <p14:sldId id="357"/>
            <p14:sldId id="358"/>
            <p14:sldId id="359"/>
            <p14:sldId id="360"/>
          </p14:sldIdLst>
        </p14:section>
        <p14:section name="15 Multi-comptes et gouvernance" id="{873e125b-f168-046b-ba3e-d0d6d3396b73}">
          <p14:sldIdLst>
            <p14:sldId id="361"/>
            <p14:sldId id="362"/>
            <p14:sldId id="363"/>
            <p14:sldId id="364"/>
            <p14:sldId id="365"/>
            <p14:sldId id="366"/>
          </p14:sldIdLst>
        </p14:section>
        <p14:section name="16 Projet final : TaskHub" id="{80b17c0f-4ea0-0ab2-b5ea-7e03d22f2c4e}">
          <p14:sldIdLst>
            <p14:sldId id="367"/>
            <p14:sldId id="368"/>
            <p14:sldId id="369"/>
            <p14:sldId id="370"/>
            <p14:sldId id="371"/>
          </p14:sldIdLst>
        </p14:section>
        <p14:section name="17 Préparation aux certifications" id="{bf64b5eb-7e24-56bf-5a29-130206bb7024}">
          <p14:sldIdLst>
            <p14:sldId id="372"/>
            <p14:sldId id="373"/>
            <p14:sldId id="374"/>
            <p14:sldId id="375"/>
            <p14:sldId id="376"/>
          </p14:sldIdLst>
        </p14:section>
        <p14:section name="Conclusion" id="{23333960-2ee8-fb91-70c6-fbe6a089ab2c}">
          <p14:sldIdLst>
            <p14:sldId id="377"/>
            <p14:sldId id="378"/>
            <p14:sldId id="3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notesMaster" Target="notesMasters/notesMaster1.xml"/><Relationship Id="rId127" Type="http://schemas.openxmlformats.org/officeDocument/2006/relationships/presProps" Target="presProps.xml"/><Relationship Id="rId128" Type="http://schemas.openxmlformats.org/officeDocument/2006/relationships/viewProps" Target="viewProps.xml"/><Relationship Id="rId129" Type="http://schemas.openxmlformats.org/officeDocument/2006/relationships/theme" Target="theme/theme1.xml"/><Relationship Id="rId1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Cette formation suit le dépôt GitHub nzembouong18/aws : chaque module a son cours, ses démos et son labo Terraform. L'objectif : vous rendre autonome sur AWS, puis vous préparer aux certifications.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 8 à 12 semaines en autoformation à mi-temps. Les labos sont écrits en Terraform (sauf l'étude de cas du module 14) et la syntaxe a été validée avec terraform validate ; aucun n'a été déployé sur un compte réel. Le rythme conseillé en présentiel : 30 % de cours, 20 % de démo, 50 % de labo.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Ajustez le point d'entrée selon le public. Quelqu'un qui connaît déjà Azure ou GCP peut passer les modules 00 et 01 en lecture rapide.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est progressif. Le projet final du module 16 sert d'évaluation de fin de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Insistez sur le budget et le nettoyage : la plupart des mauvaises surprises viennent d'une NAT Gateway, d'un load balancer ou d'une base oubliés.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18 modules. Les numéros correspondent aux dossiers du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Avant toute architecture, on prépare un terrain sûr : compte protégé, coûts surveillés, outils installés.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service AWS est une API HTTPS signée. Tous ces outils ne sont que des clients de cette API. En entreprise, rien n'est créé à la main dans la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root a des pouvoirs illimités qu'aucune policy IAM ne peut restreindre. On le verrouille et on l'oublie. Le budget protège votre carte bancaire.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L'ordre de résolution des credentials : options CLI, variables d'environnement, profil, rôle de conteneur, rôle d'instance. get-caller-identity est la commande à lancer en premier à chaque doute.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labo est court mais indispensable : il prouve que la chaîne complète fonctionne avant de commencer les choses sérieuses.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pouvoirs illimités, cible n°1, non restreignable par IAM. 2) Temporaire : il expire (15 min à 12 h) et limite l'impact d'une fuite. 3) AWS n'impose aucun plafond dur, le budget détecte tôt la dérive.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vocabulaire commun à toute la formation. Cœur du Cloud Practitioner.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curseur de responsabilité se déplace du client vers AWS à mesure qu'on monte dans les modèles. Pour un DevOps, le bon choix par défaut est le plus managé qui répond au besoin.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Choisir une région selon la conformité, la latence, la disponibilité des services et le coût. IAM et Route 53 sont globaux, EC2 est régional, un subnet est zonal.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frontière dépend du service. Sur RDS, AWS patche le moteur et vous gérez utilisateurs et schéma. Sur EC2, vous patchez l'OS vous-même.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Outils à connaître : Pricing Calculator avant de déployer, Cost Explorer et Budgets après. Le transfert sortant Internet et inter-AZ est facturé.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la région contient plusieurs zones isolées. 2) Faux, c'est votre responsabilité. 3)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IAM est la base de tous les examens et de toute la sécurité AWS. Prenez le temps de bien comprendre l'évaluation des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rôle est la brique la plus importante : services AWS, comptes tiers, fédération et CI/CD passent tous par des 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Piège classique : ListBucket s'applique au bucket, GetObject aux objets (avec /*). D'où les deux 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diapositive la plus utile du module. Quand un accès est refusé, parcourez ces cinq étapes dans l'ordre pour trouver la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fréquente : créer le rôle avec les bonnes permissions mais oublier la trust policy. Message typique : not authorized to perform sts:AssumeRole.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le temps manque, retenez trois idées : rôles plutôt que clés, moindre privilège,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ne crée ni clé d'accès ni MFA pour alice-test : à ajouter à la main dans la console, car la trust policy exige le MFA.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Non, la SCP plafonne. 2) Rien : elle fixe un maximum, il faut toujours un Allow. 3) aws:MultiFactorAuthPresent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réseau est la partie la plus dense de l'examen architecte. Ici on construit un VPC à trois niveaux, réutilisé dans le projet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 load balancer et NAT, route vers l'Internet Gateway. Privé : applications, sortie Internet via NAT. Data : bases de données, aucune route Internet. Les Security Groups sont chaînés : ALB vers app vers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Astuce coût : le trafic S3 ou ECR via NAT est facturé au Go. Un endpoint gratuit pour S3 supprime ce poste.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SG ne peut pas bloquer une IP précise, car il n'a pas de Deny. Pour cela on utilise une NACL ou WAF.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Prévoyez ses plages d'adresses dès le départ : on ne peut pas relier deux réseaux dont les CIDR se chevauchent.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NAT, l'instance privée atteint SSM grâce aux endpoints d'interface créés par le labo. N'oubliez pas le destroy : la NAT est facturée à l'heure.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isolation de panne, un subnet est zonal. 2) Règle entrante du SG de l'app avec le SG de l'ALB comme source. 3) L'endpoint de type Gateway (S3, DynamoDB).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EC2 reste le socle de nombreuses architectures, même si l'on préfère le managé quand c'est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Commencez petit, mesurez, puis dimensionnez. Compute Optimizer recommande des tailles à partir de l'usage réel.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L'immutabilité : on ne répare pas une instance, on la remplace à partir d'une nouvelle AMI ou d'un nouveau user-data.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SSM est aussi un outil de patching, d'exécution de commandes à grande échelle et de stockage de paramètres. C'est le couteau suisse de l'exploitation.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IMDS est le service de métadonnées à l'adresse 169.254.169.254. IMDSv2 exige un jeton de session, ce qui bloque la plupart des attaques SSRF.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Snapshot et AMI créés à la main ne sont pas dans le state Terraform : pensez à les supprimer à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aucun port ni clé, accès par IAM, audit centralisé. 2) Les données sont perdues. 3) Charges tolérantes aux interruptions : batch, CI, workers sans 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est omniprésent dans AWS : sauvegardes, sites statiques, data lakes, logs, artefacts.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EBS est lié à une zone : pour migrer un volume, on passe par un snapshot. EFS est réservé à Linux, pour Windows on utilise FSx.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cas de doute sur le profil d'accès, Intelligent-Tiering est la réponse sûre, et c'est aussi une réponse fréquente à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SSE-KMS, il faut aussi la permission kms:Decrypt sur la clé : cause fréquente d'AccessDenied malgré une policy S3 correcte.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cycle de vie du labo : Standard, puis IA à 30 jours, puis Glacier Instant Retrieval à 90 jours, expiration des anciennes versions à 180 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Intelligent-Tiering. 2) Supprimer le delete marker. 3) Non, EBS est lié à une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de la base conditionne l'architecture entière. On apprend à choisir selon le besoin, pas selon l'habitude.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le besoin est transactionnel avec jointures, pensez relationnel. Si c'est de la lecture par clé à très grande échelle, pensez DynamoDB.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d'examen très fréquente. Ajoutez RDS Proxy quand beaucoup de Lambdas ouvrent des connexions : il met les connexions en commun.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Scan lit toute la table : coûteux et lent. Une hot partition provoque du throttling même si la capacité globale est suffisante.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manage_master_user_password, RDS génère et stocke le mot de passe dans Secrets Manager : il n'apparaît jamais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Read Replica. 2) RDS Proxy. 3) Global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assemble les briques précédentes pour qu'une application survive à une panne de zone et absorbe des pics de trafic.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utilisateurs passent par CloudFront et WAF, puis un ALB réparti sur deux zones, des instances dans un Auto Scaling Group, et une base Multi-AZ. Chaque couche survit à la perte d'une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Règle simple : si on parle de chemins d'URL, c'est un ALB. Si on a besoin d'IP fixes ou de TCP brut, c'est un NLB.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Utilisez le health check ELB, pas seulement EC2, pour que les instances en échec applicatif soient remplacées.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basculement automatique, on associe un health check à un enregistrement failover. Global Accelerator offre des IP anycast statiques pour le TCP et l'UDP.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simple : une boucle curl pendant que vous tuez une instance. Si vous voyez des erreurs, vérifiez le health check et le deregistration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ALBRequestCountPerTarget. 2) L'Alias fonctionne à l'apex et est natif AWS. 3) HTTPS et domaine personnalisé, cache, WAF, bucket privé via OAC.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Serverless ne veut pas dire sans serveur, mais sans serveur à gérer. On paie à l'usage et AWS fait la mise à l'échelle.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modes d'invocation : synchrone (API Gateway), asynchrone (S3, SNS, EventBridge, avec réessais et DLQ), et polling (SQS, Kinesis, DynamoDB Streams). Le cold start se réduit avec un paquet léger, arm64, SnapStart ou la concurrence provisionnée.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fonction a son propre rôle IAM au moindre privilège. Le worker utilise batchItemFailures pour ne retraiter que les messages en échec.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Réglages SQS essentiels : visibility timeout supérieur à la durée de traitement, long polling à 20 s, DLQ avec maxReceiveCount. Ne jamais oublier l'idempotence, car les messages peuvent arriver en double.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échoué trois fois : il passe en DLQ. C'est le filet de sécurité qui évite qu'un message empoisonné bloque la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SNS diffuse, SQS bufferise et fiabilise chaque consommateur. 2) Ordre par groupe et dé-duplication. 3) Concurrence provisionnée ou SnapStart.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conteneurs sont le mode de déploiement dominant. L'examen DevOps professionnel y revient souvent.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compétence Kubernetes existante, ECS sur Fargate est presque toujours le chemin le plus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réseau awsvpc : chaque tâche a sa propre interface réseau, son Security Group et une IP du subnet.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sécurité : un rôle IAM par service, tâches en subnets privés, endpoints ECR et S3 pour éviter la NAT, secrets hors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Construisez l'image en linux/amd64 pour correspondre à la plateforme de la task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task role = code de l'appli ; execution role = pull ECR, logs, secrets. 2) IRSA ou EKS Pod Identity. 3) Non reproductible et non traçable.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L'IaC est le cœur du métier DevOps. Sans elle, ni reproductibilité, ni revue de code, ni reprise après sinistre.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ressource créée à la main est une dette : personne ne sait comment la recréer.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CloudFormation est géré par AWS et gère lui-même l'état et le rollback. Les StackSets déploient une même baseline sur plusieurs comptes et régions.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CDK synthétise un template CloudFormation avec cdk synth. Terraform a une licence BSL, OpenTofu en est le fork communautaire.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Préférez for_each à count : les clés sont stables. Utilisez moved pour refactorer sans détruire, import pour adopter une ressource existante. Découpez l'état par domaine : réseau, données,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Détruisez d'abord l'environnement de démo, puis le bootstrap. Détruire le backend en premier perdrait l'état.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change set. 2) Éviter deux apply concurrents. 3) terraform import ou bloc import, puis écrire la ressource.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central pour la certification DevOps Professional.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l'on reconstruit à chaque environnement, on ne teste plus ce que l'on déploie. Après la production, des alarmes surveillent et déclenchent un rollback.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migrations de base de données doivent rester compatibles avec la version précédente (expand puis contract), sinon le rollback est impossible.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L'appel d'API s'appelle AssumeRoleWithWebIdentity. Ne jamais utiliser un sub en joker large comme repo:ORG/* sur un rôle puissant.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Pensez aussi à épingler les actions par SHA et à activer Dependabot pour la chaîne d'approvisionnement.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message à reconnaître : Not authorized to perform sts:AssumeRoleWithWebIdentity. Il confirme que la trust policy joue bien son rôle de garde-fou.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credentials temporaires et restreints par dépôt et branche. 2) buildspec.yml. 3) Blue/green bascule tout, canary une fraction progressive.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qu'on ne mesure pas, on ne le maîtrise pas. L'objectif est aussi d'éviter la fatigue d'alertes.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Piège d'examen classique. Qui a supprimé ce groupe de sécurité ? CloudTrail. Ce groupe est-il conforme ? Config. Le CPU est-il saturé ? CloudWatch.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L'automatisation événementielle remplace le script cron sur une instance : plus fiable, plus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Alerter sur les symptômes visibles par l'utilisateur plutôt que sur chaque cause possible. La mémoire d'une EC2 exige l'agent CloudWatch.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Prérequis : la Lambda lab08-api du module 08 doit exister et avoir été invoquée au moins une fois, pour que le log group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CloudTrail. 2) Installer l'agent CloudWatch. 3) L'indisponibilité tolérée par le SLO ; une fois consommée, on ralentit les déploiements à risque.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Sécurité par conception : défense en profondeur, automatisation de la conformité.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Principes : moindre privilège, zero trust, chiffrement partout, tout en code, journaliser et alerter, automatiser la remédiation.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clé maîtresse ne sort jamais de KMS. Une CMK a sa propre policy : sans elle, même un administrateur IAM ne peut rien faire.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Mettez en cache la valeur du secret côté application pour limiter les appels et les coûts.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GuardDuty analyse CloudTrail, Flow Logs et DNS sans agent. Il ne sert à rien sans intégration à EventBridge pour déclencher des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d'école : clé d'accès exposée sur GitHub. Révoquer immédiatement, auditer CloudTrail pour l'étendue, ne pas se contenter de supprimer le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GuardDuty et AWS Config échouent si un détecteur ou un enregistreur existe déjà dans le compte : importez-les alors dans l'état.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KMS ne chiffre que de petits volumes ; on chiffre localement avec une clé de données protégée par la CMK. 2) Rotation et réplication contre configuration gratuite. 3) Contenir.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prend de la hauteur : savoir justifier une architecture, la chiffrer et la faire évoluer.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Well-Architected Tool de la console permet de mener une revue de charge de travail et de produire un plan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Choisissez selon les exigences chiffrées, pas par réflexe. Un actif-actif pour un RTO d'une heure est du gaspillage. Pensez aux quotas dans la région de secours.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réflexe sur un compte inconnu : rendre les coûts visibles avant d'optimiser.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Pistes de correction : CloudFront et WAF devant, ECS Fargate sur 3 zones, Aurora avec réplica inter-région, Warm Standby, Savings Plans et Graviton.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réplication continue des données. 2) Pilot Light : seul le cœur de données est actif ; Warm Standby : environnement réduit entièrement fonctionnel. 3) Compute Optimizer.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l'échelle d'une entreprise, on ne travaille jamais dans un seul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compte de gestion ne sert qu'à la facturation et à Organizations. Les comptes de sécurité hébergent les logs immuables et la sécurité centralisée. Les charges de travail sont séparées entre production et hors-production. Le sandbox est plafonné en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services globaux sont exclus avec NotAction, sinon on se bloque. Autres garde-fous classiques : interdire l'arrêt de CloudTrail ou la sortie de l'organisation.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Identity Center donne l'accès humain centralisé. Pour la CI/CD, un compte tooling assume un rôle de déploiement dans chaque compte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organisation disponible, lisez le code et simulez avec le Policy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Non. 2) Le compte de gestion. 3) Logs immuables et hors d'atteinte d'un compte compromis.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Évaluation de fin de parcours et pièce de portfolio. À réaliser seul ou en binôme.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Reprenez le VPC à trois niveaux du module 03, le service ECS du module 09, le pipeline du module 11 et l'observabilité du module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possibles : blue/green, multi-comptes, autoscaling testé en charge, DR inter-région, tracing, tests d'infrastructure.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démo : un push de code déclenche le pipeline, puis on simule des pannes (tuer une tâche, forcer un failover RDS) et on montre l'alerte reçue.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 1) Par les fondations. 2) Une sauvegarde non restaurée n'est pas une sauvegarde. 3) Secrets Manager, jamais dans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certification valide des compétences, la pratique les construit. Vérifiez toujours le guide d'examen officiel : codes, durées et pondérations évoluent.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SAA donne la vision d'ensemble, le DVA couvre le développement et le déploiement, le DOP valide l'expertise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Servez-vous de ces pondérations pour répartir le temps de révision. Le tableau de correspondance modules et examens est dans le README du module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SAA en 8 semaines, DOP en 10 semaines, CLF en 2 à 3 semaines, à 8 à 10 heures par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Aucune pénalité pour une mauvaise réponse : ne laissez rien en blanc. Dans une question à choix multiples, chaque option retenue doit être correcte et répondre à la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Reprenez la liste d'auto-évaluation du module 16 : cochez uniquement ce que vous savez faire sans aide.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final : détruisez vos ressources de formation et gardez votre budget d'alerte actif.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 de la formation. Invitez les participants à réaliser le projet final et à planifier leur première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chemeClr val="accent5"/>
                </a:solidFill>
              </a:rPr>
              <a:t>Formation AWS pour ingénieur DevOps</a:t>
            </a:r>
            <a:endParaRPr lang="en-US" sz="1100" dirty="0"/>
          </a:p>
        </p:txBody>
      </p:sp>
      <p:sp>
        <p:nvSpPr>
          <p:cNvPr id="3" name="Text 1"/>
          <p:cNvSpPr/>
          <p:nvPr>
            <p:ph idx="101" type="title" hasCustomPrompt="1"/>
          </p:nvPr>
        </p:nvSpPr>
        <p:spPr>
          <a:xfrm>
            <a:off x="548640" y="566928"/>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566160"/>
            <a:ext cx="5852160" cy="17373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863840" cy="219456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2.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3.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2.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2.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3.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2.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slideLayout" Target="../slideLayouts/slideLayout2.xml"/><Relationship Id="rId9"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3.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2.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slideLayout" Target="../slideLayouts/slideLayout3.xml"/><Relationship Id="rId6"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2.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2.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slideLayout" Target="../slideLayouts/slideLayout3.xml"/><Relationship Id="rId6"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slideLayout" Target="../slideLayouts/slideLayout2.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slideLayout" Target="../slideLayouts/slideLayout2.xml"/><Relationship Id="rId6"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2.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slideLayout" Target="../slideLayouts/slideLayout2.xml"/><Relationship Id="rId5"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slideLayout" Target="../slideLayouts/slideLayout3.xml"/><Relationship Id="rId6"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image" Target="../media/image-65-3.png"/><Relationship Id="rId4" Type="http://schemas.openxmlformats.org/officeDocument/2006/relationships/slideLayout" Target="../slideLayouts/slideLayout2.xml"/><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slideLayout" Target="../slideLayouts/slideLayout3.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slideLayout" Target="../slideLayouts/slideLayout2.xml"/><Relationship Id="rId7"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2.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slideLayout" Target="../slideLayouts/slideLayout3.xm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2.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2.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image" Target="../media/image-79-3.png"/><Relationship Id="rId4" Type="http://schemas.openxmlformats.org/officeDocument/2006/relationships/image" Target="../media/image-79-4.png"/><Relationship Id="rId5" Type="http://schemas.openxmlformats.org/officeDocument/2006/relationships/slideLayout" Target="../slideLayouts/slideLayout3.xml"/><Relationship Id="rId6"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2.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slideLayout" Target="../slideLayouts/slideLayout2.xml"/><Relationship Id="rId5"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slideLayout" Target="../slideLayouts/slideLayout3.xml"/><Relationship Id="rId6"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image" Target="../media/image-87-4.png"/><Relationship Id="rId5" Type="http://schemas.openxmlformats.org/officeDocument/2006/relationships/image" Target="../media/image-87-5.png"/><Relationship Id="rId6" Type="http://schemas.openxmlformats.org/officeDocument/2006/relationships/slideLayout" Target="../slideLayouts/slideLayout2.xml"/><Relationship Id="rId7"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slideLayout" Target="../slideLayouts/slideLayout2.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image" Target="../media/image-89-3.png"/><Relationship Id="rId4" Type="http://schemas.openxmlformats.org/officeDocument/2006/relationships/image" Target="../media/image-89-4.png"/><Relationship Id="rId5" Type="http://schemas.openxmlformats.org/officeDocument/2006/relationships/image" Target="../media/image-89-5.png"/><Relationship Id="rId6" Type="http://schemas.openxmlformats.org/officeDocument/2006/relationships/slideLayout" Target="../slideLayouts/slideLayout2.xml"/><Relationship Id="rId7"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image" Target="../media/image-91-3.png"/><Relationship Id="rId4" Type="http://schemas.openxmlformats.org/officeDocument/2006/relationships/slideLayout" Target="../slideLayouts/slideLayout2.xml"/><Relationship Id="rId5"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slideLayout" Target="../slideLayouts/slideLayout3.xml"/><Relationship Id="rId6"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slideLayout" Target="../slideLayouts/slideLayout2.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slideLayout" Target="../slideLayouts/slideLayout2.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slideLayout" Target="../slideLayouts/slideLayout2.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slideLayout" Target="../slideLayouts/slideLayout2.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image" Target="../media/image-99-3.png"/><Relationship Id="rId4" Type="http://schemas.openxmlformats.org/officeDocument/2006/relationships/slideLayout" Target="../slideLayouts/slideLayout2.xml"/><Relationship Id="rId5"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image" Target="../media/image-100-4.png"/><Relationship Id="rId5" Type="http://schemas.openxmlformats.org/officeDocument/2006/relationships/slideLayout" Target="../slideLayouts/slideLayout3.xml"/><Relationship Id="rId6"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image" Target="../media/image-101-1.png"/><Relationship Id="rId2" Type="http://schemas.openxmlformats.org/officeDocument/2006/relationships/image" Target="../media/image-101-2.png"/><Relationship Id="rId3" Type="http://schemas.openxmlformats.org/officeDocument/2006/relationships/image" Target="../media/image-101-3.png"/><Relationship Id="rId4" Type="http://schemas.openxmlformats.org/officeDocument/2006/relationships/image" Target="../media/image-101-4.png"/><Relationship Id="rId5" Type="http://schemas.openxmlformats.org/officeDocument/2006/relationships/image" Target="../media/image-101-5.png"/><Relationship Id="rId6" Type="http://schemas.openxmlformats.org/officeDocument/2006/relationships/image" Target="../media/image-101-6.png"/><Relationship Id="rId7" Type="http://schemas.openxmlformats.org/officeDocument/2006/relationships/slideLayout" Target="../slideLayouts/slideLayout2.xml"/><Relationship Id="rId8"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image" Target="../media/image-102-1.png"/><Relationship Id="rId2" Type="http://schemas.openxmlformats.org/officeDocument/2006/relationships/slideLayout" Target="../slideLayouts/slideLayout2.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image" Target="../media/image-103-1.png"/><Relationship Id="rId2" Type="http://schemas.openxmlformats.org/officeDocument/2006/relationships/image" Target="../media/image-103-2.png"/><Relationship Id="rId3" Type="http://schemas.openxmlformats.org/officeDocument/2006/relationships/image" Target="../media/image-103-3.png"/><Relationship Id="rId4" Type="http://schemas.openxmlformats.org/officeDocument/2006/relationships/image" Target="../media/image-103-4.png"/><Relationship Id="rId5" Type="http://schemas.openxmlformats.org/officeDocument/2006/relationships/image" Target="../media/image-103-5.png"/><Relationship Id="rId6" Type="http://schemas.openxmlformats.org/officeDocument/2006/relationships/slideLayout" Target="../slideLayouts/slideLayout2.xml"/><Relationship Id="rId7"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slideLayout" Target="../slideLayouts/slideLayout2.xml"/><Relationship Id="rId5"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image" Target="../media/image-106-1.png"/><Relationship Id="rId2" Type="http://schemas.openxmlformats.org/officeDocument/2006/relationships/image" Target="../media/image-106-2.png"/><Relationship Id="rId3" Type="http://schemas.openxmlformats.org/officeDocument/2006/relationships/image" Target="../media/image-106-3.png"/><Relationship Id="rId4" Type="http://schemas.openxmlformats.org/officeDocument/2006/relationships/image" Target="../media/image-106-4.png"/><Relationship Id="rId5" Type="http://schemas.openxmlformats.org/officeDocument/2006/relationships/slideLayout" Target="../slideLayouts/slideLayout3.xml"/><Relationship Id="rId6"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image" Target="../media/image-109-4.png"/><Relationship Id="rId5" Type="http://schemas.openxmlformats.org/officeDocument/2006/relationships/slideLayout" Target="../slideLayouts/slideLayout2.xml"/><Relationship Id="rId6"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4" Type="http://schemas.openxmlformats.org/officeDocument/2006/relationships/slideLayout" Target="../slideLayouts/slideLayout2.xml"/><Relationship Id="rId5"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image" Target="../media/image-112-1.png"/><Relationship Id="rId2" Type="http://schemas.openxmlformats.org/officeDocument/2006/relationships/image" Target="../media/image-112-2.png"/><Relationship Id="rId3" Type="http://schemas.openxmlformats.org/officeDocument/2006/relationships/image" Target="../media/image-112-3.png"/><Relationship Id="rId4" Type="http://schemas.openxmlformats.org/officeDocument/2006/relationships/image" Target="../media/image-112-4.png"/><Relationship Id="rId5" Type="http://schemas.openxmlformats.org/officeDocument/2006/relationships/slideLayout" Target="../slideLayouts/slideLayout3.xml"/><Relationship Id="rId6"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slideLayout" Target="../slideLayouts/slideLayout2.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image" Target="../media/image-114-1.png"/><Relationship Id="rId2" Type="http://schemas.openxmlformats.org/officeDocument/2006/relationships/image" Target="../media/image-114-2.png"/><Relationship Id="rId3" Type="http://schemas.openxmlformats.org/officeDocument/2006/relationships/image" Target="../media/image-114-3.png"/><Relationship Id="rId4" Type="http://schemas.openxmlformats.org/officeDocument/2006/relationships/image" Target="../media/image-114-4.png"/><Relationship Id="rId5" Type="http://schemas.openxmlformats.org/officeDocument/2006/relationships/image" Target="../media/image-114-5.png"/><Relationship Id="rId6" Type="http://schemas.openxmlformats.org/officeDocument/2006/relationships/image" Target="../media/image-114-6.png"/><Relationship Id="rId7" Type="http://schemas.openxmlformats.org/officeDocument/2006/relationships/slideLayout" Target="../slideLayouts/slideLayout2.xml"/><Relationship Id="rId8"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slideLayout" Target="../slideLayouts/slideLayout2.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image" Target="../media/image-116-1.png"/><Relationship Id="rId2" Type="http://schemas.openxmlformats.org/officeDocument/2006/relationships/image" Target="../media/image-116-2.png"/><Relationship Id="rId3" Type="http://schemas.openxmlformats.org/officeDocument/2006/relationships/image" Target="../media/image-116-3.png"/><Relationship Id="rId4" Type="http://schemas.openxmlformats.org/officeDocument/2006/relationships/slideLayout" Target="../slideLayouts/slideLayout2.xml"/><Relationship Id="rId5"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image" Target="../media/image-117-2.png"/><Relationship Id="rId3" Type="http://schemas.openxmlformats.org/officeDocument/2006/relationships/image" Target="../media/image-117-3.png"/><Relationship Id="rId4" Type="http://schemas.openxmlformats.org/officeDocument/2006/relationships/image" Target="../media/image-117-4.png"/><Relationship Id="rId5" Type="http://schemas.openxmlformats.org/officeDocument/2006/relationships/slideLayout" Target="../slideLayouts/slideLayout3.xml"/><Relationship Id="rId6"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2.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image" Target="../media/image-119-1.png"/><Relationship Id="rId2" Type="http://schemas.openxmlformats.org/officeDocument/2006/relationships/slideLayout" Target="../slideLayouts/slideLayout2.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image" Target="../media/image-120-1.png"/><Relationship Id="rId2" Type="http://schemas.openxmlformats.org/officeDocument/2006/relationships/image" Target="../media/image-120-2.png"/><Relationship Id="rId3" Type="http://schemas.openxmlformats.org/officeDocument/2006/relationships/image" Target="../media/image-120-3.png"/><Relationship Id="rId4" Type="http://schemas.openxmlformats.org/officeDocument/2006/relationships/image" Target="../media/image-120-4.png"/><Relationship Id="rId5" Type="http://schemas.openxmlformats.org/officeDocument/2006/relationships/image" Target="../media/image-120-5.png"/><Relationship Id="rId6" Type="http://schemas.openxmlformats.org/officeDocument/2006/relationships/slideLayout" Target="../slideLayouts/slideLayout2.xml"/><Relationship Id="rId7"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image" Target="../media/image-121-1.png"/><Relationship Id="rId2" Type="http://schemas.openxmlformats.org/officeDocument/2006/relationships/image" Target="../media/image-121-2.png"/><Relationship Id="rId3" Type="http://schemas.openxmlformats.org/officeDocument/2006/relationships/image" Target="../media/image-121-3.png"/><Relationship Id="rId4" Type="http://schemas.openxmlformats.org/officeDocument/2006/relationships/image" Target="../media/image-121-4.png"/><Relationship Id="rId5" Type="http://schemas.openxmlformats.org/officeDocument/2006/relationships/slideLayout" Target="../slideLayouts/slideLayout2.xml"/><Relationship Id="rId6"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image" Target="../media/image-122-1.png"/><Relationship Id="rId2" Type="http://schemas.openxmlformats.org/officeDocument/2006/relationships/image" Target="../media/image-122-2.png"/><Relationship Id="rId3" Type="http://schemas.openxmlformats.org/officeDocument/2006/relationships/image" Target="../media/image-122-3.png"/><Relationship Id="rId4" Type="http://schemas.openxmlformats.org/officeDocument/2006/relationships/image" Target="../media/image-122-4.png"/><Relationship Id="rId5" Type="http://schemas.openxmlformats.org/officeDocument/2006/relationships/slideLayout" Target="../slideLayouts/slideLayout2.xml"/><Relationship Id="rId6"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image" Target="../media/image-123-4.png"/><Relationship Id="rId5" Type="http://schemas.openxmlformats.org/officeDocument/2006/relationships/slideLayout" Target="../slideLayouts/slideLayout2.xml"/><Relationship Id="rId6"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image" Target="../media/image-124-1.png"/><Relationship Id="rId2" Type="http://schemas.openxmlformats.org/officeDocument/2006/relationships/slideLayout" Target="../slideLayouts/slideLayout4.xml"/><Relationship Id="rId3" Type="http://schemas.openxmlformats.org/officeDocument/2006/relationships/notesSlide" Target="../notesSlides/notesSlide1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863840" cy="2194560"/>
          </a:xfrm>
          <a:prstGeom prst="rect">
            <a:avLst/>
          </a:prstGeom>
          <a:noFill/>
          <a:ln/>
        </p:spPr>
        <p:txBody>
          <a:bodyPr wrap="square" lIns="0" tIns="0" rIns="0" bIns="0" rtlCol="0" anchor="b"/>
          <a:lstStyle/>
          <a:p>
            <a:pPr algn="l" indent="0" marL="0">
              <a:buNone/>
            </a:pPr>
            <a:r>
              <a:rPr lang="en-US" sz="5200" b="1" dirty="0">
                <a:solidFill>
                  <a:schemeClr val="bg1"/>
                </a:solidFill>
              </a:rPr>
              <a:t>Formation AWS pour ingénieur DevOps</a:t>
            </a:r>
            <a:endParaRPr lang="en-US" sz="5200" dirty="0"/>
          </a:p>
        </p:txBody>
      </p:sp>
      <p:sp>
        <p:nvSpPr>
          <p:cNvPr id="3" name="Sous-titre"/>
          <p:cNvSpPr txBox="1"/>
          <p:nvPr/>
        </p:nvSpPr>
        <p:spPr>
          <a:xfrm>
            <a:off x="822960" y="4251960"/>
            <a:ext cx="7680960" cy="914400"/>
          </a:xfrm>
          <a:prstGeom prst="rect">
            <a:avLst/>
          </a:prstGeom>
          <a:noFill/>
          <a:ln/>
        </p:spPr>
        <p:txBody>
          <a:bodyPr wrap="square" lIns="0" tIns="0" rIns="0" bIns="0" rtlCol="0" anchor="t"/>
          <a:lstStyle/>
          <a:p>
            <a:pPr indent="0" marL="0">
              <a:buNone/>
            </a:pPr>
            <a:r>
              <a:rPr lang="en-US" sz="2200" dirty="0">
                <a:solidFill>
                  <a:schemeClr val="bg2"/>
                </a:solidFill>
              </a:rPr>
              <a:t>Du débutant à l'expert cloud : cours, démos, labos et préparation aux certifications</a:t>
            </a:r>
            <a:endParaRPr lang="en-US" sz="2200" dirty="0"/>
          </a:p>
        </p:txBody>
      </p:sp>
      <p:sp>
        <p:nvSpPr>
          <p:cNvPr id="4" name="Shape 2"/>
          <p:cNvSpPr/>
          <p:nvPr/>
        </p:nvSpPr>
        <p:spPr>
          <a:xfrm>
            <a:off x="822960" y="5577840"/>
            <a:ext cx="1691640" cy="411480"/>
          </a:xfrm>
          <a:prstGeom prst="roundRect">
            <a:avLst>
              <a:gd name="adj" fmla="val 48889"/>
            </a:avLst>
          </a:prstGeom>
          <a:solidFill>
            <a:schemeClr val="tx2"/>
          </a:solidFill>
          <a:ln w="12700">
            <a:solidFill>
              <a:schemeClr val="tx2"/>
            </a:solidFill>
            <a:prstDash val="solid"/>
          </a:ln>
        </p:spPr>
      </p:sp>
      <p:sp>
        <p:nvSpPr>
          <p:cNvPr id="5" name="Text 3"/>
          <p:cNvSpPr txBox="1"/>
          <p:nvPr/>
        </p:nvSpPr>
        <p:spPr>
          <a:xfrm>
            <a:off x="822960" y="5577840"/>
            <a:ext cx="1691640" cy="411480"/>
          </a:xfrm>
          <a:prstGeom prst="rect">
            <a:avLst/>
          </a:prstGeom>
          <a:noFill/>
          <a:ln/>
        </p:spPr>
        <p:txBody>
          <a:bodyPr wrap="square" lIns="0" tIns="0" rIns="0" bIns="0" rtlCol="0" anchor="ctr"/>
          <a:lstStyle/>
          <a:p>
            <a:pPr algn="ctr" indent="0" marL="0">
              <a:buNone/>
            </a:pPr>
            <a:r>
              <a:rPr lang="en-US" sz="1400" b="1" dirty="0">
                <a:solidFill>
                  <a:schemeClr val="bg1"/>
                </a:solidFill>
              </a:rPr>
              <a:t>Cours</a:t>
            </a:r>
            <a:endParaRPr lang="en-US" sz="1400" dirty="0"/>
          </a:p>
        </p:txBody>
      </p:sp>
      <p:sp>
        <p:nvSpPr>
          <p:cNvPr id="6" name="Shape 4"/>
          <p:cNvSpPr/>
          <p:nvPr/>
        </p:nvSpPr>
        <p:spPr>
          <a:xfrm>
            <a:off x="2697480" y="5577840"/>
            <a:ext cx="1691640" cy="411480"/>
          </a:xfrm>
          <a:prstGeom prst="roundRect">
            <a:avLst>
              <a:gd name="adj" fmla="val 48889"/>
            </a:avLst>
          </a:prstGeom>
          <a:solidFill>
            <a:schemeClr val="tx2"/>
          </a:solidFill>
          <a:ln w="12700">
            <a:solidFill>
              <a:schemeClr val="tx2"/>
            </a:solidFill>
            <a:prstDash val="solid"/>
          </a:ln>
        </p:spPr>
      </p:sp>
      <p:sp>
        <p:nvSpPr>
          <p:cNvPr id="7" name="Text 5"/>
          <p:cNvSpPr txBox="1"/>
          <p:nvPr/>
        </p:nvSpPr>
        <p:spPr>
          <a:xfrm>
            <a:off x="2697480" y="5577840"/>
            <a:ext cx="1691640" cy="411480"/>
          </a:xfrm>
          <a:prstGeom prst="rect">
            <a:avLst/>
          </a:prstGeom>
          <a:noFill/>
          <a:ln/>
        </p:spPr>
        <p:txBody>
          <a:bodyPr wrap="square" lIns="0" tIns="0" rIns="0" bIns="0" rtlCol="0" anchor="ctr"/>
          <a:lstStyle/>
          <a:p>
            <a:pPr algn="ctr" indent="0" marL="0">
              <a:buNone/>
            </a:pPr>
            <a:r>
              <a:rPr lang="en-US" sz="1400" b="1" dirty="0">
                <a:solidFill>
                  <a:schemeClr val="bg1"/>
                </a:solidFill>
              </a:rPr>
              <a:t>Démos</a:t>
            </a:r>
            <a:endParaRPr lang="en-US" sz="1400" dirty="0"/>
          </a:p>
        </p:txBody>
      </p:sp>
      <p:sp>
        <p:nvSpPr>
          <p:cNvPr id="8" name="Shape 6"/>
          <p:cNvSpPr/>
          <p:nvPr/>
        </p:nvSpPr>
        <p:spPr>
          <a:xfrm>
            <a:off x="4572000" y="5577840"/>
            <a:ext cx="1691640" cy="411480"/>
          </a:xfrm>
          <a:prstGeom prst="roundRect">
            <a:avLst>
              <a:gd name="adj" fmla="val 48889"/>
            </a:avLst>
          </a:prstGeom>
          <a:solidFill>
            <a:schemeClr val="tx2"/>
          </a:solidFill>
          <a:ln w="12700">
            <a:solidFill>
              <a:schemeClr val="tx2"/>
            </a:solidFill>
            <a:prstDash val="solid"/>
          </a:ln>
        </p:spPr>
      </p:sp>
      <p:sp>
        <p:nvSpPr>
          <p:cNvPr id="9" name="Text 7"/>
          <p:cNvSpPr txBox="1"/>
          <p:nvPr/>
        </p:nvSpPr>
        <p:spPr>
          <a:xfrm>
            <a:off x="4572000" y="5577840"/>
            <a:ext cx="1691640" cy="411480"/>
          </a:xfrm>
          <a:prstGeom prst="rect">
            <a:avLst/>
          </a:prstGeom>
          <a:noFill/>
          <a:ln/>
        </p:spPr>
        <p:txBody>
          <a:bodyPr wrap="square" lIns="0" tIns="0" rIns="0" bIns="0" rtlCol="0" anchor="ctr"/>
          <a:lstStyle/>
          <a:p>
            <a:pPr algn="ctr" indent="0" marL="0">
              <a:buNone/>
            </a:pPr>
            <a:r>
              <a:rPr lang="en-US" sz="1400" b="1" dirty="0">
                <a:solidFill>
                  <a:schemeClr val="bg1"/>
                </a:solidFill>
              </a:rPr>
              <a:t>Labos</a:t>
            </a:r>
            <a:endParaRPr lang="en-US" sz="1400" dirty="0"/>
          </a:p>
        </p:txBody>
      </p:sp>
      <p:sp>
        <p:nvSpPr>
          <p:cNvPr id="10" name="Shape 8"/>
          <p:cNvSpPr/>
          <p:nvPr/>
        </p:nvSpPr>
        <p:spPr>
          <a:xfrm>
            <a:off x="6446520" y="5577840"/>
            <a:ext cx="1691640" cy="411480"/>
          </a:xfrm>
          <a:prstGeom prst="roundRect">
            <a:avLst>
              <a:gd name="adj" fmla="val 48889"/>
            </a:avLst>
          </a:prstGeom>
          <a:solidFill>
            <a:schemeClr val="tx2"/>
          </a:solidFill>
          <a:ln w="12700">
            <a:solidFill>
              <a:schemeClr val="tx2"/>
            </a:solidFill>
            <a:prstDash val="solid"/>
          </a:ln>
        </p:spPr>
      </p:sp>
      <p:sp>
        <p:nvSpPr>
          <p:cNvPr id="11" name="Text 9"/>
          <p:cNvSpPr txBox="1"/>
          <p:nvPr/>
        </p:nvSpPr>
        <p:spPr>
          <a:xfrm>
            <a:off x="6446520" y="5577840"/>
            <a:ext cx="1691640" cy="411480"/>
          </a:xfrm>
          <a:prstGeom prst="rect">
            <a:avLst/>
          </a:prstGeom>
          <a:noFill/>
          <a:ln/>
        </p:spPr>
        <p:txBody>
          <a:bodyPr wrap="square" lIns="0" tIns="0" rIns="0" bIns="0" rtlCol="0" anchor="ctr"/>
          <a:lstStyle/>
          <a:p>
            <a:pPr algn="ctr" indent="0" marL="0">
              <a:buNone/>
            </a:pPr>
            <a:r>
              <a:rPr lang="en-US" sz="1400" b="1" dirty="0">
                <a:solidFill>
                  <a:schemeClr val="bg1"/>
                </a:solidFill>
              </a:rPr>
              <a:t>Certifications</a:t>
            </a:r>
            <a:endParaRPr lang="en-US" sz="1400" dirty="0"/>
          </a:p>
        </p:txBody>
      </p:sp>
      <p:sp>
        <p:nvSpPr>
          <p:cNvPr id="12" name="Pastille FaCloud"/>
          <p:cNvSpPr/>
          <p:nvPr/>
        </p:nvSpPr>
        <p:spPr>
          <a:xfrm>
            <a:off x="9326880" y="914400"/>
            <a:ext cx="2194560" cy="2194560"/>
          </a:xfrm>
          <a:prstGeom prst="ellipse">
            <a:avLst/>
          </a:prstGeom>
          <a:solidFill>
            <a:schemeClr val="accent1"/>
          </a:solidFill>
          <a:ln w="12700">
            <a:solidFill>
              <a:schemeClr val="accent1"/>
            </a:solidFill>
            <a:prstDash val="solid"/>
          </a:ln>
        </p:spPr>
      </p:sp>
      <p:pic>
        <p:nvPicPr>
          <p:cNvPr id="13" name="Icône FaCloud" descr="icône">    </p:cNvPr>
          <p:cNvPicPr>
            <a:picLocks noChangeAspect="1"/>
          </p:cNvPicPr>
          <p:nvPr/>
        </p:nvPicPr>
        <p:blipFill>
          <a:blip r:embed="rId1"/>
          <a:stretch>
            <a:fillRect/>
          </a:stretch>
        </p:blipFill>
        <p:spPr>
          <a:xfrm>
            <a:off x="9897466" y="1484986"/>
            <a:ext cx="1053389" cy="1053389"/>
          </a:xfrm>
          <a:prstGeom prst="rect">
            <a:avLst/>
          </a:prstGeom>
        </p:spPr>
      </p:pic>
      <p:sp>
        <p:nvSpPr>
          <p:cNvPr id="14" name="Pastille FaCode"/>
          <p:cNvSpPr/>
          <p:nvPr/>
        </p:nvSpPr>
        <p:spPr>
          <a:xfrm>
            <a:off x="10332720" y="3291840"/>
            <a:ext cx="1371600" cy="1371600"/>
          </a:xfrm>
          <a:prstGeom prst="ellipse">
            <a:avLst/>
          </a:prstGeom>
          <a:solidFill>
            <a:schemeClr val="accent3"/>
          </a:solidFill>
          <a:ln w="12700">
            <a:solidFill>
              <a:schemeClr val="accent3"/>
            </a:solidFill>
            <a:prstDash val="solid"/>
          </a:ln>
        </p:spPr>
      </p:sp>
      <p:pic>
        <p:nvPicPr>
          <p:cNvPr id="15" name="Icône FaCode" descr="icône">    </p:cNvPr>
          <p:cNvPicPr>
            <a:picLocks noChangeAspect="1"/>
          </p:cNvPicPr>
          <p:nvPr/>
        </p:nvPicPr>
        <p:blipFill>
          <a:blip r:embed="rId2"/>
          <a:stretch>
            <a:fillRect/>
          </a:stretch>
        </p:blipFill>
        <p:spPr>
          <a:xfrm>
            <a:off x="10689336" y="3648456"/>
            <a:ext cx="658368" cy="658368"/>
          </a:xfrm>
          <a:prstGeom prst="rect">
            <a:avLst/>
          </a:prstGeom>
        </p:spPr>
      </p:pic>
      <p:sp>
        <p:nvSpPr>
          <p:cNvPr id="16" name="Pastille FaShieldAlt"/>
          <p:cNvSpPr/>
          <p:nvPr/>
        </p:nvSpPr>
        <p:spPr>
          <a:xfrm>
            <a:off x="8595360" y="3566160"/>
            <a:ext cx="1188720" cy="1188720"/>
          </a:xfrm>
          <a:prstGeom prst="ellipse">
            <a:avLst/>
          </a:prstGeom>
          <a:solidFill>
            <a:schemeClr val="accent2"/>
          </a:solidFill>
          <a:ln w="12700">
            <a:solidFill>
              <a:schemeClr val="accent2"/>
            </a:solidFill>
            <a:prstDash val="solid"/>
          </a:ln>
        </p:spPr>
      </p:sp>
      <p:pic>
        <p:nvPicPr>
          <p:cNvPr id="17" name="Icône FaShieldAlt" descr="icône">    </p:cNvPr>
          <p:cNvPicPr>
            <a:picLocks noChangeAspect="1"/>
          </p:cNvPicPr>
          <p:nvPr/>
        </p:nvPicPr>
        <p:blipFill>
          <a:blip r:embed="rId3"/>
          <a:stretch>
            <a:fillRect/>
          </a:stretch>
        </p:blipFill>
        <p:spPr>
          <a:xfrm>
            <a:off x="8904427" y="3875227"/>
            <a:ext cx="570586" cy="570586"/>
          </a:xfrm>
          <a:prstGeom prst="rect">
            <a:avLst/>
          </a:prstGeom>
        </p:spPr>
      </p:pic>
      <p:sp>
        <p:nvSpPr>
          <p:cNvPr id="18" name="Pastille FaRocket"/>
          <p:cNvSpPr/>
          <p:nvPr/>
        </p:nvSpPr>
        <p:spPr>
          <a:xfrm>
            <a:off x="9692640" y="4846320"/>
            <a:ext cx="1005840" cy="1005840"/>
          </a:xfrm>
          <a:prstGeom prst="ellipse">
            <a:avLst/>
          </a:prstGeom>
          <a:solidFill>
            <a:schemeClr val="accent4"/>
          </a:solidFill>
          <a:ln w="12700">
            <a:solidFill>
              <a:schemeClr val="accent4"/>
            </a:solidFill>
            <a:prstDash val="solid"/>
          </a:ln>
        </p:spPr>
      </p:sp>
      <p:pic>
        <p:nvPicPr>
          <p:cNvPr id="19" name="Icône FaRocket" descr="icône">    </p:cNvPr>
          <p:cNvPicPr>
            <a:picLocks noChangeAspect="1"/>
          </p:cNvPicPr>
          <p:nvPr/>
        </p:nvPicPr>
        <p:blipFill>
          <a:blip r:embed="rId4"/>
          <a:stretch>
            <a:fillRect/>
          </a:stretch>
        </p:blipFill>
        <p:spPr>
          <a:xfrm>
            <a:off x="9954158" y="5107838"/>
            <a:ext cx="482803" cy="48280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 formation en chiffres</a:t>
            </a:r>
            <a:endParaRPr lang="en-US" sz="3600" dirty="0"/>
          </a:p>
        </p:txBody>
      </p:sp>
      <p:sp>
        <p:nvSpPr>
          <p:cNvPr id="5" name="Carte chiffre"/>
          <p:cNvSpPr/>
          <p:nvPr/>
        </p:nvSpPr>
        <p:spPr>
          <a:xfrm>
            <a:off x="548640" y="1691640"/>
            <a:ext cx="2567864" cy="3566160"/>
          </a:xfrm>
          <a:prstGeom prst="roundRect">
            <a:avLst>
              <a:gd name="adj" fmla="val 5341"/>
            </a:avLst>
          </a:prstGeom>
          <a:solidFill>
            <a:schemeClr val="bg2"/>
          </a:solidFill>
          <a:ln w="12700">
            <a:solidFill>
              <a:schemeClr val="bg2"/>
            </a:solidFill>
            <a:prstDash val="solid"/>
          </a:ln>
        </p:spPr>
      </p:sp>
      <p:sp>
        <p:nvSpPr>
          <p:cNvPr id="6" name="Chiffre"/>
          <p:cNvSpPr txBox="1"/>
          <p:nvPr/>
        </p:nvSpPr>
        <p:spPr>
          <a:xfrm>
            <a:off x="731520" y="2103120"/>
            <a:ext cx="2202104"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18</a:t>
            </a:r>
            <a:endParaRPr lang="en-US" sz="6000" dirty="0"/>
          </a:p>
        </p:txBody>
      </p:sp>
      <p:sp>
        <p:nvSpPr>
          <p:cNvPr id="7" name="Text 4"/>
          <p:cNvSpPr txBox="1"/>
          <p:nvPr/>
        </p:nvSpPr>
        <p:spPr>
          <a:xfrm>
            <a:off x="822960" y="3611880"/>
            <a:ext cx="2019224" cy="1280160"/>
          </a:xfrm>
          <a:prstGeom prst="rect">
            <a:avLst/>
          </a:prstGeom>
          <a:noFill/>
          <a:ln/>
        </p:spPr>
        <p:txBody>
          <a:bodyPr wrap="square" lIns="0" tIns="0" rIns="0" bIns="0" rtlCol="0" anchor="t"/>
          <a:lstStyle/>
          <a:p>
            <a:pPr algn="ctr" indent="0" marL="0">
              <a:buNone/>
            </a:pPr>
            <a:r>
              <a:rPr lang="en-US" sz="2000" dirty="0">
                <a:solidFill>
                  <a:schemeClr val="tx2"/>
                </a:solidFill>
              </a:rPr>
              <a:t>modules, de 00 à 17</a:t>
            </a:r>
            <a:endParaRPr lang="en-US" sz="2000" dirty="0"/>
          </a:p>
        </p:txBody>
      </p:sp>
      <p:sp>
        <p:nvSpPr>
          <p:cNvPr id="8" name="Carte chiffre"/>
          <p:cNvSpPr/>
          <p:nvPr/>
        </p:nvSpPr>
        <p:spPr>
          <a:xfrm>
            <a:off x="3390824" y="1691640"/>
            <a:ext cx="2567864" cy="3566160"/>
          </a:xfrm>
          <a:prstGeom prst="roundRect">
            <a:avLst>
              <a:gd name="adj" fmla="val 5341"/>
            </a:avLst>
          </a:prstGeom>
          <a:solidFill>
            <a:schemeClr val="bg2"/>
          </a:solidFill>
          <a:ln w="12700">
            <a:solidFill>
              <a:schemeClr val="bg2"/>
            </a:solidFill>
            <a:prstDash val="solid"/>
          </a:ln>
        </p:spPr>
      </p:sp>
      <p:sp>
        <p:nvSpPr>
          <p:cNvPr id="9" name="Chiffre"/>
          <p:cNvSpPr txBox="1"/>
          <p:nvPr/>
        </p:nvSpPr>
        <p:spPr>
          <a:xfrm>
            <a:off x="3573704" y="2103120"/>
            <a:ext cx="2202104"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~22 j</a:t>
            </a:r>
            <a:endParaRPr lang="en-US" sz="6000" dirty="0"/>
          </a:p>
        </p:txBody>
      </p:sp>
      <p:sp>
        <p:nvSpPr>
          <p:cNvPr id="10" name="Text 7"/>
          <p:cNvSpPr txBox="1"/>
          <p:nvPr/>
        </p:nvSpPr>
        <p:spPr>
          <a:xfrm>
            <a:off x="3665144" y="3611880"/>
            <a:ext cx="2019224" cy="1280160"/>
          </a:xfrm>
          <a:prstGeom prst="rect">
            <a:avLst/>
          </a:prstGeom>
          <a:noFill/>
          <a:ln/>
        </p:spPr>
        <p:txBody>
          <a:bodyPr wrap="square" lIns="0" tIns="0" rIns="0" bIns="0" rtlCol="0" anchor="t"/>
          <a:lstStyle/>
          <a:p>
            <a:pPr algn="ctr" indent="0" marL="0">
              <a:buNone/>
            </a:pPr>
            <a:r>
              <a:rPr lang="en-US" sz="2000" dirty="0">
                <a:solidFill>
                  <a:schemeClr val="tx2"/>
                </a:solidFill>
              </a:rPr>
              <a:t>de formation pratique</a:t>
            </a:r>
            <a:endParaRPr lang="en-US" sz="2000" dirty="0"/>
          </a:p>
        </p:txBody>
      </p:sp>
      <p:sp>
        <p:nvSpPr>
          <p:cNvPr id="11" name="Carte chiffre"/>
          <p:cNvSpPr/>
          <p:nvPr/>
        </p:nvSpPr>
        <p:spPr>
          <a:xfrm>
            <a:off x="6233008" y="1691640"/>
            <a:ext cx="2567864" cy="3566160"/>
          </a:xfrm>
          <a:prstGeom prst="roundRect">
            <a:avLst>
              <a:gd name="adj" fmla="val 5341"/>
            </a:avLst>
          </a:prstGeom>
          <a:solidFill>
            <a:schemeClr val="bg2"/>
          </a:solidFill>
          <a:ln w="12700">
            <a:solidFill>
              <a:schemeClr val="bg2"/>
            </a:solidFill>
            <a:prstDash val="solid"/>
          </a:ln>
        </p:spPr>
      </p:sp>
      <p:sp>
        <p:nvSpPr>
          <p:cNvPr id="12" name="Chiffre"/>
          <p:cNvSpPr txBox="1"/>
          <p:nvPr/>
        </p:nvSpPr>
        <p:spPr>
          <a:xfrm>
            <a:off x="6415888" y="2103120"/>
            <a:ext cx="2202104"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15</a:t>
            </a:r>
            <a:endParaRPr lang="en-US" sz="6000" dirty="0"/>
          </a:p>
        </p:txBody>
      </p:sp>
      <p:sp>
        <p:nvSpPr>
          <p:cNvPr id="13" name="Text 10"/>
          <p:cNvSpPr txBox="1"/>
          <p:nvPr/>
        </p:nvSpPr>
        <p:spPr>
          <a:xfrm>
            <a:off x="6507328" y="3611880"/>
            <a:ext cx="2019224" cy="1280160"/>
          </a:xfrm>
          <a:prstGeom prst="rect">
            <a:avLst/>
          </a:prstGeom>
          <a:noFill/>
          <a:ln/>
        </p:spPr>
        <p:txBody>
          <a:bodyPr wrap="square" lIns="0" tIns="0" rIns="0" bIns="0" rtlCol="0" anchor="t"/>
          <a:lstStyle/>
          <a:p>
            <a:pPr algn="ctr" indent="0" marL="0">
              <a:buNone/>
            </a:pPr>
            <a:r>
              <a:rPr lang="en-US" sz="2000" dirty="0">
                <a:solidFill>
                  <a:schemeClr val="tx2"/>
                </a:solidFill>
              </a:rPr>
              <a:t>labos pratiques, dont 14 en Terraform</a:t>
            </a:r>
            <a:endParaRPr lang="en-US" sz="2000" dirty="0"/>
          </a:p>
        </p:txBody>
      </p:sp>
      <p:sp>
        <p:nvSpPr>
          <p:cNvPr id="14" name="Carte chiffre"/>
          <p:cNvSpPr/>
          <p:nvPr/>
        </p:nvSpPr>
        <p:spPr>
          <a:xfrm>
            <a:off x="9075191" y="1691640"/>
            <a:ext cx="2567864" cy="3566160"/>
          </a:xfrm>
          <a:prstGeom prst="roundRect">
            <a:avLst>
              <a:gd name="adj" fmla="val 5341"/>
            </a:avLst>
          </a:prstGeom>
          <a:solidFill>
            <a:schemeClr val="bg2"/>
          </a:solidFill>
          <a:ln w="12700">
            <a:solidFill>
              <a:schemeClr val="bg2"/>
            </a:solidFill>
            <a:prstDash val="solid"/>
          </a:ln>
        </p:spPr>
      </p:sp>
      <p:sp>
        <p:nvSpPr>
          <p:cNvPr id="15" name="Chiffre"/>
          <p:cNvSpPr txBox="1"/>
          <p:nvPr/>
        </p:nvSpPr>
        <p:spPr>
          <a:xfrm>
            <a:off x="9258071" y="2103120"/>
            <a:ext cx="2202104"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134</a:t>
            </a:r>
            <a:endParaRPr lang="en-US" sz="6000" dirty="0"/>
          </a:p>
        </p:txBody>
      </p:sp>
      <p:sp>
        <p:nvSpPr>
          <p:cNvPr id="16" name="Text 13"/>
          <p:cNvSpPr txBox="1"/>
          <p:nvPr/>
        </p:nvSpPr>
        <p:spPr>
          <a:xfrm>
            <a:off x="9349511" y="3611880"/>
            <a:ext cx="2019224" cy="1280160"/>
          </a:xfrm>
          <a:prstGeom prst="rect">
            <a:avLst/>
          </a:prstGeom>
          <a:noFill/>
          <a:ln/>
        </p:spPr>
        <p:txBody>
          <a:bodyPr wrap="square" lIns="0" tIns="0" rIns="0" bIns="0" rtlCol="0" anchor="t"/>
          <a:lstStyle/>
          <a:p>
            <a:pPr algn="ctr" indent="0" marL="0">
              <a:buNone/>
            </a:pPr>
            <a:r>
              <a:rPr lang="en-US" sz="2000" dirty="0">
                <a:solidFill>
                  <a:schemeClr val="tx2"/>
                </a:solidFill>
              </a:rPr>
              <a:t>flashcards et 45 questions d'examen</a:t>
            </a:r>
            <a:endParaRPr lang="en-US" sz="2000" dirty="0"/>
          </a:p>
        </p:txBody>
      </p:sp>
      <p:sp>
        <p:nvSpPr>
          <p:cNvPr id="17"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8"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9"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20"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Chaque module suit le même rythme : cours, démos, labo, quiz.</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qui s'adresse ce cours ?</a:t>
            </a:r>
            <a:endParaRPr lang="en-US" sz="3600" dirty="0"/>
          </a:p>
        </p:txBody>
      </p:sp>
      <p:graphicFrame>
        <p:nvGraphicFramePr>
          <p:cNvPr id="4"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4206240"/>
                <a:gridCol w="3108960"/>
                <a:gridCol w="3776472"/>
              </a:tblGrid>
              <a:tr h="77724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Profil</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Point de départ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Objectif</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Admin système ou développeur junior</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Module 00</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Devenir DevOps AWS opérationnel</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DevOps venant d'un autre cloud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Modules 02 à 10</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Transposer ses acquis sur AWS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Ingénieur visant une certification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Module 17 + modules ciblés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Réussir SAA, DVA, SOA ou DOP</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Prérequis : bases Linux (shell, SSH), réseau (IP, DNS, HTTP) et Git. Aucune connaissance AWS n'est requise.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 parcours d'apprentissage</a:t>
            </a:r>
            <a:endParaRPr lang="en-US" sz="3600" dirty="0"/>
          </a:p>
        </p:txBody>
      </p:sp>
      <p:sp>
        <p:nvSpPr>
          <p:cNvPr id="5" name="Étape 1"/>
          <p:cNvSpPr/>
          <p:nvPr/>
        </p:nvSpPr>
        <p:spPr>
          <a:xfrm>
            <a:off x="548640" y="1600200"/>
            <a:ext cx="2499284" cy="3611880"/>
          </a:xfrm>
          <a:prstGeom prst="roundRect">
            <a:avLst>
              <a:gd name="adj" fmla="val 4390"/>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Débutant</a:t>
            </a:r>
            <a:endParaRPr lang="en-US" sz="2200" dirty="0"/>
          </a:p>
        </p:txBody>
      </p:sp>
      <p:sp>
        <p:nvSpPr>
          <p:cNvPr id="9" name="Text 6"/>
          <p:cNvSpPr txBox="1"/>
          <p:nvPr/>
        </p:nvSpPr>
        <p:spPr>
          <a:xfrm>
            <a:off x="777240"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Modules 00 à 05 : compte, IAM, réseau, EC2, stockage</a:t>
            </a:r>
            <a:endParaRPr lang="en-US" sz="1700" dirty="0"/>
          </a:p>
        </p:txBody>
      </p:sp>
      <p:sp>
        <p:nvSpPr>
          <p:cNvPr id="10" name="Flèche"/>
          <p:cNvSpPr/>
          <p:nvPr/>
        </p:nvSpPr>
        <p:spPr>
          <a:xfrm>
            <a:off x="3093644"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3413684" y="1600200"/>
            <a:ext cx="2499284" cy="3611880"/>
          </a:xfrm>
          <a:prstGeom prst="roundRect">
            <a:avLst>
              <a:gd name="adj" fmla="val 4390"/>
            </a:avLst>
          </a:prstGeom>
          <a:solidFill>
            <a:schemeClr val="bg2"/>
          </a:solidFill>
          <a:ln w="12700">
            <a:solidFill>
              <a:schemeClr val="bg2"/>
            </a:solidFill>
            <a:prstDash val="solid"/>
          </a:ln>
        </p:spPr>
      </p:sp>
      <p:sp>
        <p:nvSpPr>
          <p:cNvPr id="12" name="Shape 9"/>
          <p:cNvSpPr/>
          <p:nvPr/>
        </p:nvSpPr>
        <p:spPr>
          <a:xfrm>
            <a:off x="3642284"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642284"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642284"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Intermédiaire</a:t>
            </a:r>
            <a:endParaRPr lang="en-US" sz="2200" dirty="0"/>
          </a:p>
        </p:txBody>
      </p:sp>
      <p:sp>
        <p:nvSpPr>
          <p:cNvPr id="15" name="Text 12"/>
          <p:cNvSpPr txBox="1"/>
          <p:nvPr/>
        </p:nvSpPr>
        <p:spPr>
          <a:xfrm>
            <a:off x="3642284"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Modules 06 à 08 et 12 : bases de données, haute dispo, serverless, supervision</a:t>
            </a:r>
            <a:endParaRPr lang="en-US" sz="1700" dirty="0"/>
          </a:p>
        </p:txBody>
      </p:sp>
      <p:sp>
        <p:nvSpPr>
          <p:cNvPr id="16" name="Flèche"/>
          <p:cNvSpPr/>
          <p:nvPr/>
        </p:nvSpPr>
        <p:spPr>
          <a:xfrm>
            <a:off x="5958688"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6278728" y="1600200"/>
            <a:ext cx="2499284" cy="3611880"/>
          </a:xfrm>
          <a:prstGeom prst="roundRect">
            <a:avLst>
              <a:gd name="adj" fmla="val 4390"/>
            </a:avLst>
          </a:prstGeom>
          <a:solidFill>
            <a:schemeClr val="bg2"/>
          </a:solidFill>
          <a:ln w="12700">
            <a:solidFill>
              <a:schemeClr val="bg2"/>
            </a:solidFill>
            <a:prstDash val="solid"/>
          </a:ln>
        </p:spPr>
      </p:sp>
      <p:sp>
        <p:nvSpPr>
          <p:cNvPr id="18" name="Shape 15"/>
          <p:cNvSpPr/>
          <p:nvPr/>
        </p:nvSpPr>
        <p:spPr>
          <a:xfrm>
            <a:off x="6507328"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6507328"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6507328"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Avancé</a:t>
            </a:r>
            <a:endParaRPr lang="en-US" sz="2200" dirty="0"/>
          </a:p>
        </p:txBody>
      </p:sp>
      <p:sp>
        <p:nvSpPr>
          <p:cNvPr id="21" name="Text 18"/>
          <p:cNvSpPr txBox="1"/>
          <p:nvPr/>
        </p:nvSpPr>
        <p:spPr>
          <a:xfrm>
            <a:off x="6507328"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Modules 09 à 11, 13, 14 : conteneurs, IaC, CI/CD, sécurité, architecture</a:t>
            </a:r>
            <a:endParaRPr lang="en-US" sz="1700" dirty="0"/>
          </a:p>
        </p:txBody>
      </p:sp>
      <p:sp>
        <p:nvSpPr>
          <p:cNvPr id="22" name="Flèche"/>
          <p:cNvSpPr/>
          <p:nvPr/>
        </p:nvSpPr>
        <p:spPr>
          <a:xfrm>
            <a:off x="8823731"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9143771" y="1600200"/>
            <a:ext cx="2499284" cy="3611880"/>
          </a:xfrm>
          <a:prstGeom prst="roundRect">
            <a:avLst>
              <a:gd name="adj" fmla="val 4390"/>
            </a:avLst>
          </a:prstGeom>
          <a:solidFill>
            <a:schemeClr val="bg2"/>
          </a:solidFill>
          <a:ln w="12700">
            <a:solidFill>
              <a:schemeClr val="bg2"/>
            </a:solidFill>
            <a:prstDash val="solid"/>
          </a:ln>
        </p:spPr>
      </p:sp>
      <p:sp>
        <p:nvSpPr>
          <p:cNvPr id="24" name="Shape 21"/>
          <p:cNvSpPr/>
          <p:nvPr/>
        </p:nvSpPr>
        <p:spPr>
          <a:xfrm>
            <a:off x="9372371"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9372371"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9372371"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Expert</a:t>
            </a:r>
            <a:endParaRPr lang="en-US" sz="2200" dirty="0"/>
          </a:p>
        </p:txBody>
      </p:sp>
      <p:sp>
        <p:nvSpPr>
          <p:cNvPr id="27" name="Text 24"/>
          <p:cNvSpPr txBox="1"/>
          <p:nvPr/>
        </p:nvSpPr>
        <p:spPr>
          <a:xfrm>
            <a:off x="9372371"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Modules 15 à 17 : multi-comptes, projet final, certifications</a:t>
            </a:r>
            <a:endParaRPr lang="en-US" sz="1700" dirty="0"/>
          </a:p>
        </p:txBody>
      </p:sp>
      <p:sp>
        <p:nvSpPr>
          <p:cNvPr id="28"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9"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0"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1"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On avance par paliers : chaque niveau réutilise ce qui a été construit au précédent.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Quatre règles d'or avant de commencer</a:t>
            </a:r>
            <a:endParaRPr lang="en-US" sz="3600" dirty="0"/>
          </a:p>
        </p:txBody>
      </p:sp>
      <p:sp>
        <p:nvSpPr>
          <p:cNvPr id="5" name="Carte Compte dédié"/>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UserShield"/>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UserShield"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Compte dédié</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Un compte de formation, jamais celui de la production.</a:t>
            </a:r>
            <a:endParaRPr lang="en-US" sz="1900" dirty="0"/>
          </a:p>
        </p:txBody>
      </p:sp>
      <p:sp>
        <p:nvSpPr>
          <p:cNvPr id="10" name="Carte MFA partout"/>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Key"/>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Key"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MFA partout</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MFA sur le compte root, et aucune clé d'accès root.</a:t>
            </a:r>
            <a:endParaRPr lang="en-US" sz="1900" dirty="0"/>
          </a:p>
        </p:txBody>
      </p:sp>
      <p:sp>
        <p:nvSpPr>
          <p:cNvPr id="15" name="Carte Budget d'alerte"/>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Coins"/>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Coins"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Budget d'alerte</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Créez-le avant la première ressource : AWS ne plafonne pas.</a:t>
            </a:r>
            <a:endParaRPr lang="en-US" sz="1900" dirty="0"/>
          </a:p>
        </p:txBody>
      </p:sp>
      <p:sp>
        <p:nvSpPr>
          <p:cNvPr id="20" name="Carte Tout détruire"/>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TrashAl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TrashAl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Tout détruire</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terraform destroy en fin de labo. Les ressources payantes sont signalées dans chaque labo.</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INTRODUCTION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Au programme</a:t>
            </a:r>
            <a:endParaRPr lang="en-US" sz="3600" dirty="0"/>
          </a:p>
        </p:txBody>
      </p:sp>
      <p:sp>
        <p:nvSpPr>
          <p:cNvPr id="5" name="Shape 2"/>
          <p:cNvSpPr/>
          <p:nvPr/>
        </p:nvSpPr>
        <p:spPr>
          <a:xfrm>
            <a:off x="548640" y="1600200"/>
            <a:ext cx="402336" cy="402336"/>
          </a:xfrm>
          <a:prstGeom prst="ellipse">
            <a:avLst/>
          </a:prstGeom>
          <a:solidFill>
            <a:schemeClr val="tx1"/>
          </a:solidFill>
          <a:ln w="12700">
            <a:solidFill>
              <a:schemeClr val="tx1"/>
            </a:solidFill>
            <a:prstDash val="solid"/>
          </a:ln>
        </p:spPr>
      </p:sp>
      <p:sp>
        <p:nvSpPr>
          <p:cNvPr id="6" name="Text 3"/>
          <p:cNvSpPr txBox="1"/>
          <p:nvPr/>
        </p:nvSpPr>
        <p:spPr>
          <a:xfrm>
            <a:off x="548640" y="160020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00</a:t>
            </a:r>
            <a:endParaRPr lang="en-US" sz="1300" dirty="0"/>
          </a:p>
        </p:txBody>
      </p:sp>
      <p:sp>
        <p:nvSpPr>
          <p:cNvPr id="7" name="Text 4"/>
          <p:cNvSpPr txBox="1"/>
          <p:nvPr/>
        </p:nvSpPr>
        <p:spPr>
          <a:xfrm>
            <a:off x="1143000" y="1600200"/>
            <a:ext cx="4572000" cy="402336"/>
          </a:xfrm>
          <a:prstGeom prst="rect">
            <a:avLst/>
          </a:prstGeom>
          <a:noFill/>
          <a:ln/>
        </p:spPr>
        <p:txBody>
          <a:bodyPr wrap="square" lIns="0" tIns="0" rIns="0" bIns="0" rtlCol="0" anchor="ctr"/>
          <a:lstStyle/>
          <a:p>
            <a:pPr indent="0" marL="0">
              <a:buNone/>
            </a:pPr>
            <a:r>
              <a:rPr lang="en-US" sz="2000" dirty="0">
                <a:solidFill>
                  <a:schemeClr val="tx1"/>
                </a:solidFill>
              </a:rPr>
              <a:t>Démarrage</a:t>
            </a:r>
            <a:endParaRPr lang="en-US" sz="2000" dirty="0"/>
          </a:p>
        </p:txBody>
      </p:sp>
      <p:sp>
        <p:nvSpPr>
          <p:cNvPr id="8" name="Shape 5"/>
          <p:cNvSpPr/>
          <p:nvPr/>
        </p:nvSpPr>
        <p:spPr>
          <a:xfrm>
            <a:off x="548640" y="2093976"/>
            <a:ext cx="402336" cy="402336"/>
          </a:xfrm>
          <a:prstGeom prst="ellipse">
            <a:avLst/>
          </a:prstGeom>
          <a:solidFill>
            <a:schemeClr val="tx1"/>
          </a:solidFill>
          <a:ln w="12700">
            <a:solidFill>
              <a:schemeClr val="tx1"/>
            </a:solidFill>
            <a:prstDash val="solid"/>
          </a:ln>
        </p:spPr>
      </p:sp>
      <p:sp>
        <p:nvSpPr>
          <p:cNvPr id="9" name="Text 6"/>
          <p:cNvSpPr txBox="1"/>
          <p:nvPr/>
        </p:nvSpPr>
        <p:spPr>
          <a:xfrm>
            <a:off x="548640" y="209397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01</a:t>
            </a:r>
            <a:endParaRPr lang="en-US" sz="1300" dirty="0"/>
          </a:p>
        </p:txBody>
      </p:sp>
      <p:sp>
        <p:nvSpPr>
          <p:cNvPr id="10" name="Text 7"/>
          <p:cNvSpPr txBox="1"/>
          <p:nvPr/>
        </p:nvSpPr>
        <p:spPr>
          <a:xfrm>
            <a:off x="1143000" y="2093976"/>
            <a:ext cx="4572000" cy="402336"/>
          </a:xfrm>
          <a:prstGeom prst="rect">
            <a:avLst/>
          </a:prstGeom>
          <a:noFill/>
          <a:ln/>
        </p:spPr>
        <p:txBody>
          <a:bodyPr wrap="square" lIns="0" tIns="0" rIns="0" bIns="0" rtlCol="0" anchor="ctr"/>
          <a:lstStyle/>
          <a:p>
            <a:pPr indent="0" marL="0">
              <a:buNone/>
            </a:pPr>
            <a:r>
              <a:rPr lang="en-US" sz="2000" dirty="0">
                <a:solidFill>
                  <a:schemeClr val="tx1"/>
                </a:solidFill>
              </a:rPr>
              <a:t>Fondamentaux du cloud</a:t>
            </a:r>
            <a:endParaRPr lang="en-US" sz="2000" dirty="0"/>
          </a:p>
        </p:txBody>
      </p:sp>
      <p:sp>
        <p:nvSpPr>
          <p:cNvPr id="11" name="Shape 8"/>
          <p:cNvSpPr/>
          <p:nvPr/>
        </p:nvSpPr>
        <p:spPr>
          <a:xfrm>
            <a:off x="548640" y="2587752"/>
            <a:ext cx="402336" cy="402336"/>
          </a:xfrm>
          <a:prstGeom prst="ellipse">
            <a:avLst/>
          </a:prstGeom>
          <a:solidFill>
            <a:schemeClr val="tx1"/>
          </a:solidFill>
          <a:ln w="12700">
            <a:solidFill>
              <a:schemeClr val="tx1"/>
            </a:solidFill>
            <a:prstDash val="solid"/>
          </a:ln>
        </p:spPr>
      </p:sp>
      <p:sp>
        <p:nvSpPr>
          <p:cNvPr id="12" name="Text 9"/>
          <p:cNvSpPr txBox="1"/>
          <p:nvPr/>
        </p:nvSpPr>
        <p:spPr>
          <a:xfrm>
            <a:off x="548640" y="25877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02</a:t>
            </a:r>
            <a:endParaRPr lang="en-US" sz="1300" dirty="0"/>
          </a:p>
        </p:txBody>
      </p:sp>
      <p:sp>
        <p:nvSpPr>
          <p:cNvPr id="13" name="Text 10"/>
          <p:cNvSpPr txBox="1"/>
          <p:nvPr/>
        </p:nvSpPr>
        <p:spPr>
          <a:xfrm>
            <a:off x="1143000" y="2587752"/>
            <a:ext cx="4572000" cy="402336"/>
          </a:xfrm>
          <a:prstGeom prst="rect">
            <a:avLst/>
          </a:prstGeom>
          <a:noFill/>
          <a:ln/>
        </p:spPr>
        <p:txBody>
          <a:bodyPr wrap="square" lIns="0" tIns="0" rIns="0" bIns="0" rtlCol="0" anchor="ctr"/>
          <a:lstStyle/>
          <a:p>
            <a:pPr indent="0" marL="0">
              <a:buNone/>
            </a:pPr>
            <a:r>
              <a:rPr lang="en-US" sz="2000" dirty="0">
                <a:solidFill>
                  <a:schemeClr val="tx1"/>
                </a:solidFill>
              </a:rPr>
              <a:t>IAM</a:t>
            </a:r>
            <a:endParaRPr lang="en-US" sz="2000" dirty="0"/>
          </a:p>
        </p:txBody>
      </p:sp>
      <p:sp>
        <p:nvSpPr>
          <p:cNvPr id="14" name="Shape 11"/>
          <p:cNvSpPr/>
          <p:nvPr/>
        </p:nvSpPr>
        <p:spPr>
          <a:xfrm>
            <a:off x="548640" y="3081528"/>
            <a:ext cx="402336" cy="402336"/>
          </a:xfrm>
          <a:prstGeom prst="ellipse">
            <a:avLst/>
          </a:prstGeom>
          <a:solidFill>
            <a:schemeClr val="tx1"/>
          </a:solidFill>
          <a:ln w="12700">
            <a:solidFill>
              <a:schemeClr val="tx1"/>
            </a:solidFill>
            <a:prstDash val="solid"/>
          </a:ln>
        </p:spPr>
      </p:sp>
      <p:sp>
        <p:nvSpPr>
          <p:cNvPr id="15" name="Text 12"/>
          <p:cNvSpPr txBox="1"/>
          <p:nvPr/>
        </p:nvSpPr>
        <p:spPr>
          <a:xfrm>
            <a:off x="548640" y="308152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03</a:t>
            </a:r>
            <a:endParaRPr lang="en-US" sz="1300" dirty="0"/>
          </a:p>
        </p:txBody>
      </p:sp>
      <p:sp>
        <p:nvSpPr>
          <p:cNvPr id="16" name="Text 13"/>
          <p:cNvSpPr txBox="1"/>
          <p:nvPr/>
        </p:nvSpPr>
        <p:spPr>
          <a:xfrm>
            <a:off x="1143000" y="3081528"/>
            <a:ext cx="4572000" cy="402336"/>
          </a:xfrm>
          <a:prstGeom prst="rect">
            <a:avLst/>
          </a:prstGeom>
          <a:noFill/>
          <a:ln/>
        </p:spPr>
        <p:txBody>
          <a:bodyPr wrap="square" lIns="0" tIns="0" rIns="0" bIns="0" rtlCol="0" anchor="ctr"/>
          <a:lstStyle/>
          <a:p>
            <a:pPr indent="0" marL="0">
              <a:buNone/>
            </a:pPr>
            <a:r>
              <a:rPr lang="en-US" sz="2000" dirty="0">
                <a:solidFill>
                  <a:schemeClr val="tx1"/>
                </a:solidFill>
              </a:rPr>
              <a:t>Réseau VPC</a:t>
            </a:r>
            <a:endParaRPr lang="en-US" sz="2000" dirty="0"/>
          </a:p>
        </p:txBody>
      </p:sp>
      <p:sp>
        <p:nvSpPr>
          <p:cNvPr id="17" name="Shape 14"/>
          <p:cNvSpPr/>
          <p:nvPr/>
        </p:nvSpPr>
        <p:spPr>
          <a:xfrm>
            <a:off x="548640" y="3575304"/>
            <a:ext cx="402336" cy="402336"/>
          </a:xfrm>
          <a:prstGeom prst="ellipse">
            <a:avLst/>
          </a:prstGeom>
          <a:solidFill>
            <a:schemeClr val="tx1"/>
          </a:solidFill>
          <a:ln w="12700">
            <a:solidFill>
              <a:schemeClr val="tx1"/>
            </a:solidFill>
            <a:prstDash val="solid"/>
          </a:ln>
        </p:spPr>
      </p:sp>
      <p:sp>
        <p:nvSpPr>
          <p:cNvPr id="18" name="Text 15"/>
          <p:cNvSpPr txBox="1"/>
          <p:nvPr/>
        </p:nvSpPr>
        <p:spPr>
          <a:xfrm>
            <a:off x="548640" y="35753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04</a:t>
            </a:r>
            <a:endParaRPr lang="en-US" sz="1300" dirty="0"/>
          </a:p>
        </p:txBody>
      </p:sp>
      <p:sp>
        <p:nvSpPr>
          <p:cNvPr id="19" name="Text 16"/>
          <p:cNvSpPr txBox="1"/>
          <p:nvPr/>
        </p:nvSpPr>
        <p:spPr>
          <a:xfrm>
            <a:off x="1143000" y="3575304"/>
            <a:ext cx="4572000" cy="402336"/>
          </a:xfrm>
          <a:prstGeom prst="rect">
            <a:avLst/>
          </a:prstGeom>
          <a:noFill/>
          <a:ln/>
        </p:spPr>
        <p:txBody>
          <a:bodyPr wrap="square" lIns="0" tIns="0" rIns="0" bIns="0" rtlCol="0" anchor="ctr"/>
          <a:lstStyle/>
          <a:p>
            <a:pPr indent="0" marL="0">
              <a:buNone/>
            </a:pPr>
            <a:r>
              <a:rPr lang="en-US" sz="2000" dirty="0">
                <a:solidFill>
                  <a:schemeClr val="tx1"/>
                </a:solidFill>
              </a:rPr>
              <a:t>Compute EC2</a:t>
            </a:r>
            <a:endParaRPr lang="en-US" sz="2000" dirty="0"/>
          </a:p>
        </p:txBody>
      </p:sp>
      <p:sp>
        <p:nvSpPr>
          <p:cNvPr id="20" name="Shape 17"/>
          <p:cNvSpPr/>
          <p:nvPr/>
        </p:nvSpPr>
        <p:spPr>
          <a:xfrm>
            <a:off x="548640" y="4069080"/>
            <a:ext cx="402336" cy="402336"/>
          </a:xfrm>
          <a:prstGeom prst="ellipse">
            <a:avLst/>
          </a:prstGeom>
          <a:solidFill>
            <a:schemeClr val="tx1"/>
          </a:solidFill>
          <a:ln w="12700">
            <a:solidFill>
              <a:schemeClr val="tx1"/>
            </a:solidFill>
            <a:prstDash val="solid"/>
          </a:ln>
        </p:spPr>
      </p:sp>
      <p:sp>
        <p:nvSpPr>
          <p:cNvPr id="21" name="Text 18"/>
          <p:cNvSpPr txBox="1"/>
          <p:nvPr/>
        </p:nvSpPr>
        <p:spPr>
          <a:xfrm>
            <a:off x="548640" y="40690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05</a:t>
            </a:r>
            <a:endParaRPr lang="en-US" sz="1300" dirty="0"/>
          </a:p>
        </p:txBody>
      </p:sp>
      <p:sp>
        <p:nvSpPr>
          <p:cNvPr id="22" name="Text 19"/>
          <p:cNvSpPr txBox="1"/>
          <p:nvPr/>
        </p:nvSpPr>
        <p:spPr>
          <a:xfrm>
            <a:off x="1143000" y="4069080"/>
            <a:ext cx="4572000" cy="402336"/>
          </a:xfrm>
          <a:prstGeom prst="rect">
            <a:avLst/>
          </a:prstGeom>
          <a:noFill/>
          <a:ln/>
        </p:spPr>
        <p:txBody>
          <a:bodyPr wrap="square" lIns="0" tIns="0" rIns="0" bIns="0" rtlCol="0" anchor="ctr"/>
          <a:lstStyle/>
          <a:p>
            <a:pPr indent="0" marL="0">
              <a:buNone/>
            </a:pPr>
            <a:r>
              <a:rPr lang="en-US" sz="2000" dirty="0">
                <a:solidFill>
                  <a:schemeClr val="tx1"/>
                </a:solidFill>
              </a:rPr>
              <a:t>Stockage</a:t>
            </a:r>
            <a:endParaRPr lang="en-US" sz="2000" dirty="0"/>
          </a:p>
        </p:txBody>
      </p:sp>
      <p:sp>
        <p:nvSpPr>
          <p:cNvPr id="23" name="Shape 20"/>
          <p:cNvSpPr/>
          <p:nvPr/>
        </p:nvSpPr>
        <p:spPr>
          <a:xfrm>
            <a:off x="548640" y="4562856"/>
            <a:ext cx="402336" cy="402336"/>
          </a:xfrm>
          <a:prstGeom prst="ellipse">
            <a:avLst/>
          </a:prstGeom>
          <a:solidFill>
            <a:schemeClr val="tx1"/>
          </a:solidFill>
          <a:ln w="12700">
            <a:solidFill>
              <a:schemeClr val="tx1"/>
            </a:solidFill>
            <a:prstDash val="solid"/>
          </a:ln>
        </p:spPr>
      </p:sp>
      <p:sp>
        <p:nvSpPr>
          <p:cNvPr id="24" name="Text 21"/>
          <p:cNvSpPr txBox="1"/>
          <p:nvPr/>
        </p:nvSpPr>
        <p:spPr>
          <a:xfrm>
            <a:off x="548640" y="456285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06</a:t>
            </a:r>
            <a:endParaRPr lang="en-US" sz="1300" dirty="0"/>
          </a:p>
        </p:txBody>
      </p:sp>
      <p:sp>
        <p:nvSpPr>
          <p:cNvPr id="25" name="Text 22"/>
          <p:cNvSpPr txBox="1"/>
          <p:nvPr/>
        </p:nvSpPr>
        <p:spPr>
          <a:xfrm>
            <a:off x="1143000" y="4562856"/>
            <a:ext cx="4572000" cy="402336"/>
          </a:xfrm>
          <a:prstGeom prst="rect">
            <a:avLst/>
          </a:prstGeom>
          <a:noFill/>
          <a:ln/>
        </p:spPr>
        <p:txBody>
          <a:bodyPr wrap="square" lIns="0" tIns="0" rIns="0" bIns="0" rtlCol="0" anchor="ctr"/>
          <a:lstStyle/>
          <a:p>
            <a:pPr indent="0" marL="0">
              <a:buNone/>
            </a:pPr>
            <a:r>
              <a:rPr lang="en-US" sz="2000" dirty="0">
                <a:solidFill>
                  <a:schemeClr val="tx1"/>
                </a:solidFill>
              </a:rPr>
              <a:t>Bases de données</a:t>
            </a:r>
            <a:endParaRPr lang="en-US" sz="2000" dirty="0"/>
          </a:p>
        </p:txBody>
      </p:sp>
      <p:sp>
        <p:nvSpPr>
          <p:cNvPr id="26" name="Shape 23"/>
          <p:cNvSpPr/>
          <p:nvPr/>
        </p:nvSpPr>
        <p:spPr>
          <a:xfrm>
            <a:off x="548640" y="5056632"/>
            <a:ext cx="402336" cy="402336"/>
          </a:xfrm>
          <a:prstGeom prst="ellipse">
            <a:avLst/>
          </a:prstGeom>
          <a:solidFill>
            <a:schemeClr val="tx1"/>
          </a:solidFill>
          <a:ln w="12700">
            <a:solidFill>
              <a:schemeClr val="tx1"/>
            </a:solidFill>
            <a:prstDash val="solid"/>
          </a:ln>
        </p:spPr>
      </p:sp>
      <p:sp>
        <p:nvSpPr>
          <p:cNvPr id="27" name="Text 24"/>
          <p:cNvSpPr txBox="1"/>
          <p:nvPr/>
        </p:nvSpPr>
        <p:spPr>
          <a:xfrm>
            <a:off x="548640" y="505663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07</a:t>
            </a:r>
            <a:endParaRPr lang="en-US" sz="1300" dirty="0"/>
          </a:p>
        </p:txBody>
      </p:sp>
      <p:sp>
        <p:nvSpPr>
          <p:cNvPr id="28" name="Text 25"/>
          <p:cNvSpPr txBox="1"/>
          <p:nvPr/>
        </p:nvSpPr>
        <p:spPr>
          <a:xfrm>
            <a:off x="1143000" y="5056632"/>
            <a:ext cx="4572000" cy="402336"/>
          </a:xfrm>
          <a:prstGeom prst="rect">
            <a:avLst/>
          </a:prstGeom>
          <a:noFill/>
          <a:ln/>
        </p:spPr>
        <p:txBody>
          <a:bodyPr wrap="square" lIns="0" tIns="0" rIns="0" bIns="0" rtlCol="0" anchor="ctr"/>
          <a:lstStyle/>
          <a:p>
            <a:pPr indent="0" marL="0">
              <a:buNone/>
            </a:pPr>
            <a:r>
              <a:rPr lang="en-US" sz="2000" dirty="0">
                <a:solidFill>
                  <a:schemeClr val="tx1"/>
                </a:solidFill>
              </a:rPr>
              <a:t>Haute dispo et edge</a:t>
            </a:r>
            <a:endParaRPr lang="en-US" sz="2000" dirty="0"/>
          </a:p>
        </p:txBody>
      </p:sp>
      <p:sp>
        <p:nvSpPr>
          <p:cNvPr id="29" name="Shape 26"/>
          <p:cNvSpPr/>
          <p:nvPr/>
        </p:nvSpPr>
        <p:spPr>
          <a:xfrm>
            <a:off x="548640" y="5550408"/>
            <a:ext cx="402336" cy="402336"/>
          </a:xfrm>
          <a:prstGeom prst="ellipse">
            <a:avLst/>
          </a:prstGeom>
          <a:solidFill>
            <a:schemeClr val="tx1"/>
          </a:solidFill>
          <a:ln w="12700">
            <a:solidFill>
              <a:schemeClr val="tx1"/>
            </a:solidFill>
            <a:prstDash val="solid"/>
          </a:ln>
        </p:spPr>
      </p:sp>
      <p:sp>
        <p:nvSpPr>
          <p:cNvPr id="30" name="Text 27"/>
          <p:cNvSpPr txBox="1"/>
          <p:nvPr/>
        </p:nvSpPr>
        <p:spPr>
          <a:xfrm>
            <a:off x="548640" y="555040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08</a:t>
            </a:r>
            <a:endParaRPr lang="en-US" sz="1300" dirty="0"/>
          </a:p>
        </p:txBody>
      </p:sp>
      <p:sp>
        <p:nvSpPr>
          <p:cNvPr id="31" name="Text 28"/>
          <p:cNvSpPr txBox="1"/>
          <p:nvPr/>
        </p:nvSpPr>
        <p:spPr>
          <a:xfrm>
            <a:off x="1143000" y="5550408"/>
            <a:ext cx="4572000" cy="402336"/>
          </a:xfrm>
          <a:prstGeom prst="rect">
            <a:avLst/>
          </a:prstGeom>
          <a:noFill/>
          <a:ln/>
        </p:spPr>
        <p:txBody>
          <a:bodyPr wrap="square" lIns="0" tIns="0" rIns="0" bIns="0" rtlCol="0" anchor="ctr"/>
          <a:lstStyle/>
          <a:p>
            <a:pPr indent="0" marL="0">
              <a:buNone/>
            </a:pPr>
            <a:r>
              <a:rPr lang="en-US" sz="2000" dirty="0">
                <a:solidFill>
                  <a:schemeClr val="tx1"/>
                </a:solidFill>
              </a:rPr>
              <a:t>Serverless et messaging</a:t>
            </a:r>
            <a:endParaRPr lang="en-US" sz="2000" dirty="0"/>
          </a:p>
        </p:txBody>
      </p:sp>
      <p:sp>
        <p:nvSpPr>
          <p:cNvPr id="32" name="Shape 29"/>
          <p:cNvSpPr/>
          <p:nvPr/>
        </p:nvSpPr>
        <p:spPr>
          <a:xfrm>
            <a:off x="6309360" y="1600200"/>
            <a:ext cx="402336" cy="402336"/>
          </a:xfrm>
          <a:prstGeom prst="ellipse">
            <a:avLst/>
          </a:prstGeom>
          <a:solidFill>
            <a:schemeClr val="tx1"/>
          </a:solidFill>
          <a:ln w="12700">
            <a:solidFill>
              <a:schemeClr val="tx1"/>
            </a:solidFill>
            <a:prstDash val="solid"/>
          </a:ln>
        </p:spPr>
      </p:sp>
      <p:sp>
        <p:nvSpPr>
          <p:cNvPr id="33" name="Text 30"/>
          <p:cNvSpPr txBox="1"/>
          <p:nvPr/>
        </p:nvSpPr>
        <p:spPr>
          <a:xfrm>
            <a:off x="6309360" y="160020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09</a:t>
            </a:r>
            <a:endParaRPr lang="en-US" sz="1300" dirty="0"/>
          </a:p>
        </p:txBody>
      </p:sp>
      <p:sp>
        <p:nvSpPr>
          <p:cNvPr id="34" name="Text 31"/>
          <p:cNvSpPr txBox="1"/>
          <p:nvPr/>
        </p:nvSpPr>
        <p:spPr>
          <a:xfrm>
            <a:off x="6903720" y="1600200"/>
            <a:ext cx="4572000" cy="402336"/>
          </a:xfrm>
          <a:prstGeom prst="rect">
            <a:avLst/>
          </a:prstGeom>
          <a:noFill/>
          <a:ln/>
        </p:spPr>
        <p:txBody>
          <a:bodyPr wrap="square" lIns="0" tIns="0" rIns="0" bIns="0" rtlCol="0" anchor="ctr"/>
          <a:lstStyle/>
          <a:p>
            <a:pPr indent="0" marL="0">
              <a:buNone/>
            </a:pPr>
            <a:r>
              <a:rPr lang="en-US" sz="2000" dirty="0">
                <a:solidFill>
                  <a:schemeClr val="tx1"/>
                </a:solidFill>
              </a:rPr>
              <a:t>Conteneurs</a:t>
            </a:r>
            <a:endParaRPr lang="en-US" sz="2000" dirty="0"/>
          </a:p>
        </p:txBody>
      </p:sp>
      <p:sp>
        <p:nvSpPr>
          <p:cNvPr id="35" name="Shape 32"/>
          <p:cNvSpPr/>
          <p:nvPr/>
        </p:nvSpPr>
        <p:spPr>
          <a:xfrm>
            <a:off x="6309360" y="2093976"/>
            <a:ext cx="402336" cy="402336"/>
          </a:xfrm>
          <a:prstGeom prst="ellipse">
            <a:avLst/>
          </a:prstGeom>
          <a:solidFill>
            <a:schemeClr val="tx1"/>
          </a:solidFill>
          <a:ln w="12700">
            <a:solidFill>
              <a:schemeClr val="tx1"/>
            </a:solidFill>
            <a:prstDash val="solid"/>
          </a:ln>
        </p:spPr>
      </p:sp>
      <p:sp>
        <p:nvSpPr>
          <p:cNvPr id="36" name="Text 33"/>
          <p:cNvSpPr txBox="1"/>
          <p:nvPr/>
        </p:nvSpPr>
        <p:spPr>
          <a:xfrm>
            <a:off x="6309360" y="209397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10</a:t>
            </a:r>
            <a:endParaRPr lang="en-US" sz="1300" dirty="0"/>
          </a:p>
        </p:txBody>
      </p:sp>
      <p:sp>
        <p:nvSpPr>
          <p:cNvPr id="37" name="Text 34"/>
          <p:cNvSpPr txBox="1"/>
          <p:nvPr/>
        </p:nvSpPr>
        <p:spPr>
          <a:xfrm>
            <a:off x="6903720" y="2093976"/>
            <a:ext cx="4572000" cy="402336"/>
          </a:xfrm>
          <a:prstGeom prst="rect">
            <a:avLst/>
          </a:prstGeom>
          <a:noFill/>
          <a:ln/>
        </p:spPr>
        <p:txBody>
          <a:bodyPr wrap="square" lIns="0" tIns="0" rIns="0" bIns="0" rtlCol="0" anchor="ctr"/>
          <a:lstStyle/>
          <a:p>
            <a:pPr indent="0" marL="0">
              <a:buNone/>
            </a:pPr>
            <a:r>
              <a:rPr lang="en-US" sz="2000" dirty="0">
                <a:solidFill>
                  <a:schemeClr val="tx1"/>
                </a:solidFill>
              </a:rPr>
              <a:t>Infrastructure as Code</a:t>
            </a:r>
            <a:endParaRPr lang="en-US" sz="2000" dirty="0"/>
          </a:p>
        </p:txBody>
      </p:sp>
      <p:sp>
        <p:nvSpPr>
          <p:cNvPr id="38" name="Shape 35"/>
          <p:cNvSpPr/>
          <p:nvPr/>
        </p:nvSpPr>
        <p:spPr>
          <a:xfrm>
            <a:off x="6309360" y="2587752"/>
            <a:ext cx="402336" cy="402336"/>
          </a:xfrm>
          <a:prstGeom prst="ellipse">
            <a:avLst/>
          </a:prstGeom>
          <a:solidFill>
            <a:schemeClr val="tx1"/>
          </a:solidFill>
          <a:ln w="12700">
            <a:solidFill>
              <a:schemeClr val="tx1"/>
            </a:solidFill>
            <a:prstDash val="solid"/>
          </a:ln>
        </p:spPr>
      </p:sp>
      <p:sp>
        <p:nvSpPr>
          <p:cNvPr id="39" name="Text 36"/>
          <p:cNvSpPr txBox="1"/>
          <p:nvPr/>
        </p:nvSpPr>
        <p:spPr>
          <a:xfrm>
            <a:off x="6309360" y="258775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11</a:t>
            </a:r>
            <a:endParaRPr lang="en-US" sz="1300" dirty="0"/>
          </a:p>
        </p:txBody>
      </p:sp>
      <p:sp>
        <p:nvSpPr>
          <p:cNvPr id="40" name="Text 37"/>
          <p:cNvSpPr txBox="1"/>
          <p:nvPr/>
        </p:nvSpPr>
        <p:spPr>
          <a:xfrm>
            <a:off x="6903720" y="2587752"/>
            <a:ext cx="4572000" cy="402336"/>
          </a:xfrm>
          <a:prstGeom prst="rect">
            <a:avLst/>
          </a:prstGeom>
          <a:noFill/>
          <a:ln/>
        </p:spPr>
        <p:txBody>
          <a:bodyPr wrap="square" lIns="0" tIns="0" rIns="0" bIns="0" rtlCol="0" anchor="ctr"/>
          <a:lstStyle/>
          <a:p>
            <a:pPr indent="0" marL="0">
              <a:buNone/>
            </a:pPr>
            <a:r>
              <a:rPr lang="en-US" sz="2000" dirty="0">
                <a:solidFill>
                  <a:schemeClr val="tx1"/>
                </a:solidFill>
              </a:rPr>
              <a:t>CI/CD</a:t>
            </a:r>
            <a:endParaRPr lang="en-US" sz="2000" dirty="0"/>
          </a:p>
        </p:txBody>
      </p:sp>
      <p:sp>
        <p:nvSpPr>
          <p:cNvPr id="41" name="Shape 38"/>
          <p:cNvSpPr/>
          <p:nvPr/>
        </p:nvSpPr>
        <p:spPr>
          <a:xfrm>
            <a:off x="6309360" y="3081528"/>
            <a:ext cx="402336" cy="402336"/>
          </a:xfrm>
          <a:prstGeom prst="ellipse">
            <a:avLst/>
          </a:prstGeom>
          <a:solidFill>
            <a:schemeClr val="tx1"/>
          </a:solidFill>
          <a:ln w="12700">
            <a:solidFill>
              <a:schemeClr val="tx1"/>
            </a:solidFill>
            <a:prstDash val="solid"/>
          </a:ln>
        </p:spPr>
      </p:sp>
      <p:sp>
        <p:nvSpPr>
          <p:cNvPr id="42" name="Text 39"/>
          <p:cNvSpPr txBox="1"/>
          <p:nvPr/>
        </p:nvSpPr>
        <p:spPr>
          <a:xfrm>
            <a:off x="6309360" y="308152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12</a:t>
            </a:r>
            <a:endParaRPr lang="en-US" sz="1300" dirty="0"/>
          </a:p>
        </p:txBody>
      </p:sp>
      <p:sp>
        <p:nvSpPr>
          <p:cNvPr id="43" name="Text 40"/>
          <p:cNvSpPr txBox="1"/>
          <p:nvPr/>
        </p:nvSpPr>
        <p:spPr>
          <a:xfrm>
            <a:off x="6903720" y="3081528"/>
            <a:ext cx="4572000" cy="402336"/>
          </a:xfrm>
          <a:prstGeom prst="rect">
            <a:avLst/>
          </a:prstGeom>
          <a:noFill/>
          <a:ln/>
        </p:spPr>
        <p:txBody>
          <a:bodyPr wrap="square" lIns="0" tIns="0" rIns="0" bIns="0" rtlCol="0" anchor="ctr"/>
          <a:lstStyle/>
          <a:p>
            <a:pPr indent="0" marL="0">
              <a:buNone/>
            </a:pPr>
            <a:r>
              <a:rPr lang="en-US" sz="2000" dirty="0">
                <a:solidFill>
                  <a:schemeClr val="tx1"/>
                </a:solidFill>
              </a:rPr>
              <a:t>Observabilité</a:t>
            </a:r>
            <a:endParaRPr lang="en-US" sz="2000" dirty="0"/>
          </a:p>
        </p:txBody>
      </p:sp>
      <p:sp>
        <p:nvSpPr>
          <p:cNvPr id="44" name="Shape 41"/>
          <p:cNvSpPr/>
          <p:nvPr/>
        </p:nvSpPr>
        <p:spPr>
          <a:xfrm>
            <a:off x="6309360" y="3575304"/>
            <a:ext cx="402336" cy="402336"/>
          </a:xfrm>
          <a:prstGeom prst="ellipse">
            <a:avLst/>
          </a:prstGeom>
          <a:solidFill>
            <a:schemeClr val="tx1"/>
          </a:solidFill>
          <a:ln w="12700">
            <a:solidFill>
              <a:schemeClr val="tx1"/>
            </a:solidFill>
            <a:prstDash val="solid"/>
          </a:ln>
        </p:spPr>
      </p:sp>
      <p:sp>
        <p:nvSpPr>
          <p:cNvPr id="45" name="Text 42"/>
          <p:cNvSpPr txBox="1"/>
          <p:nvPr/>
        </p:nvSpPr>
        <p:spPr>
          <a:xfrm>
            <a:off x="6309360" y="3575304"/>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13</a:t>
            </a:r>
            <a:endParaRPr lang="en-US" sz="1300" dirty="0"/>
          </a:p>
        </p:txBody>
      </p:sp>
      <p:sp>
        <p:nvSpPr>
          <p:cNvPr id="46" name="Text 43"/>
          <p:cNvSpPr txBox="1"/>
          <p:nvPr/>
        </p:nvSpPr>
        <p:spPr>
          <a:xfrm>
            <a:off x="6903720" y="3575304"/>
            <a:ext cx="4572000" cy="402336"/>
          </a:xfrm>
          <a:prstGeom prst="rect">
            <a:avLst/>
          </a:prstGeom>
          <a:noFill/>
          <a:ln/>
        </p:spPr>
        <p:txBody>
          <a:bodyPr wrap="square" lIns="0" tIns="0" rIns="0" bIns="0" rtlCol="0" anchor="ctr"/>
          <a:lstStyle/>
          <a:p>
            <a:pPr indent="0" marL="0">
              <a:buNone/>
            </a:pPr>
            <a:r>
              <a:rPr lang="en-US" sz="2000" dirty="0">
                <a:solidFill>
                  <a:schemeClr val="tx1"/>
                </a:solidFill>
              </a:rPr>
              <a:t>Sécurité</a:t>
            </a:r>
            <a:endParaRPr lang="en-US" sz="2000" dirty="0"/>
          </a:p>
        </p:txBody>
      </p:sp>
      <p:sp>
        <p:nvSpPr>
          <p:cNvPr id="47" name="Shape 44"/>
          <p:cNvSpPr/>
          <p:nvPr/>
        </p:nvSpPr>
        <p:spPr>
          <a:xfrm>
            <a:off x="6309360" y="4069080"/>
            <a:ext cx="402336" cy="402336"/>
          </a:xfrm>
          <a:prstGeom prst="ellipse">
            <a:avLst/>
          </a:prstGeom>
          <a:solidFill>
            <a:schemeClr val="tx1"/>
          </a:solidFill>
          <a:ln w="12700">
            <a:solidFill>
              <a:schemeClr val="tx1"/>
            </a:solidFill>
            <a:prstDash val="solid"/>
          </a:ln>
        </p:spPr>
      </p:sp>
      <p:sp>
        <p:nvSpPr>
          <p:cNvPr id="48" name="Text 45"/>
          <p:cNvSpPr txBox="1"/>
          <p:nvPr/>
        </p:nvSpPr>
        <p:spPr>
          <a:xfrm>
            <a:off x="6309360" y="4069080"/>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14</a:t>
            </a:r>
            <a:endParaRPr lang="en-US" sz="1300" dirty="0"/>
          </a:p>
        </p:txBody>
      </p:sp>
      <p:sp>
        <p:nvSpPr>
          <p:cNvPr id="49" name="Text 46"/>
          <p:cNvSpPr txBox="1"/>
          <p:nvPr/>
        </p:nvSpPr>
        <p:spPr>
          <a:xfrm>
            <a:off x="6903720" y="4069080"/>
            <a:ext cx="4572000" cy="402336"/>
          </a:xfrm>
          <a:prstGeom prst="rect">
            <a:avLst/>
          </a:prstGeom>
          <a:noFill/>
          <a:ln/>
        </p:spPr>
        <p:txBody>
          <a:bodyPr wrap="square" lIns="0" tIns="0" rIns="0" bIns="0" rtlCol="0" anchor="ctr"/>
          <a:lstStyle/>
          <a:p>
            <a:pPr indent="0" marL="0">
              <a:buNone/>
            </a:pPr>
            <a:r>
              <a:rPr lang="en-US" sz="2000" dirty="0">
                <a:solidFill>
                  <a:schemeClr val="tx1"/>
                </a:solidFill>
              </a:rPr>
              <a:t>Architecture et FinOps</a:t>
            </a:r>
            <a:endParaRPr lang="en-US" sz="2000" dirty="0"/>
          </a:p>
        </p:txBody>
      </p:sp>
      <p:sp>
        <p:nvSpPr>
          <p:cNvPr id="50" name="Shape 47"/>
          <p:cNvSpPr/>
          <p:nvPr/>
        </p:nvSpPr>
        <p:spPr>
          <a:xfrm>
            <a:off x="6309360" y="4562856"/>
            <a:ext cx="402336" cy="402336"/>
          </a:xfrm>
          <a:prstGeom prst="ellipse">
            <a:avLst/>
          </a:prstGeom>
          <a:solidFill>
            <a:schemeClr val="tx1"/>
          </a:solidFill>
          <a:ln w="12700">
            <a:solidFill>
              <a:schemeClr val="tx1"/>
            </a:solidFill>
            <a:prstDash val="solid"/>
          </a:ln>
        </p:spPr>
      </p:sp>
      <p:sp>
        <p:nvSpPr>
          <p:cNvPr id="51" name="Text 48"/>
          <p:cNvSpPr txBox="1"/>
          <p:nvPr/>
        </p:nvSpPr>
        <p:spPr>
          <a:xfrm>
            <a:off x="6309360" y="4562856"/>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15</a:t>
            </a:r>
            <a:endParaRPr lang="en-US" sz="1300" dirty="0"/>
          </a:p>
        </p:txBody>
      </p:sp>
      <p:sp>
        <p:nvSpPr>
          <p:cNvPr id="52" name="Text 49"/>
          <p:cNvSpPr txBox="1"/>
          <p:nvPr/>
        </p:nvSpPr>
        <p:spPr>
          <a:xfrm>
            <a:off x="6903720" y="4562856"/>
            <a:ext cx="4572000" cy="402336"/>
          </a:xfrm>
          <a:prstGeom prst="rect">
            <a:avLst/>
          </a:prstGeom>
          <a:noFill/>
          <a:ln/>
        </p:spPr>
        <p:txBody>
          <a:bodyPr wrap="square" lIns="0" tIns="0" rIns="0" bIns="0" rtlCol="0" anchor="ctr"/>
          <a:lstStyle/>
          <a:p>
            <a:pPr indent="0" marL="0">
              <a:buNone/>
            </a:pPr>
            <a:r>
              <a:rPr lang="en-US" sz="2000" dirty="0">
                <a:solidFill>
                  <a:schemeClr val="tx1"/>
                </a:solidFill>
              </a:rPr>
              <a:t>Multi-comptes</a:t>
            </a:r>
            <a:endParaRPr lang="en-US" sz="2000" dirty="0"/>
          </a:p>
        </p:txBody>
      </p:sp>
      <p:sp>
        <p:nvSpPr>
          <p:cNvPr id="53" name="Shape 50"/>
          <p:cNvSpPr/>
          <p:nvPr/>
        </p:nvSpPr>
        <p:spPr>
          <a:xfrm>
            <a:off x="6309360" y="5056632"/>
            <a:ext cx="402336" cy="402336"/>
          </a:xfrm>
          <a:prstGeom prst="ellipse">
            <a:avLst/>
          </a:prstGeom>
          <a:solidFill>
            <a:schemeClr val="tx1"/>
          </a:solidFill>
          <a:ln w="12700">
            <a:solidFill>
              <a:schemeClr val="tx1"/>
            </a:solidFill>
            <a:prstDash val="solid"/>
          </a:ln>
        </p:spPr>
      </p:sp>
      <p:sp>
        <p:nvSpPr>
          <p:cNvPr id="54" name="Text 51"/>
          <p:cNvSpPr txBox="1"/>
          <p:nvPr/>
        </p:nvSpPr>
        <p:spPr>
          <a:xfrm>
            <a:off x="6309360" y="5056632"/>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16</a:t>
            </a:r>
            <a:endParaRPr lang="en-US" sz="1300" dirty="0"/>
          </a:p>
        </p:txBody>
      </p:sp>
      <p:sp>
        <p:nvSpPr>
          <p:cNvPr id="55" name="Text 52"/>
          <p:cNvSpPr txBox="1"/>
          <p:nvPr/>
        </p:nvSpPr>
        <p:spPr>
          <a:xfrm>
            <a:off x="6903720" y="5056632"/>
            <a:ext cx="4572000" cy="402336"/>
          </a:xfrm>
          <a:prstGeom prst="rect">
            <a:avLst/>
          </a:prstGeom>
          <a:noFill/>
          <a:ln/>
        </p:spPr>
        <p:txBody>
          <a:bodyPr wrap="square" lIns="0" tIns="0" rIns="0" bIns="0" rtlCol="0" anchor="ctr"/>
          <a:lstStyle/>
          <a:p>
            <a:pPr indent="0" marL="0">
              <a:buNone/>
            </a:pPr>
            <a:r>
              <a:rPr lang="en-US" sz="2000" dirty="0">
                <a:solidFill>
                  <a:schemeClr val="tx1"/>
                </a:solidFill>
              </a:rPr>
              <a:t>Projet final</a:t>
            </a:r>
            <a:endParaRPr lang="en-US" sz="2000" dirty="0"/>
          </a:p>
        </p:txBody>
      </p:sp>
      <p:sp>
        <p:nvSpPr>
          <p:cNvPr id="56" name="Shape 53"/>
          <p:cNvSpPr/>
          <p:nvPr/>
        </p:nvSpPr>
        <p:spPr>
          <a:xfrm>
            <a:off x="6309360" y="5550408"/>
            <a:ext cx="402336" cy="402336"/>
          </a:xfrm>
          <a:prstGeom prst="ellipse">
            <a:avLst/>
          </a:prstGeom>
          <a:solidFill>
            <a:schemeClr val="tx1"/>
          </a:solidFill>
          <a:ln w="12700">
            <a:solidFill>
              <a:schemeClr val="tx1"/>
            </a:solidFill>
            <a:prstDash val="solid"/>
          </a:ln>
        </p:spPr>
      </p:sp>
      <p:sp>
        <p:nvSpPr>
          <p:cNvPr id="57" name="Text 54"/>
          <p:cNvSpPr txBox="1"/>
          <p:nvPr/>
        </p:nvSpPr>
        <p:spPr>
          <a:xfrm>
            <a:off x="6309360" y="5550408"/>
            <a:ext cx="402336" cy="402336"/>
          </a:xfrm>
          <a:prstGeom prst="rect">
            <a:avLst/>
          </a:prstGeom>
          <a:noFill/>
          <a:ln/>
        </p:spPr>
        <p:txBody>
          <a:bodyPr wrap="square" lIns="0" tIns="0" rIns="0" bIns="0" rtlCol="0" anchor="ctr"/>
          <a:lstStyle/>
          <a:p>
            <a:pPr algn="ctr" indent="0" marL="0">
              <a:buNone/>
            </a:pPr>
            <a:r>
              <a:rPr lang="en-US" sz="1300" b="1" dirty="0">
                <a:solidFill>
                  <a:schemeClr val="bg1"/>
                </a:solidFill>
              </a:rPr>
              <a:t>17</a:t>
            </a:r>
            <a:endParaRPr lang="en-US" sz="1300" dirty="0"/>
          </a:p>
        </p:txBody>
      </p:sp>
      <p:sp>
        <p:nvSpPr>
          <p:cNvPr id="58" name="Text 55"/>
          <p:cNvSpPr txBox="1"/>
          <p:nvPr/>
        </p:nvSpPr>
        <p:spPr>
          <a:xfrm>
            <a:off x="6903720" y="5550408"/>
            <a:ext cx="4572000" cy="402336"/>
          </a:xfrm>
          <a:prstGeom prst="rect">
            <a:avLst/>
          </a:prstGeom>
          <a:noFill/>
          <a:ln/>
        </p:spPr>
        <p:txBody>
          <a:bodyPr wrap="square" lIns="0" tIns="0" rIns="0" bIns="0" rtlCol="0" anchor="ctr"/>
          <a:lstStyle/>
          <a:p>
            <a:pPr indent="0" marL="0">
              <a:buNone/>
            </a:pPr>
            <a:r>
              <a:rPr lang="en-US" sz="2000" dirty="0">
                <a:solidFill>
                  <a:schemeClr val="tx1"/>
                </a:solidFill>
              </a:rPr>
              <a:t>Certifications</a:t>
            </a:r>
            <a:endParaRPr lang="en-US" sz="20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00</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Démarrage</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0,5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Créer et sécuriser un compte AWS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Mettre en place budgets et alertes</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Installer la CLI et Terraform</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Comprendre les façons d'appeler AWS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00 · DÉMARRAGE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Comment parle-t-on à AWS ?</a:t>
            </a:r>
            <a:endParaRPr lang="en-US" sz="3600" dirty="0"/>
          </a:p>
        </p:txBody>
      </p:sp>
      <p:sp>
        <p:nvSpPr>
          <p:cNvPr id="5" name="Carte Console web"/>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Desktop"/>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Desktop"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Console web</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Pour découvrir et comprendre. Pas pour construire.</a:t>
            </a:r>
            <a:endParaRPr lang="en-US" sz="1900" dirty="0"/>
          </a:p>
        </p:txBody>
      </p:sp>
      <p:sp>
        <p:nvSpPr>
          <p:cNvPr id="10" name="Carte AWS CLI"/>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Terminal"/>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Terminal"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AWS CLI</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Scripts et automatisation. L'outil du quotidien.</a:t>
            </a:r>
            <a:endParaRPr lang="en-US" sz="1900" dirty="0"/>
          </a:p>
        </p:txBody>
      </p:sp>
      <p:sp>
        <p:nvSpPr>
          <p:cNvPr id="15" name="Carte SDK"/>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Code"/>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Code"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SDK</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boto3, SDK JS ou Go : dans le code applicatif.</a:t>
            </a:r>
            <a:endParaRPr lang="en-US" sz="1900" dirty="0"/>
          </a:p>
        </p:txBody>
      </p:sp>
      <p:sp>
        <p:nvSpPr>
          <p:cNvPr id="20" name="Carte IaC"/>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Cubes"/>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Cubes"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IaC</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Terraform, CloudFormation, CDK : seul mode valable en production.</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Règle d'or : la console sert à comprendre, le code sert à construire.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00 · DÉMARRAGE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Sécuriser son compte dès le premier jour</a:t>
            </a:r>
            <a:endParaRPr lang="en-US" sz="3600" dirty="0"/>
          </a:p>
        </p:txBody>
      </p:sp>
      <p:sp>
        <p:nvSpPr>
          <p:cNvPr id="5" name="Carte MFA sur le root"/>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MobileAlt"/>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MobileAlt"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MFA sur le root</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Application TOTP ou clé FIDO2.</a:t>
            </a:r>
            <a:endParaRPr lang="en-US" sz="1900" dirty="0"/>
          </a:p>
        </p:txBody>
      </p:sp>
      <p:sp>
        <p:nvSpPr>
          <p:cNvPr id="10" name="Carte Pas de clé root"/>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Ban"/>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Ban"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Pas de clé root</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Le root sert seulement aux rares actions qui l'exigent.</a:t>
            </a:r>
            <a:endParaRPr lang="en-US" sz="1900" dirty="0"/>
          </a:p>
        </p:txBody>
      </p:sp>
      <p:sp>
        <p:nvSpPr>
          <p:cNvPr id="15" name="Carte IAM Identity Center"/>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Users"/>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Users"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IAM Identity Center</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Un administrateur nominatif avec MFA pour tout le reste.</a:t>
            </a:r>
            <a:endParaRPr lang="en-US" sz="1900" dirty="0"/>
          </a:p>
        </p:txBody>
      </p:sp>
      <p:sp>
        <p:nvSpPr>
          <p:cNvPr id="20" name="Carte Budget d'alerte"/>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Bell"/>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Bell"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Budget d'alerte</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10 € par mois, alertes à 50 %, 80 % et prévision 100 %.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00 · DÉMARRAGE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Installer et configurer ses outils</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AWS CLI v2 pour parler à l'API</a:t>
            </a:r>
            <a:endParaRPr lang="en-US" sz="2000" dirty="0"/>
          </a:p>
          <a:p>
            <a:pPr marL="342900" indent="-342900">
              <a:spcAft>
                <a:spcPts val="1600"/>
              </a:spcAft>
              <a:buSzPct val="100000"/>
              <a:buChar char="•"/>
            </a:pPr>
            <a:r>
              <a:rPr lang="en-US" sz="2000" dirty="0">
                <a:solidFill>
                  <a:schemeClr val="tx1"/>
                </a:solidFill>
              </a:rPr>
              <a:t>Terraform pour décrire l'infrastructure</a:t>
            </a:r>
            <a:endParaRPr lang="en-US" sz="2000" dirty="0"/>
          </a:p>
          <a:p>
            <a:pPr marL="342900" indent="-342900">
              <a:spcAft>
                <a:spcPts val="1600"/>
              </a:spcAft>
              <a:buSzPct val="100000"/>
              <a:buChar char="•"/>
            </a:pPr>
            <a:r>
              <a:rPr lang="en-US" sz="2000" dirty="0">
                <a:solidFill>
                  <a:schemeClr val="tx1"/>
                </a:solidFill>
              </a:rPr>
              <a:t>jq pour lire le JSON</a:t>
            </a:r>
            <a:endParaRPr lang="en-US" sz="2000" dirty="0"/>
          </a:p>
          <a:p>
            <a:pPr marL="342900" indent="-342900">
              <a:spcAft>
                <a:spcPts val="1600"/>
              </a:spcAft>
              <a:buSzPct val="100000"/>
              <a:buChar char="•"/>
            </a:pPr>
            <a:r>
              <a:rPr lang="en-US" sz="2000" dirty="0">
                <a:solidFill>
                  <a:schemeClr val="tx1"/>
                </a:solidFill>
              </a:rPr>
              <a:t>aws sso login : des credentials temporaires, pas de clé longue durée</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BASH</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700" dirty="0">
                <a:solidFill>
                  <a:schemeClr val="bg2"/>
                </a:solidFill>
                <a:latin typeface="Courier New" pitchFamily="34" charset="0"/>
                <a:ea typeface="Courier New" pitchFamily="34" charset="-122"/>
                <a:cs typeface="Courier New" pitchFamily="34" charset="-120"/>
              </a:rPr>
              <a:t># Authentification (recommandé : SSO)</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aws configure sso</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aws sso login --profile formation</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export AWS_PROFILE=formation</a:t>
            </a:r>
            <a:endParaRPr lang="en-US" sz="1700" dirty="0"/>
          </a:p>
          <a:p>
            <a:pPr indent="0" marL="0">
              <a:buNone/>
            </a:pP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Qui suis-je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aws sts get-caller-identity</a:t>
            </a:r>
            <a:endParaRPr lang="en-US" sz="1700" dirty="0"/>
          </a:p>
          <a:p>
            <a:pPr indent="0" marL="0">
              <a:buNone/>
            </a:pP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Zones de disponibilité de Paris</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aws ec2 describe-availability-zones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--region eu-west-3 \</a:t>
            </a:r>
            <a:endParaRPr lang="en-US" sz="1700" dirty="0"/>
          </a:p>
          <a:p>
            <a:pPr indent="0" marL="0">
              <a:buNone/>
            </a:pPr>
            <a:r>
              <a:rPr lang="en-US" sz="1700" dirty="0">
                <a:solidFill>
                  <a:schemeClr val="bg2"/>
                </a:solidFill>
                <a:latin typeface="Courier New" pitchFamily="34" charset="0"/>
                <a:ea typeface="Courier New" pitchFamily="34" charset="-122"/>
                <a:cs typeface="Courier New" pitchFamily="34" charset="-120"/>
              </a:rPr>
              <a:t>  --query 'AvailabilityZones[].ZoneName'</a:t>
            </a:r>
            <a:endParaRPr lang="en-US" sz="17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00 · DÉMARRAGE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00 : un poste prêt à déployer</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Valider que votre poste peut déployer sur AWS, puis créer et détruire un bucket S3 avec Terraform.</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Sécuriser le compte et créer le budget</a:t>
            </a:r>
            <a:endParaRPr lang="en-US" sz="1800" dirty="0"/>
          </a:p>
          <a:p>
            <a:pPr marL="342900" indent="-342900">
              <a:spcAft>
                <a:spcPts val="800"/>
              </a:spcAft>
              <a:buSzPct val="100000"/>
              <a:buFont typeface="+mj-lt"/>
              <a:buAutoNum type="arabicPeriod" startAt="1"/>
            </a:pPr>
            <a:r>
              <a:rPr lang="en-US" sz="1800" dirty="0">
                <a:solidFill>
                  <a:schemeClr val="tx1"/>
                </a:solidFill>
              </a:rPr>
              <a:t>Installer CLI, Terraform et jq</a:t>
            </a:r>
            <a:endParaRPr lang="en-US" sz="1800" dirty="0"/>
          </a:p>
          <a:p>
            <a:pPr marL="342900" indent="-342900">
              <a:spcAft>
                <a:spcPts val="800"/>
              </a:spcAft>
              <a:buSzPct val="100000"/>
              <a:buFont typeface="+mj-lt"/>
              <a:buAutoNum type="arabicPeriod" startAt="1"/>
            </a:pPr>
            <a:r>
              <a:rPr lang="en-US" sz="1800" dirty="0">
                <a:solidFill>
                  <a:schemeClr val="tx1"/>
                </a:solidFill>
              </a:rPr>
              <a:t>Configurer le profil formation (SSO)</a:t>
            </a:r>
            <a:endParaRPr lang="en-US" sz="1800" dirty="0"/>
          </a:p>
          <a:p>
            <a:pPr marL="342900" indent="-342900">
              <a:spcAft>
                <a:spcPts val="800"/>
              </a:spcAft>
              <a:buSzPct val="100000"/>
              <a:buFont typeface="+mj-lt"/>
              <a:buAutoNum type="arabicPeriod" startAt="1"/>
            </a:pPr>
            <a:r>
              <a:rPr lang="en-US" sz="1800" dirty="0">
                <a:solidFill>
                  <a:schemeClr val="tx1"/>
                </a:solidFill>
              </a:rPr>
              <a:t>Lancer check-env.sh</a:t>
            </a:r>
            <a:endParaRPr lang="en-US" sz="1800" dirty="0"/>
          </a:p>
          <a:p>
            <a:pPr marL="342900" indent="-342900">
              <a:spcAft>
                <a:spcPts val="800"/>
              </a:spcAft>
              <a:buSzPct val="100000"/>
              <a:buFont typeface="+mj-lt"/>
              <a:buAutoNum type="arabicPeriod" startAt="1"/>
            </a:pPr>
            <a:r>
              <a:rPr lang="en-US" sz="1800" dirty="0">
                <a:solidFill>
                  <a:schemeClr val="tx1"/>
                </a:solidFill>
              </a:rPr>
              <a:t>terraform apply puis destroy du bucket</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Le script affiche « Environnement OK » et le destroy supprime tout.</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00-demarrage/labs/lab-00</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00 · DÉMARRAGE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La console aide à comprendre, le code construit</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Root verrouillé, MFA partout, identités nominatives</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Un budget d'alerte avant la première ressource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ne pas utiliser le root au quotidien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Clé longue durée ou credential temporaire : lequel préférer, et pourquoi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créer un budget avant tout déploiement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01</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Fondamentaux du cloud</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0,5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Comprendre IaaS, PaaS et SaaS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Régions, zones et edge locations</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Responsabilité partagée</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Principes de tarification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FONDAMENTAUX DU CLOUD</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Trois modèles de service</a:t>
            </a:r>
            <a:endParaRPr lang="en-US" sz="3600" dirty="0"/>
          </a:p>
        </p:txBody>
      </p:sp>
      <p:graphicFrame>
        <p:nvGraphicFramePr>
          <p:cNvPr id="15"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463040"/>
                <a:gridCol w="3657600"/>
                <a:gridCol w="3291840"/>
                <a:gridCol w="2679192"/>
              </a:tblGrid>
              <a:tr h="77724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Modèle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Vous gérez</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AWS gère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Exemples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IaaS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OS, runtime, application, données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Matériel, virtualisation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EC2, EBS, VPC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PaaS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Application et données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OS, runtime, mise à l'échelle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RDS, Lambda, Fargate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SaaS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Uniquement l'usage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Tout le reste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WorkMail, Amazon Connect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Plus le service est managé, moins vous avez de travail d'exploitation, mais moins de contrôle.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FONDAMENTAUX DU CLOUD</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Régions, zones et edge</a:t>
            </a:r>
            <a:endParaRPr lang="en-US" sz="3600" dirty="0"/>
          </a:p>
        </p:txBody>
      </p:sp>
      <p:sp>
        <p:nvSpPr>
          <p:cNvPr id="5" name="Étape 1"/>
          <p:cNvSpPr/>
          <p:nvPr/>
        </p:nvSpPr>
        <p:spPr>
          <a:xfrm>
            <a:off x="548640" y="1600200"/>
            <a:ext cx="3454298" cy="3611880"/>
          </a:xfrm>
          <a:prstGeom prst="roundRect">
            <a:avLst>
              <a:gd name="adj" fmla="val 3177"/>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2997098" cy="777240"/>
          </a:xfrm>
          <a:prstGeom prst="rect">
            <a:avLst/>
          </a:prstGeom>
          <a:noFill/>
          <a:ln/>
        </p:spPr>
        <p:txBody>
          <a:bodyPr wrap="square" lIns="0" tIns="0" rIns="0" bIns="0" rtlCol="0" anchor="t"/>
          <a:lstStyle/>
          <a:p>
            <a:pPr indent="0" marL="0">
              <a:buNone/>
            </a:pPr>
            <a:r>
              <a:rPr lang="en-US" sz="2600" b="1" dirty="0">
                <a:solidFill>
                  <a:schemeClr val="tx1"/>
                </a:solidFill>
              </a:rPr>
              <a:t>Région</a:t>
            </a:r>
            <a:endParaRPr lang="en-US" sz="2600" dirty="0"/>
          </a:p>
        </p:txBody>
      </p:sp>
      <p:sp>
        <p:nvSpPr>
          <p:cNvPr id="9" name="Text 6"/>
          <p:cNvSpPr txBox="1"/>
          <p:nvPr/>
        </p:nvSpPr>
        <p:spPr>
          <a:xfrm>
            <a:off x="777240" y="3383280"/>
            <a:ext cx="2997098" cy="1691640"/>
          </a:xfrm>
          <a:prstGeom prst="rect">
            <a:avLst/>
          </a:prstGeom>
          <a:noFill/>
          <a:ln/>
        </p:spPr>
        <p:txBody>
          <a:bodyPr wrap="square" lIns="0" tIns="0" rIns="0" bIns="0" rtlCol="0" anchor="t"/>
          <a:lstStyle/>
          <a:p>
            <a:pPr indent="0" marL="0">
              <a:buNone/>
            </a:pPr>
            <a:r>
              <a:rPr lang="en-US" sz="2100" dirty="0">
                <a:solidFill>
                  <a:schemeClr val="tx2"/>
                </a:solidFill>
              </a:rPr>
              <a:t>Zone géographique isolée, ex. eu-west-3 (Paris)</a:t>
            </a:r>
            <a:endParaRPr lang="en-US" sz="2100" dirty="0"/>
          </a:p>
        </p:txBody>
      </p:sp>
      <p:sp>
        <p:nvSpPr>
          <p:cNvPr id="10" name="Flèche"/>
          <p:cNvSpPr/>
          <p:nvPr/>
        </p:nvSpPr>
        <p:spPr>
          <a:xfrm>
            <a:off x="4048658"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4368698" y="1600200"/>
            <a:ext cx="3454298" cy="3611880"/>
          </a:xfrm>
          <a:prstGeom prst="roundRect">
            <a:avLst>
              <a:gd name="adj" fmla="val 3177"/>
            </a:avLst>
          </a:prstGeom>
          <a:solidFill>
            <a:schemeClr val="bg2"/>
          </a:solidFill>
          <a:ln w="12700">
            <a:solidFill>
              <a:schemeClr val="bg2"/>
            </a:solidFill>
            <a:prstDash val="solid"/>
          </a:ln>
        </p:spPr>
      </p:sp>
      <p:sp>
        <p:nvSpPr>
          <p:cNvPr id="12" name="Shape 9"/>
          <p:cNvSpPr/>
          <p:nvPr/>
        </p:nvSpPr>
        <p:spPr>
          <a:xfrm>
            <a:off x="4597298"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4597298"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4597298" y="2560320"/>
            <a:ext cx="2997098" cy="777240"/>
          </a:xfrm>
          <a:prstGeom prst="rect">
            <a:avLst/>
          </a:prstGeom>
          <a:noFill/>
          <a:ln/>
        </p:spPr>
        <p:txBody>
          <a:bodyPr wrap="square" lIns="0" tIns="0" rIns="0" bIns="0" rtlCol="0" anchor="t"/>
          <a:lstStyle/>
          <a:p>
            <a:pPr indent="0" marL="0">
              <a:buNone/>
            </a:pPr>
            <a:r>
              <a:rPr lang="en-US" sz="2600" b="1" dirty="0">
                <a:solidFill>
                  <a:schemeClr val="tx1"/>
                </a:solidFill>
              </a:rPr>
              <a:t>Availability Zone</a:t>
            </a:r>
            <a:endParaRPr lang="en-US" sz="2600" dirty="0"/>
          </a:p>
        </p:txBody>
      </p:sp>
      <p:sp>
        <p:nvSpPr>
          <p:cNvPr id="15" name="Text 12"/>
          <p:cNvSpPr txBox="1"/>
          <p:nvPr/>
        </p:nvSpPr>
        <p:spPr>
          <a:xfrm>
            <a:off x="4597298" y="3383280"/>
            <a:ext cx="2997098" cy="1691640"/>
          </a:xfrm>
          <a:prstGeom prst="rect">
            <a:avLst/>
          </a:prstGeom>
          <a:noFill/>
          <a:ln/>
        </p:spPr>
        <p:txBody>
          <a:bodyPr wrap="square" lIns="0" tIns="0" rIns="0" bIns="0" rtlCol="0" anchor="t"/>
          <a:lstStyle/>
          <a:p>
            <a:pPr indent="0" marL="0">
              <a:buNone/>
            </a:pPr>
            <a:r>
              <a:rPr lang="en-US" sz="2100" dirty="0">
                <a:solidFill>
                  <a:schemeClr val="tx2"/>
                </a:solidFill>
              </a:rPr>
              <a:t>Un ou plusieurs datacenters, liaisons à très faible latence entre zones</a:t>
            </a:r>
            <a:endParaRPr lang="en-US" sz="2100" dirty="0"/>
          </a:p>
        </p:txBody>
      </p:sp>
      <p:sp>
        <p:nvSpPr>
          <p:cNvPr id="16" name="Flèche"/>
          <p:cNvSpPr/>
          <p:nvPr/>
        </p:nvSpPr>
        <p:spPr>
          <a:xfrm>
            <a:off x="7868717"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8188757" y="1600200"/>
            <a:ext cx="3454298" cy="3611880"/>
          </a:xfrm>
          <a:prstGeom prst="roundRect">
            <a:avLst>
              <a:gd name="adj" fmla="val 3177"/>
            </a:avLst>
          </a:prstGeom>
          <a:solidFill>
            <a:schemeClr val="bg2"/>
          </a:solidFill>
          <a:ln w="12700">
            <a:solidFill>
              <a:schemeClr val="bg2"/>
            </a:solidFill>
            <a:prstDash val="solid"/>
          </a:ln>
        </p:spPr>
      </p:sp>
      <p:sp>
        <p:nvSpPr>
          <p:cNvPr id="18" name="Shape 15"/>
          <p:cNvSpPr/>
          <p:nvPr/>
        </p:nvSpPr>
        <p:spPr>
          <a:xfrm>
            <a:off x="8417357"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8417357"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8417357" y="2560320"/>
            <a:ext cx="2997098" cy="777240"/>
          </a:xfrm>
          <a:prstGeom prst="rect">
            <a:avLst/>
          </a:prstGeom>
          <a:noFill/>
          <a:ln/>
        </p:spPr>
        <p:txBody>
          <a:bodyPr wrap="square" lIns="0" tIns="0" rIns="0" bIns="0" rtlCol="0" anchor="t"/>
          <a:lstStyle/>
          <a:p>
            <a:pPr indent="0" marL="0">
              <a:buNone/>
            </a:pPr>
            <a:r>
              <a:rPr lang="en-US" sz="2600" b="1" dirty="0">
                <a:solidFill>
                  <a:schemeClr val="tx1"/>
                </a:solidFill>
              </a:rPr>
              <a:t>Edge location</a:t>
            </a:r>
            <a:endParaRPr lang="en-US" sz="2600" dirty="0"/>
          </a:p>
        </p:txBody>
      </p:sp>
      <p:sp>
        <p:nvSpPr>
          <p:cNvPr id="21" name="Text 18"/>
          <p:cNvSpPr txBox="1"/>
          <p:nvPr/>
        </p:nvSpPr>
        <p:spPr>
          <a:xfrm>
            <a:off x="8417357" y="3383280"/>
            <a:ext cx="2997098" cy="1691640"/>
          </a:xfrm>
          <a:prstGeom prst="rect">
            <a:avLst/>
          </a:prstGeom>
          <a:noFill/>
          <a:ln/>
        </p:spPr>
        <p:txBody>
          <a:bodyPr wrap="square" lIns="0" tIns="0" rIns="0" bIns="0" rtlCol="0" anchor="t"/>
          <a:lstStyle/>
          <a:p>
            <a:pPr indent="0" marL="0">
              <a:buNone/>
            </a:pPr>
            <a:r>
              <a:rPr lang="en-US" sz="2100" dirty="0">
                <a:solidFill>
                  <a:schemeClr val="tx2"/>
                </a:solidFill>
              </a:rPr>
              <a:t>Points de présence pour CloudFront et Route 53</a:t>
            </a:r>
            <a:endParaRPr lang="en-US" sz="2100" dirty="0"/>
          </a:p>
        </p:txBody>
      </p:sp>
      <p:sp>
        <p:nvSpPr>
          <p:cNvPr id="22"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3"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4"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25"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Concevoir pour la panne : répartir chaque tier sur au moins 2 zones.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FONDAMENTAUX DU CLOUD</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 responsabilité partagée</a:t>
            </a:r>
            <a:endParaRPr lang="en-US" sz="3600" dirty="0"/>
          </a:p>
        </p:txBody>
      </p:sp>
      <p:sp>
        <p:nvSpPr>
          <p:cNvPr id="5" name="En-tête AWS : sécurité DU cloud"/>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AWS : sécurité DU cloud</a:t>
            </a:r>
            <a:endParaRPr lang="en-US" sz="2200" dirty="0"/>
          </a:p>
        </p:txBody>
      </p:sp>
      <p:sp>
        <p:nvSpPr>
          <p:cNvPr id="7" name="Panneau AWS : sécurité DU cloud"/>
          <p:cNvSpPr/>
          <p:nvPr/>
        </p:nvSpPr>
        <p:spPr>
          <a:xfrm>
            <a:off x="548640" y="2423160"/>
            <a:ext cx="5394960" cy="3749040"/>
          </a:xfrm>
          <a:prstGeom prst="roundRect">
            <a:avLst>
              <a:gd name="adj" fmla="val 2927"/>
            </a:avLst>
          </a:prstGeom>
          <a:solidFill>
            <a:schemeClr val="bg2"/>
          </a:solidFill>
          <a:ln w="12700">
            <a:solidFill>
              <a:schemeClr val="bg2"/>
            </a:solidFill>
            <a:prstDash val="solid"/>
          </a:ln>
        </p:spPr>
      </p:sp>
      <p:sp>
        <p:nvSpPr>
          <p:cNvPr id="8" name="Text 5"/>
          <p:cNvSpPr txBox="1"/>
          <p:nvPr/>
        </p:nvSpPr>
        <p:spPr>
          <a:xfrm>
            <a:off x="868680" y="2651760"/>
            <a:ext cx="4754880" cy="338328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Datacenters et matériel</a:t>
            </a:r>
            <a:endParaRPr lang="en-US" sz="2200" dirty="0"/>
          </a:p>
          <a:p>
            <a:pPr marL="342900" indent="-342900">
              <a:spcAft>
                <a:spcPts val="1400"/>
              </a:spcAft>
              <a:buSzPct val="100000"/>
              <a:buChar char="•"/>
            </a:pPr>
            <a:r>
              <a:rPr lang="en-US" sz="2200" dirty="0">
                <a:solidFill>
                  <a:schemeClr val="tx1"/>
                </a:solidFill>
              </a:rPr>
              <a:t>Réseau physique</a:t>
            </a:r>
            <a:endParaRPr lang="en-US" sz="2200" dirty="0"/>
          </a:p>
          <a:p>
            <a:pPr marL="342900" indent="-342900">
              <a:spcAft>
                <a:spcPts val="1400"/>
              </a:spcAft>
              <a:buSzPct val="100000"/>
              <a:buChar char="•"/>
            </a:pPr>
            <a:r>
              <a:rPr lang="en-US" sz="2200" dirty="0">
                <a:solidFill>
                  <a:schemeClr val="tx1"/>
                </a:solidFill>
              </a:rPr>
              <a:t>Hyperviseur</a:t>
            </a:r>
            <a:endParaRPr lang="en-US" sz="2200" dirty="0"/>
          </a:p>
          <a:p>
            <a:pPr marL="342900" indent="-342900">
              <a:spcAft>
                <a:spcPts val="1400"/>
              </a:spcAft>
              <a:buSzPct val="100000"/>
              <a:buChar char="•"/>
            </a:pPr>
            <a:r>
              <a:rPr lang="en-US" sz="2200" dirty="0">
                <a:solidFill>
                  <a:schemeClr val="tx1"/>
                </a:solidFill>
              </a:rPr>
              <a:t>Plateforme des services managés</a:t>
            </a:r>
            <a:endParaRPr lang="en-US" sz="2200" dirty="0"/>
          </a:p>
        </p:txBody>
      </p:sp>
      <p:sp>
        <p:nvSpPr>
          <p:cNvPr id="9" name="En-tête Vous : sécurité DANS le cloud"/>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Vous : sécurité DANS le cloud</a:t>
            </a:r>
            <a:endParaRPr lang="en-US" sz="2200" dirty="0"/>
          </a:p>
        </p:txBody>
      </p:sp>
      <p:sp>
        <p:nvSpPr>
          <p:cNvPr id="11" name="Panneau Vous : sécurité DANS le cloud"/>
          <p:cNvSpPr/>
          <p:nvPr/>
        </p:nvSpPr>
        <p:spPr>
          <a:xfrm>
            <a:off x="6248095" y="2423160"/>
            <a:ext cx="5394960" cy="3749040"/>
          </a:xfrm>
          <a:prstGeom prst="roundRect">
            <a:avLst>
              <a:gd name="adj" fmla="val 2927"/>
            </a:avLst>
          </a:prstGeom>
          <a:solidFill>
            <a:schemeClr val="bg2"/>
          </a:solidFill>
          <a:ln w="12700">
            <a:solidFill>
              <a:schemeClr val="bg2"/>
            </a:solidFill>
            <a:prstDash val="solid"/>
          </a:ln>
        </p:spPr>
      </p:sp>
      <p:sp>
        <p:nvSpPr>
          <p:cNvPr id="12" name="Text 9"/>
          <p:cNvSpPr txBox="1"/>
          <p:nvPr/>
        </p:nvSpPr>
        <p:spPr>
          <a:xfrm>
            <a:off x="6568135" y="2651760"/>
            <a:ext cx="4754880" cy="338328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Données et chiffrement</a:t>
            </a:r>
            <a:endParaRPr lang="en-US" sz="2200" dirty="0"/>
          </a:p>
          <a:p>
            <a:pPr marL="342900" indent="-342900">
              <a:spcAft>
                <a:spcPts val="1400"/>
              </a:spcAft>
              <a:buSzPct val="100000"/>
              <a:buChar char="•"/>
            </a:pPr>
            <a:r>
              <a:rPr lang="en-US" sz="2200" dirty="0">
                <a:solidFill>
                  <a:schemeClr val="tx1"/>
                </a:solidFill>
              </a:rPr>
              <a:t>IAM, MFA, politiques d'accès</a:t>
            </a:r>
            <a:endParaRPr lang="en-US" sz="2200" dirty="0"/>
          </a:p>
          <a:p>
            <a:pPr marL="342900" indent="-342900">
              <a:spcAft>
                <a:spcPts val="1400"/>
              </a:spcAft>
              <a:buSzPct val="100000"/>
              <a:buChar char="•"/>
            </a:pPr>
            <a:r>
              <a:rPr lang="en-US" sz="2200" dirty="0">
                <a:solidFill>
                  <a:schemeClr val="tx1"/>
                </a:solidFill>
              </a:rPr>
              <a:t>Système d'exploitation et correctifs EC2</a:t>
            </a:r>
            <a:endParaRPr lang="en-US" sz="2200" dirty="0"/>
          </a:p>
          <a:p>
            <a:pPr marL="342900" indent="-342900">
              <a:spcAft>
                <a:spcPts val="1400"/>
              </a:spcAft>
              <a:buSzPct val="100000"/>
              <a:buChar char="•"/>
            </a:pPr>
            <a:r>
              <a:rPr lang="en-US" sz="2200" dirty="0">
                <a:solidFill>
                  <a:schemeClr val="tx1"/>
                </a:solidFill>
              </a:rPr>
              <a:t>Security Groups et configuration</a:t>
            </a:r>
            <a:endParaRPr lang="en-US" sz="22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FONDAMENTAUX DU CLOUD</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Comprendre la facture</a:t>
            </a:r>
            <a:endParaRPr lang="en-US" sz="3600" dirty="0"/>
          </a:p>
        </p:txBody>
      </p:sp>
      <p:graphicFrame>
        <p:nvGraphicFramePr>
          <p:cNvPr id="18"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4206240"/>
                <a:gridCol w="2926080"/>
                <a:gridCol w="3959352"/>
              </a:tblGrid>
              <a:tr h="758952">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Modèle d'achat EC2</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Réduction typique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Usage idéal</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On-Demand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0 %</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Imprévisible, courte durée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Savings Plans / Réservations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jusqu'à ~70 %</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Charge stable sur 1 à 3 ans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Spot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jusqu'à ~90 %</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Batch, CI, workers interruptibles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Dedicated Host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variable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Licences, conformité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Trois leviers de coût : calcul, stockage, transfert sortant. Le trafic entrant est gratuit.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01 · FONDAMENTAUX DU CLOUD</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Région &gt; zone &gt; datacenter, edge pour la diffusion</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AWS sécurise le cloud, vous sécurisez ce que vous y mettez</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Spot pour l'interruptible, Savings Plans pour le stable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différence entre une région et une zone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Vrai ou faux : AWS patche l'OS de vos instances EC2.</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modèle d'achat pour un job batch interruptible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02</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IAM : identités et accès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Utilisateurs, groupes, rôles et policies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Lire et écrire une policy JSON</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Comprendre l'évaluation des permissions</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Credentials temporaires avec STS</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quatre briques d'IAM</a:t>
            </a:r>
            <a:endParaRPr lang="en-US" sz="3600" dirty="0"/>
          </a:p>
        </p:txBody>
      </p:sp>
      <p:sp>
        <p:nvSpPr>
          <p:cNvPr id="5" name="Carte Utilisateur"/>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User"/>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User"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Utilisateur</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Identité longue durée. Pour les humains, préférez Identity Center.</a:t>
            </a:r>
            <a:endParaRPr lang="en-US" sz="1900" dirty="0"/>
          </a:p>
        </p:txBody>
      </p:sp>
      <p:sp>
        <p:nvSpPr>
          <p:cNvPr id="10" name="Carte Groupe"/>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Users"/>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Users"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Groupe</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Ensemble d'utilisateurs qui partagent des policies.</a:t>
            </a:r>
            <a:endParaRPr lang="en-US" sz="1900" dirty="0"/>
          </a:p>
        </p:txBody>
      </p:sp>
      <p:sp>
        <p:nvSpPr>
          <p:cNvPr id="15" name="Carte Rôle"/>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IdBadge"/>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IdBadge"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Rôle</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Identité assumable, sans mot de passe, avec credentials temporaires.</a:t>
            </a:r>
            <a:endParaRPr lang="en-US" sz="1900" dirty="0"/>
          </a:p>
        </p:txBody>
      </p:sp>
      <p:sp>
        <p:nvSpPr>
          <p:cNvPr id="20" name="Carte Policy"/>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FileContrac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FileContrac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Policy</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Document JSON : qui peut faire quoi, sur quoi, sous quelles conditions.</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Anatomie d'une policy</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Effect : Allow ou Deny</a:t>
            </a:r>
            <a:endParaRPr lang="en-US" sz="2000" dirty="0"/>
          </a:p>
          <a:p>
            <a:pPr marL="342900" indent="-342900">
              <a:spcAft>
                <a:spcPts val="1600"/>
              </a:spcAft>
              <a:buSzPct val="100000"/>
              <a:buChar char="•"/>
            </a:pPr>
            <a:r>
              <a:rPr lang="en-US" sz="2000" dirty="0">
                <a:solidFill>
                  <a:schemeClr val="tx1"/>
                </a:solidFill>
              </a:rPr>
              <a:t>Action : service:Opération</a:t>
            </a:r>
            <a:endParaRPr lang="en-US" sz="2000" dirty="0"/>
          </a:p>
          <a:p>
            <a:pPr marL="342900" indent="-342900">
              <a:spcAft>
                <a:spcPts val="1600"/>
              </a:spcAft>
              <a:buSzPct val="100000"/>
              <a:buChar char="•"/>
            </a:pPr>
            <a:r>
              <a:rPr lang="en-US" sz="2000" dirty="0">
                <a:solidFill>
                  <a:schemeClr val="tx1"/>
                </a:solidFill>
              </a:rPr>
              <a:t>Resource : l'ARN ciblé</a:t>
            </a:r>
            <a:endParaRPr lang="en-US" sz="2000" dirty="0"/>
          </a:p>
          <a:p>
            <a:pPr marL="342900" indent="-342900">
              <a:spcAft>
                <a:spcPts val="1600"/>
              </a:spcAft>
              <a:buSzPct val="100000"/>
              <a:buChar char="•"/>
            </a:pPr>
            <a:r>
              <a:rPr lang="en-US" sz="2000" dirty="0">
                <a:solidFill>
                  <a:schemeClr val="tx1"/>
                </a:solidFill>
              </a:rPr>
              <a:t>Condition : MFA, IP, région, tags</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JSON</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600" dirty="0">
                <a:solidFill>
                  <a:schemeClr val="bg2"/>
                </a:solidFill>
                <a:latin typeface="Courier New" pitchFamily="34" charset="0"/>
                <a:ea typeface="Courier New" pitchFamily="34" charset="-122"/>
                <a:cs typeface="Courier New" pitchFamily="34" charset="-120"/>
              </a:rPr>
              <a:t>{</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"Effect": "Allow",</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"Action": ["s3:GetObject", "s3:ListBucket"],</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"Resource":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"arn:aws:s3:::mon-bucket",</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"arn:aws:s3:::mon-bucket/*"</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"Condition":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"Bool":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"aws:MultiFactorAuthPresent": "true"</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bg2"/>
                </a:solidFill>
                <a:latin typeface="Courier New" pitchFamily="34" charset="0"/>
                <a:ea typeface="Courier New" pitchFamily="34" charset="-122"/>
                <a:cs typeface="Courier New" pitchFamily="34" charset="-120"/>
              </a:rPr>
              <a: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Comment AWS décide : autoriser ou refuser</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1. Deny explicite ?</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Si oui, refusé. Le Deny gagne toujours.</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2. SCP autorise ?</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Plafond de l'organisation. Sinon, refusé.</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3. Boundary autorise ?</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Plafond du principal, s'il est défini.</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4. Allow trouvé ?</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Dans une policy d'identité ou de ressource.</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5. Sinon</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Refus implicite : tout est interdit par défaut.</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Deny explicite &gt; Allow explicite &gt; Deny implicite. En cross-account, il faut un Allow des deux côtés.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Rôles et STS : deux policies, deux questions</a:t>
            </a:r>
            <a:endParaRPr lang="en-US" sz="3600" dirty="0"/>
          </a:p>
        </p:txBody>
      </p:sp>
      <p:sp>
        <p:nvSpPr>
          <p:cNvPr id="5" name="En-tête Trust policy : QUI ?"/>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Trust policy : QUI ?</a:t>
            </a:r>
            <a:endParaRPr lang="en-US" sz="2200" dirty="0"/>
          </a:p>
        </p:txBody>
      </p:sp>
      <p:sp>
        <p:nvSpPr>
          <p:cNvPr id="7" name="Panneau Trust policy : QUI ?"/>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Définit qui peut assumer le rôle</a:t>
            </a:r>
            <a:endParaRPr lang="en-US" sz="2200" dirty="0"/>
          </a:p>
          <a:p>
            <a:pPr marL="342900" indent="-342900">
              <a:spcAft>
                <a:spcPts val="1400"/>
              </a:spcAft>
              <a:buSzPct val="100000"/>
              <a:buChar char="•"/>
            </a:pPr>
            <a:r>
              <a:rPr lang="en-US" sz="2200" dirty="0">
                <a:solidFill>
                  <a:schemeClr val="tx1"/>
                </a:solidFill>
              </a:rPr>
              <a:t>Principal : compte, service, fédération</a:t>
            </a:r>
            <a:endParaRPr lang="en-US" sz="2200" dirty="0"/>
          </a:p>
          <a:p>
            <a:pPr marL="342900" indent="-342900">
              <a:spcAft>
                <a:spcPts val="1400"/>
              </a:spcAft>
              <a:buSzPct val="100000"/>
              <a:buChar char="•"/>
            </a:pPr>
            <a:r>
              <a:rPr lang="en-US" sz="2200" dirty="0">
                <a:solidFill>
                  <a:schemeClr val="tx1"/>
                </a:solidFill>
              </a:rPr>
              <a:t>Peut exiger MFA ou ExternalId</a:t>
            </a:r>
            <a:endParaRPr lang="en-US" sz="2200" dirty="0"/>
          </a:p>
        </p:txBody>
      </p:sp>
      <p:sp>
        <p:nvSpPr>
          <p:cNvPr id="9" name="En-tête Permission policy : QUOI ?"/>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Permission policy : QUOI ?</a:t>
            </a:r>
            <a:endParaRPr lang="en-US" sz="2200" dirty="0"/>
          </a:p>
        </p:txBody>
      </p:sp>
      <p:sp>
        <p:nvSpPr>
          <p:cNvPr id="11" name="Panneau Permission policy : QUOI ?"/>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Définit ce que le rôle peut faire</a:t>
            </a:r>
            <a:endParaRPr lang="en-US" sz="2200" dirty="0"/>
          </a:p>
          <a:p>
            <a:pPr marL="342900" indent="-342900">
              <a:spcAft>
                <a:spcPts val="1400"/>
              </a:spcAft>
              <a:buSzPct val="100000"/>
              <a:buChar char="•"/>
            </a:pPr>
            <a:r>
              <a:rPr lang="en-US" sz="2200" dirty="0">
                <a:solidFill>
                  <a:schemeClr val="tx1"/>
                </a:solidFill>
              </a:rPr>
              <a:t>Actions et ressources autorisées</a:t>
            </a:r>
            <a:endParaRPr lang="en-US" sz="2200" dirty="0"/>
          </a:p>
          <a:p>
            <a:pPr marL="342900" indent="-342900">
              <a:spcAft>
                <a:spcPts val="1400"/>
              </a:spcAft>
              <a:buSzPct val="100000"/>
              <a:buChar char="•"/>
            </a:pPr>
            <a:r>
              <a:rPr lang="en-US" sz="2200" dirty="0">
                <a:solidFill>
                  <a:schemeClr val="tx1"/>
                </a:solidFill>
              </a:rPr>
              <a:t>Plafonnée par SCP et boundary</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sts:AssumeRole renvoie des credentials temporaires (15 min à 12 h).</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bonnes pratiques IAM</a:t>
            </a:r>
            <a:endParaRPr lang="en-US" sz="3600" dirty="0"/>
          </a:p>
        </p:txBody>
      </p:sp>
      <p:sp>
        <p:nvSpPr>
          <p:cNvPr id="5" name="Carte MFA partout"/>
          <p:cNvSpPr/>
          <p:nvPr/>
        </p:nvSpPr>
        <p:spPr>
          <a:xfrm>
            <a:off x="548640" y="1554480"/>
            <a:ext cx="3515258" cy="2194560"/>
          </a:xfrm>
          <a:prstGeom prst="roundRect">
            <a:avLst>
              <a:gd name="adj" fmla="val 5000"/>
            </a:avLst>
          </a:prstGeom>
          <a:solidFill>
            <a:schemeClr val="bg2"/>
          </a:solidFill>
          <a:ln w="12700">
            <a:solidFill>
              <a:schemeClr val="bg2"/>
            </a:solidFill>
            <a:prstDash val="solid"/>
          </a:ln>
        </p:spPr>
      </p:sp>
      <p:sp>
        <p:nvSpPr>
          <p:cNvPr id="6" name="Pastille FaMobileAlt"/>
          <p:cNvSpPr/>
          <p:nvPr/>
        </p:nvSpPr>
        <p:spPr>
          <a:xfrm>
            <a:off x="777240" y="1755648"/>
            <a:ext cx="566928" cy="566928"/>
          </a:xfrm>
          <a:prstGeom prst="ellipse">
            <a:avLst/>
          </a:prstGeom>
          <a:solidFill>
            <a:schemeClr val="accent1"/>
          </a:solidFill>
          <a:ln w="12700">
            <a:solidFill>
              <a:schemeClr val="accent1"/>
            </a:solidFill>
            <a:prstDash val="solid"/>
          </a:ln>
        </p:spPr>
      </p:sp>
      <p:pic>
        <p:nvPicPr>
          <p:cNvPr id="7" name="Icône FaMobileAlt" descr="icône">    </p:cNvPr>
          <p:cNvPicPr>
            <a:picLocks noChangeAspect="1"/>
          </p:cNvPicPr>
          <p:nvPr/>
        </p:nvPicPr>
        <p:blipFill>
          <a:blip r:embed="rId1"/>
          <a:stretch>
            <a:fillRect/>
          </a:stretch>
        </p:blipFill>
        <p:spPr>
          <a:xfrm>
            <a:off x="924641" y="1903049"/>
            <a:ext cx="272125" cy="272125"/>
          </a:xfrm>
          <a:prstGeom prst="rect">
            <a:avLst/>
          </a:prstGeom>
        </p:spPr>
      </p:pic>
      <p:sp>
        <p:nvSpPr>
          <p:cNvPr id="8" name="Text 4"/>
          <p:cNvSpPr txBox="1"/>
          <p:nvPr/>
        </p:nvSpPr>
        <p:spPr>
          <a:xfrm>
            <a:off x="1508760"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MFA partout</a:t>
            </a:r>
            <a:endParaRPr lang="en-US" sz="1900" dirty="0"/>
          </a:p>
        </p:txBody>
      </p:sp>
      <p:sp>
        <p:nvSpPr>
          <p:cNvPr id="9" name="Text 5"/>
          <p:cNvSpPr txBox="1"/>
          <p:nvPr/>
        </p:nvSpPr>
        <p:spPr>
          <a:xfrm>
            <a:off x="777240"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Root verrouillé, MFA exigé pour les actions sensibles.</a:t>
            </a:r>
            <a:endParaRPr lang="en-US" sz="1600" dirty="0"/>
          </a:p>
        </p:txBody>
      </p:sp>
      <p:sp>
        <p:nvSpPr>
          <p:cNvPr id="10" name="Carte Rôles avant clés"/>
          <p:cNvSpPr/>
          <p:nvPr/>
        </p:nvSpPr>
        <p:spPr>
          <a:xfrm>
            <a:off x="4338218" y="1554480"/>
            <a:ext cx="3515258" cy="2194560"/>
          </a:xfrm>
          <a:prstGeom prst="roundRect">
            <a:avLst>
              <a:gd name="adj" fmla="val 5000"/>
            </a:avLst>
          </a:prstGeom>
          <a:solidFill>
            <a:schemeClr val="bg2"/>
          </a:solidFill>
          <a:ln w="12700">
            <a:solidFill>
              <a:schemeClr val="bg2"/>
            </a:solidFill>
            <a:prstDash val="solid"/>
          </a:ln>
        </p:spPr>
      </p:sp>
      <p:sp>
        <p:nvSpPr>
          <p:cNvPr id="11" name="Pastille FaIdBadge"/>
          <p:cNvSpPr/>
          <p:nvPr/>
        </p:nvSpPr>
        <p:spPr>
          <a:xfrm>
            <a:off x="4566818" y="1755648"/>
            <a:ext cx="566928" cy="566928"/>
          </a:xfrm>
          <a:prstGeom prst="ellipse">
            <a:avLst/>
          </a:prstGeom>
          <a:solidFill>
            <a:schemeClr val="accent3"/>
          </a:solidFill>
          <a:ln w="12700">
            <a:solidFill>
              <a:schemeClr val="accent3"/>
            </a:solidFill>
            <a:prstDash val="solid"/>
          </a:ln>
        </p:spPr>
      </p:sp>
      <p:pic>
        <p:nvPicPr>
          <p:cNvPr id="12" name="Icône FaIdBadge" descr="icône">    </p:cNvPr>
          <p:cNvPicPr>
            <a:picLocks noChangeAspect="1"/>
          </p:cNvPicPr>
          <p:nvPr/>
        </p:nvPicPr>
        <p:blipFill>
          <a:blip r:embed="rId2"/>
          <a:stretch>
            <a:fillRect/>
          </a:stretch>
        </p:blipFill>
        <p:spPr>
          <a:xfrm>
            <a:off x="4714220" y="1903049"/>
            <a:ext cx="272125" cy="272125"/>
          </a:xfrm>
          <a:prstGeom prst="rect">
            <a:avLst/>
          </a:prstGeom>
        </p:spPr>
      </p:pic>
      <p:sp>
        <p:nvSpPr>
          <p:cNvPr id="13" name="Text 8"/>
          <p:cNvSpPr txBox="1"/>
          <p:nvPr/>
        </p:nvSpPr>
        <p:spPr>
          <a:xfrm>
            <a:off x="5298338"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Rôles avant clés</a:t>
            </a:r>
            <a:endParaRPr lang="en-US" sz="1900" dirty="0"/>
          </a:p>
        </p:txBody>
      </p:sp>
      <p:sp>
        <p:nvSpPr>
          <p:cNvPr id="14" name="Text 9"/>
          <p:cNvSpPr txBox="1"/>
          <p:nvPr/>
        </p:nvSpPr>
        <p:spPr>
          <a:xfrm>
            <a:off x="4566818"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Credentials temporaires. EC2, Lambda et ECS utilisent des rôles.</a:t>
            </a:r>
            <a:endParaRPr lang="en-US" sz="1600" dirty="0"/>
          </a:p>
        </p:txBody>
      </p:sp>
      <p:sp>
        <p:nvSpPr>
          <p:cNvPr id="15" name="Carte Moindre privilège"/>
          <p:cNvSpPr/>
          <p:nvPr/>
        </p:nvSpPr>
        <p:spPr>
          <a:xfrm>
            <a:off x="8127797" y="1554480"/>
            <a:ext cx="3515258" cy="2194560"/>
          </a:xfrm>
          <a:prstGeom prst="roundRect">
            <a:avLst>
              <a:gd name="adj" fmla="val 5000"/>
            </a:avLst>
          </a:prstGeom>
          <a:solidFill>
            <a:schemeClr val="bg2"/>
          </a:solidFill>
          <a:ln w="12700">
            <a:solidFill>
              <a:schemeClr val="bg2"/>
            </a:solidFill>
            <a:prstDash val="solid"/>
          </a:ln>
        </p:spPr>
      </p:sp>
      <p:sp>
        <p:nvSpPr>
          <p:cNvPr id="16" name="Pastille FaSlidersH"/>
          <p:cNvSpPr/>
          <p:nvPr/>
        </p:nvSpPr>
        <p:spPr>
          <a:xfrm>
            <a:off x="8356397" y="1755648"/>
            <a:ext cx="566928" cy="566928"/>
          </a:xfrm>
          <a:prstGeom prst="ellipse">
            <a:avLst/>
          </a:prstGeom>
          <a:solidFill>
            <a:schemeClr val="accent2"/>
          </a:solidFill>
          <a:ln w="12700">
            <a:solidFill>
              <a:schemeClr val="accent2"/>
            </a:solidFill>
            <a:prstDash val="solid"/>
          </a:ln>
        </p:spPr>
      </p:sp>
      <p:pic>
        <p:nvPicPr>
          <p:cNvPr id="17" name="Icône FaSlidersH" descr="icône">    </p:cNvPr>
          <p:cNvPicPr>
            <a:picLocks noChangeAspect="1"/>
          </p:cNvPicPr>
          <p:nvPr/>
        </p:nvPicPr>
        <p:blipFill>
          <a:blip r:embed="rId3"/>
          <a:stretch>
            <a:fillRect/>
          </a:stretch>
        </p:blipFill>
        <p:spPr>
          <a:xfrm>
            <a:off x="8503798" y="1903049"/>
            <a:ext cx="272125" cy="272125"/>
          </a:xfrm>
          <a:prstGeom prst="rect">
            <a:avLst/>
          </a:prstGeom>
        </p:spPr>
      </p:pic>
      <p:sp>
        <p:nvSpPr>
          <p:cNvPr id="18" name="Text 12"/>
          <p:cNvSpPr txBox="1"/>
          <p:nvPr/>
        </p:nvSpPr>
        <p:spPr>
          <a:xfrm>
            <a:off x="9087917"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Moindre privilège</a:t>
            </a:r>
            <a:endParaRPr lang="en-US" sz="1900" dirty="0"/>
          </a:p>
        </p:txBody>
      </p:sp>
      <p:sp>
        <p:nvSpPr>
          <p:cNvPr id="19" name="Text 13"/>
          <p:cNvSpPr txBox="1"/>
          <p:nvPr/>
        </p:nvSpPr>
        <p:spPr>
          <a:xfrm>
            <a:off x="8356397"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Partir de rien, élargir avec Access Analyzer et CloudTrail.</a:t>
            </a:r>
            <a:endParaRPr lang="en-US" sz="1600" dirty="0"/>
          </a:p>
        </p:txBody>
      </p:sp>
      <p:sp>
        <p:nvSpPr>
          <p:cNvPr id="20" name="Carte Conditions et ABAC"/>
          <p:cNvSpPr/>
          <p:nvPr/>
        </p:nvSpPr>
        <p:spPr>
          <a:xfrm>
            <a:off x="548640" y="3950208"/>
            <a:ext cx="3515258" cy="2194560"/>
          </a:xfrm>
          <a:prstGeom prst="roundRect">
            <a:avLst>
              <a:gd name="adj" fmla="val 5000"/>
            </a:avLst>
          </a:prstGeom>
          <a:solidFill>
            <a:schemeClr val="bg2"/>
          </a:solidFill>
          <a:ln w="12700">
            <a:solidFill>
              <a:schemeClr val="bg2"/>
            </a:solidFill>
            <a:prstDash val="solid"/>
          </a:ln>
        </p:spPr>
      </p:sp>
      <p:sp>
        <p:nvSpPr>
          <p:cNvPr id="21" name="Pastille FaTags"/>
          <p:cNvSpPr/>
          <p:nvPr/>
        </p:nvSpPr>
        <p:spPr>
          <a:xfrm>
            <a:off x="777240" y="4151376"/>
            <a:ext cx="566928" cy="566928"/>
          </a:xfrm>
          <a:prstGeom prst="ellipse">
            <a:avLst/>
          </a:prstGeom>
          <a:solidFill>
            <a:schemeClr val="accent4"/>
          </a:solidFill>
          <a:ln w="12700">
            <a:solidFill>
              <a:schemeClr val="accent4"/>
            </a:solidFill>
            <a:prstDash val="solid"/>
          </a:ln>
        </p:spPr>
      </p:sp>
      <p:pic>
        <p:nvPicPr>
          <p:cNvPr id="22" name="Icône FaTags" descr="icône">    </p:cNvPr>
          <p:cNvPicPr>
            <a:picLocks noChangeAspect="1"/>
          </p:cNvPicPr>
          <p:nvPr/>
        </p:nvPicPr>
        <p:blipFill>
          <a:blip r:embed="rId4"/>
          <a:stretch>
            <a:fillRect/>
          </a:stretch>
        </p:blipFill>
        <p:spPr>
          <a:xfrm>
            <a:off x="924641" y="4298777"/>
            <a:ext cx="272125" cy="272125"/>
          </a:xfrm>
          <a:prstGeom prst="rect">
            <a:avLst/>
          </a:prstGeom>
        </p:spPr>
      </p:pic>
      <p:sp>
        <p:nvSpPr>
          <p:cNvPr id="23" name="Text 16"/>
          <p:cNvSpPr txBox="1"/>
          <p:nvPr/>
        </p:nvSpPr>
        <p:spPr>
          <a:xfrm>
            <a:off x="1508760"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Conditions et ABAC</a:t>
            </a:r>
            <a:endParaRPr lang="en-US" sz="1900" dirty="0"/>
          </a:p>
        </p:txBody>
      </p:sp>
      <p:sp>
        <p:nvSpPr>
          <p:cNvPr id="24" name="Text 17"/>
          <p:cNvSpPr txBox="1"/>
          <p:nvPr/>
        </p:nvSpPr>
        <p:spPr>
          <a:xfrm>
            <a:off x="777240"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Région, tags, IP, VPC endpoint : des droits qui suivent le contexte.</a:t>
            </a:r>
            <a:endParaRPr lang="en-US" sz="1600" dirty="0"/>
          </a:p>
        </p:txBody>
      </p:sp>
      <p:sp>
        <p:nvSpPr>
          <p:cNvPr id="25" name="Carte Identity Center"/>
          <p:cNvSpPr/>
          <p:nvPr/>
        </p:nvSpPr>
        <p:spPr>
          <a:xfrm>
            <a:off x="4338218" y="3950208"/>
            <a:ext cx="3515258" cy="2194560"/>
          </a:xfrm>
          <a:prstGeom prst="roundRect">
            <a:avLst>
              <a:gd name="adj" fmla="val 5000"/>
            </a:avLst>
          </a:prstGeom>
          <a:solidFill>
            <a:schemeClr val="bg2"/>
          </a:solidFill>
          <a:ln w="12700">
            <a:solidFill>
              <a:schemeClr val="bg2"/>
            </a:solidFill>
            <a:prstDash val="solid"/>
          </a:ln>
        </p:spPr>
      </p:sp>
      <p:sp>
        <p:nvSpPr>
          <p:cNvPr id="26" name="Pastille FaUserFriends"/>
          <p:cNvSpPr/>
          <p:nvPr/>
        </p:nvSpPr>
        <p:spPr>
          <a:xfrm>
            <a:off x="4566818" y="4151376"/>
            <a:ext cx="566928" cy="566928"/>
          </a:xfrm>
          <a:prstGeom prst="ellipse">
            <a:avLst/>
          </a:prstGeom>
          <a:solidFill>
            <a:schemeClr val="accent1"/>
          </a:solidFill>
          <a:ln w="12700">
            <a:solidFill>
              <a:schemeClr val="accent1"/>
            </a:solidFill>
            <a:prstDash val="solid"/>
          </a:ln>
        </p:spPr>
      </p:sp>
      <p:pic>
        <p:nvPicPr>
          <p:cNvPr id="27" name="Icône FaUserFriends" descr="icône">    </p:cNvPr>
          <p:cNvPicPr>
            <a:picLocks noChangeAspect="1"/>
          </p:cNvPicPr>
          <p:nvPr/>
        </p:nvPicPr>
        <p:blipFill>
          <a:blip r:embed="rId5"/>
          <a:stretch>
            <a:fillRect/>
          </a:stretch>
        </p:blipFill>
        <p:spPr>
          <a:xfrm>
            <a:off x="4714220" y="4298777"/>
            <a:ext cx="272125" cy="272125"/>
          </a:xfrm>
          <a:prstGeom prst="rect">
            <a:avLst/>
          </a:prstGeom>
        </p:spPr>
      </p:pic>
      <p:sp>
        <p:nvSpPr>
          <p:cNvPr id="28" name="Text 20"/>
          <p:cNvSpPr txBox="1"/>
          <p:nvPr/>
        </p:nvSpPr>
        <p:spPr>
          <a:xfrm>
            <a:off x="5298338"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Identity Center</a:t>
            </a:r>
            <a:endParaRPr lang="en-US" sz="1900" dirty="0"/>
          </a:p>
        </p:txBody>
      </p:sp>
      <p:sp>
        <p:nvSpPr>
          <p:cNvPr id="29" name="Text 21"/>
          <p:cNvSpPr txBox="1"/>
          <p:nvPr/>
        </p:nvSpPr>
        <p:spPr>
          <a:xfrm>
            <a:off x="4566818"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Un portail SSO, des permission sets par compte.</a:t>
            </a:r>
            <a:endParaRPr lang="en-US" sz="1600" dirty="0"/>
          </a:p>
        </p:txBody>
      </p:sp>
      <p:sp>
        <p:nvSpPr>
          <p:cNvPr id="30" name="Carte OIDC pour la CI/CD"/>
          <p:cNvSpPr/>
          <p:nvPr/>
        </p:nvSpPr>
        <p:spPr>
          <a:xfrm>
            <a:off x="8127797" y="3950208"/>
            <a:ext cx="3515258" cy="2194560"/>
          </a:xfrm>
          <a:prstGeom prst="roundRect">
            <a:avLst>
              <a:gd name="adj" fmla="val 5000"/>
            </a:avLst>
          </a:prstGeom>
          <a:solidFill>
            <a:schemeClr val="bg2"/>
          </a:solidFill>
          <a:ln w="12700">
            <a:solidFill>
              <a:schemeClr val="bg2"/>
            </a:solidFill>
            <a:prstDash val="solid"/>
          </a:ln>
        </p:spPr>
      </p:sp>
      <p:sp>
        <p:nvSpPr>
          <p:cNvPr id="31" name="Pastille FaGithub"/>
          <p:cNvSpPr/>
          <p:nvPr/>
        </p:nvSpPr>
        <p:spPr>
          <a:xfrm>
            <a:off x="8356397" y="4151376"/>
            <a:ext cx="566928" cy="566928"/>
          </a:xfrm>
          <a:prstGeom prst="ellipse">
            <a:avLst/>
          </a:prstGeom>
          <a:solidFill>
            <a:schemeClr val="accent3"/>
          </a:solidFill>
          <a:ln w="12700">
            <a:solidFill>
              <a:schemeClr val="accent3"/>
            </a:solidFill>
            <a:prstDash val="solid"/>
          </a:ln>
        </p:spPr>
      </p:sp>
      <p:pic>
        <p:nvPicPr>
          <p:cNvPr id="32" name="Icône FaGithub" descr="icône">    </p:cNvPr>
          <p:cNvPicPr>
            <a:picLocks noChangeAspect="1"/>
          </p:cNvPicPr>
          <p:nvPr/>
        </p:nvPicPr>
        <p:blipFill>
          <a:blip r:embed="rId6"/>
          <a:stretch>
            <a:fillRect/>
          </a:stretch>
        </p:blipFill>
        <p:spPr>
          <a:xfrm>
            <a:off x="8503798" y="4298777"/>
            <a:ext cx="272125" cy="272125"/>
          </a:xfrm>
          <a:prstGeom prst="rect">
            <a:avLst/>
          </a:prstGeom>
        </p:spPr>
      </p:pic>
      <p:sp>
        <p:nvSpPr>
          <p:cNvPr id="33" name="Text 24"/>
          <p:cNvSpPr txBox="1"/>
          <p:nvPr/>
        </p:nvSpPr>
        <p:spPr>
          <a:xfrm>
            <a:off x="9087917"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OIDC pour la CI/CD</a:t>
            </a:r>
            <a:endParaRPr lang="en-US" sz="1900" dirty="0"/>
          </a:p>
        </p:txBody>
      </p:sp>
      <p:sp>
        <p:nvSpPr>
          <p:cNvPr id="34" name="Text 25"/>
          <p:cNvSpPr txBox="1"/>
          <p:nvPr/>
        </p:nvSpPr>
        <p:spPr>
          <a:xfrm>
            <a:off x="8356397"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GitHub Actions assume un rôle, sans aucune clé stockée.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02 : déléguer en sécurité</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L'équipe dev lit et écrit dans un bucket, et lance des instances uniquement en eu-west-3 avec le tag team=dev, MFA obligatoire.</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lire les policies créées</a:t>
            </a:r>
            <a:endParaRPr lang="en-US" sz="1800" dirty="0"/>
          </a:p>
          <a:p>
            <a:pPr marL="342900" indent="-342900">
              <a:spcAft>
                <a:spcPts val="800"/>
              </a:spcAft>
              <a:buSzPct val="100000"/>
              <a:buFont typeface="+mj-lt"/>
              <a:buAutoNum type="arabicPeriod" startAt="1"/>
            </a:pPr>
            <a:r>
              <a:rPr lang="en-US" sz="1800" dirty="0">
                <a:solidFill>
                  <a:schemeClr val="tx1"/>
                </a:solidFill>
              </a:rPr>
              <a:t>Assumer dev-role avec MFA</a:t>
            </a:r>
            <a:endParaRPr lang="en-US" sz="1800" dirty="0"/>
          </a:p>
          <a:p>
            <a:pPr marL="342900" indent="-342900">
              <a:spcAft>
                <a:spcPts val="800"/>
              </a:spcAft>
              <a:buSzPct val="100000"/>
              <a:buFont typeface="+mj-lt"/>
              <a:buAutoNum type="arabicPeriod" startAt="1"/>
            </a:pPr>
            <a:r>
              <a:rPr lang="en-US" sz="1800" dirty="0">
                <a:solidFill>
                  <a:schemeClr val="tx1"/>
                </a:solidFill>
              </a:rPr>
              <a:t>run-instances en us-east-1 : refus attendu</a:t>
            </a:r>
            <a:endParaRPr lang="en-US" sz="1800" dirty="0"/>
          </a:p>
          <a:p>
            <a:pPr marL="342900" indent="-342900">
              <a:spcAft>
                <a:spcPts val="800"/>
              </a:spcAft>
              <a:buSzPct val="100000"/>
              <a:buFont typeface="+mj-lt"/>
              <a:buAutoNum type="arabicPeriod" startAt="1"/>
            </a:pPr>
            <a:r>
              <a:rPr lang="en-US" sz="1800" dirty="0">
                <a:solidFill>
                  <a:schemeClr val="tx1"/>
                </a:solidFill>
              </a:rPr>
              <a:t>En eu-west-3 sans tag : refus, avec tag : DryRunOperation</a:t>
            </a:r>
            <a:endParaRPr lang="en-US" sz="1800" dirty="0"/>
          </a:p>
          <a:p>
            <a:pPr marL="342900" indent="-342900">
              <a:spcAft>
                <a:spcPts val="800"/>
              </a:spcAft>
              <a:buSzPct val="100000"/>
              <a:buFont typeface="+mj-lt"/>
              <a:buAutoNum type="arabicPeriod" startAt="1"/>
            </a:pPr>
            <a:r>
              <a:rPr lang="en-US" sz="1800" dirty="0">
                <a:solidFill>
                  <a:schemeClr val="tx1"/>
                </a:solidFill>
              </a:rPr>
              <a:t>Défi : ajouter une permission boundary</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Vous expliquez chaque autorisation ou refus en citant l'étape d'évaluation.</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02-iam/labs/lab-iam</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02 · IAM : IDENTITÉS ET ACCÈS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Deny explicite &gt; Allow &gt; refus implicite</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Trust policy = qui, permission policy = quoi</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Rôles et credentials temporaires, jamais de clés dans le code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Un Allow IAM peut-il contourner un Deny de SCP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Qu'accorde une permission boundary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condition force le MFA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03</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Réseau : Amazon VPC</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Concevoir un VPC multi-zones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Routage, NAT, Security Groups, NACL</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Endpoints et connexions entre réseaux</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Diagnostiquer avec Flow Logs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 VPC à trois niveaux sur deux zones</a:t>
            </a:r>
            <a:endParaRPr lang="en-US" sz="3600" dirty="0"/>
          </a:p>
        </p:txBody>
      </p:sp>
      <p:sp>
        <p:nvSpPr>
          <p:cNvPr id="5" name="VPC"/>
          <p:cNvSpPr/>
          <p:nvPr/>
        </p:nvSpPr>
        <p:spPr>
          <a:xfrm>
            <a:off x="548640" y="1508760"/>
            <a:ext cx="7680960" cy="4754880"/>
          </a:xfrm>
          <a:prstGeom prst="roundRect">
            <a:avLst>
              <a:gd name="adj" fmla="val 2308"/>
            </a:avLst>
          </a:prstGeom>
          <a:solidFill>
            <a:schemeClr val="bg1"/>
          </a:solidFill>
          <a:ln w="25400">
            <a:solidFill>
              <a:schemeClr val="accent3"/>
            </a:solidFill>
            <a:prstDash val="solid"/>
          </a:ln>
        </p:spPr>
      </p:sp>
      <p:sp>
        <p:nvSpPr>
          <p:cNvPr id="6" name="Text 3"/>
          <p:cNvSpPr txBox="1"/>
          <p:nvPr/>
        </p:nvSpPr>
        <p:spPr>
          <a:xfrm>
            <a:off x="777240" y="1572768"/>
            <a:ext cx="3657600" cy="274320"/>
          </a:xfrm>
          <a:prstGeom prst="rect">
            <a:avLst/>
          </a:prstGeom>
          <a:noFill/>
          <a:ln/>
        </p:spPr>
        <p:txBody>
          <a:bodyPr wrap="square" lIns="0" tIns="0" rIns="0" bIns="0" rtlCol="0" anchor="ctr"/>
          <a:lstStyle/>
          <a:p>
            <a:pPr indent="0" marL="0">
              <a:buNone/>
            </a:pPr>
            <a:r>
              <a:rPr lang="en-US" sz="1600" b="1" dirty="0">
                <a:solidFill>
                  <a:schemeClr val="accent3"/>
                </a:solidFill>
              </a:rPr>
              <a:t>VPC 10.0.0.0/16</a:t>
            </a:r>
            <a:endParaRPr lang="en-US" sz="1600" dirty="0"/>
          </a:p>
        </p:txBody>
      </p:sp>
      <p:sp>
        <p:nvSpPr>
          <p:cNvPr id="7" name="Shape 4"/>
          <p:cNvSpPr/>
          <p:nvPr/>
        </p:nvSpPr>
        <p:spPr>
          <a:xfrm>
            <a:off x="914400" y="1920240"/>
            <a:ext cx="6949440" cy="411480"/>
          </a:xfrm>
          <a:prstGeom prst="roundRect">
            <a:avLst>
              <a:gd name="adj" fmla="val 17778"/>
            </a:avLst>
          </a:prstGeom>
          <a:solidFill>
            <a:schemeClr val="accent5"/>
          </a:solidFill>
          <a:ln w="12700">
            <a:solidFill>
              <a:schemeClr val="accent5"/>
            </a:solidFill>
            <a:prstDash val="solid"/>
          </a:ln>
        </p:spPr>
      </p:sp>
      <p:sp>
        <p:nvSpPr>
          <p:cNvPr id="8" name="Text 5"/>
          <p:cNvSpPr txBox="1"/>
          <p:nvPr/>
        </p:nvSpPr>
        <p:spPr>
          <a:xfrm>
            <a:off x="914400" y="1920240"/>
            <a:ext cx="6949440" cy="411480"/>
          </a:xfrm>
          <a:prstGeom prst="rect">
            <a:avLst/>
          </a:prstGeom>
          <a:noFill/>
          <a:ln/>
        </p:spPr>
        <p:txBody>
          <a:bodyPr wrap="square" lIns="0" tIns="0" rIns="0" bIns="0" rtlCol="0" anchor="ctr"/>
          <a:lstStyle/>
          <a:p>
            <a:pPr algn="ctr" indent="0" marL="0">
              <a:buNone/>
            </a:pPr>
            <a:r>
              <a:rPr lang="en-US" sz="1600" b="1" dirty="0">
                <a:solidFill>
                  <a:schemeClr val="tx1"/>
                </a:solidFill>
              </a:rPr>
              <a:t>Internet Gateway</a:t>
            </a:r>
            <a:endParaRPr lang="en-US" sz="1600" dirty="0"/>
          </a:p>
        </p:txBody>
      </p:sp>
      <p:sp>
        <p:nvSpPr>
          <p:cNvPr id="9" name="Text 6"/>
          <p:cNvSpPr txBox="1"/>
          <p:nvPr/>
        </p:nvSpPr>
        <p:spPr>
          <a:xfrm>
            <a:off x="914400" y="2423160"/>
            <a:ext cx="3383280" cy="320040"/>
          </a:xfrm>
          <a:prstGeom prst="rect">
            <a:avLst/>
          </a:prstGeom>
          <a:noFill/>
          <a:ln/>
        </p:spPr>
        <p:txBody>
          <a:bodyPr wrap="square" lIns="0" tIns="0" rIns="0" bIns="0" rtlCol="0" anchor="ctr"/>
          <a:lstStyle/>
          <a:p>
            <a:pPr algn="ctr" indent="0" marL="0">
              <a:buNone/>
            </a:pPr>
            <a:r>
              <a:rPr lang="en-US" sz="1600" b="1" dirty="0">
                <a:solidFill>
                  <a:schemeClr val="tx2"/>
                </a:solidFill>
              </a:rPr>
              <a:t>Zone A</a:t>
            </a:r>
            <a:endParaRPr lang="en-US" sz="1600" dirty="0"/>
          </a:p>
        </p:txBody>
      </p:sp>
      <p:sp>
        <p:nvSpPr>
          <p:cNvPr id="10" name="Shape 7"/>
          <p:cNvSpPr/>
          <p:nvPr/>
        </p:nvSpPr>
        <p:spPr>
          <a:xfrm>
            <a:off x="914400" y="2788920"/>
            <a:ext cx="3383280" cy="914400"/>
          </a:xfrm>
          <a:prstGeom prst="roundRect">
            <a:avLst>
              <a:gd name="adj" fmla="val 10000"/>
            </a:avLst>
          </a:prstGeom>
          <a:solidFill>
            <a:schemeClr val="accent1">
              <a:alpha val="28000"/>
            </a:schemeClr>
          </a:solidFill>
          <a:ln w="19050">
            <a:solidFill>
              <a:schemeClr val="accent1"/>
            </a:solidFill>
            <a:prstDash val="solid"/>
          </a:ln>
        </p:spPr>
      </p:sp>
      <p:sp>
        <p:nvSpPr>
          <p:cNvPr id="11" name="Text 8"/>
          <p:cNvSpPr txBox="1"/>
          <p:nvPr/>
        </p:nvSpPr>
        <p:spPr>
          <a:xfrm>
            <a:off x="1051560" y="278892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Public : ALB, NAT</a:t>
            </a:r>
            <a:endParaRPr lang="en-US" sz="1700" dirty="0"/>
          </a:p>
        </p:txBody>
      </p:sp>
      <p:sp>
        <p:nvSpPr>
          <p:cNvPr id="12" name="Shape 9"/>
          <p:cNvSpPr/>
          <p:nvPr/>
        </p:nvSpPr>
        <p:spPr>
          <a:xfrm>
            <a:off x="914400" y="3794760"/>
            <a:ext cx="3383280" cy="914400"/>
          </a:xfrm>
          <a:prstGeom prst="roundRect">
            <a:avLst>
              <a:gd name="adj" fmla="val 10000"/>
            </a:avLst>
          </a:prstGeom>
          <a:solidFill>
            <a:schemeClr val="accent3">
              <a:alpha val="28000"/>
            </a:schemeClr>
          </a:solidFill>
          <a:ln w="19050">
            <a:solidFill>
              <a:schemeClr val="accent3"/>
            </a:solidFill>
            <a:prstDash val="solid"/>
          </a:ln>
        </p:spPr>
      </p:sp>
      <p:sp>
        <p:nvSpPr>
          <p:cNvPr id="13" name="Text 10"/>
          <p:cNvSpPr txBox="1"/>
          <p:nvPr/>
        </p:nvSpPr>
        <p:spPr>
          <a:xfrm>
            <a:off x="1051560" y="379476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Privé : application</a:t>
            </a:r>
            <a:endParaRPr lang="en-US" sz="1700" dirty="0"/>
          </a:p>
        </p:txBody>
      </p:sp>
      <p:sp>
        <p:nvSpPr>
          <p:cNvPr id="14" name="Shape 11"/>
          <p:cNvSpPr/>
          <p:nvPr/>
        </p:nvSpPr>
        <p:spPr>
          <a:xfrm>
            <a:off x="914400" y="4800600"/>
            <a:ext cx="3383280" cy="914400"/>
          </a:xfrm>
          <a:prstGeom prst="roundRect">
            <a:avLst>
              <a:gd name="adj" fmla="val 10000"/>
            </a:avLst>
          </a:prstGeom>
          <a:solidFill>
            <a:schemeClr val="accent2">
              <a:alpha val="28000"/>
            </a:schemeClr>
          </a:solidFill>
          <a:ln w="19050">
            <a:solidFill>
              <a:schemeClr val="accent2"/>
            </a:solidFill>
            <a:prstDash val="solid"/>
          </a:ln>
        </p:spPr>
      </p:sp>
      <p:sp>
        <p:nvSpPr>
          <p:cNvPr id="15" name="Text 12"/>
          <p:cNvSpPr txBox="1"/>
          <p:nvPr/>
        </p:nvSpPr>
        <p:spPr>
          <a:xfrm>
            <a:off x="1051560" y="480060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Data : RDS primaire</a:t>
            </a:r>
            <a:endParaRPr lang="en-US" sz="1700" dirty="0"/>
          </a:p>
        </p:txBody>
      </p:sp>
      <p:sp>
        <p:nvSpPr>
          <p:cNvPr id="16" name="Text 13"/>
          <p:cNvSpPr txBox="1"/>
          <p:nvPr/>
        </p:nvSpPr>
        <p:spPr>
          <a:xfrm>
            <a:off x="4480560" y="2423160"/>
            <a:ext cx="3383280" cy="320040"/>
          </a:xfrm>
          <a:prstGeom prst="rect">
            <a:avLst/>
          </a:prstGeom>
          <a:noFill/>
          <a:ln/>
        </p:spPr>
        <p:txBody>
          <a:bodyPr wrap="square" lIns="0" tIns="0" rIns="0" bIns="0" rtlCol="0" anchor="ctr"/>
          <a:lstStyle/>
          <a:p>
            <a:pPr algn="ctr" indent="0" marL="0">
              <a:buNone/>
            </a:pPr>
            <a:r>
              <a:rPr lang="en-US" sz="1600" b="1" dirty="0">
                <a:solidFill>
                  <a:schemeClr val="tx2"/>
                </a:solidFill>
              </a:rPr>
              <a:t>Zone B</a:t>
            </a:r>
            <a:endParaRPr lang="en-US" sz="1600" dirty="0"/>
          </a:p>
        </p:txBody>
      </p:sp>
      <p:sp>
        <p:nvSpPr>
          <p:cNvPr id="17" name="Shape 14"/>
          <p:cNvSpPr/>
          <p:nvPr/>
        </p:nvSpPr>
        <p:spPr>
          <a:xfrm>
            <a:off x="4480560" y="2788920"/>
            <a:ext cx="3383280" cy="914400"/>
          </a:xfrm>
          <a:prstGeom prst="roundRect">
            <a:avLst>
              <a:gd name="adj" fmla="val 10000"/>
            </a:avLst>
          </a:prstGeom>
          <a:solidFill>
            <a:schemeClr val="accent1">
              <a:alpha val="28000"/>
            </a:schemeClr>
          </a:solidFill>
          <a:ln w="19050">
            <a:solidFill>
              <a:schemeClr val="accent1"/>
            </a:solidFill>
            <a:prstDash val="solid"/>
          </a:ln>
        </p:spPr>
      </p:sp>
      <p:sp>
        <p:nvSpPr>
          <p:cNvPr id="18" name="Text 15"/>
          <p:cNvSpPr txBox="1"/>
          <p:nvPr/>
        </p:nvSpPr>
        <p:spPr>
          <a:xfrm>
            <a:off x="4617720" y="278892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Public : ALB, NAT</a:t>
            </a:r>
            <a:endParaRPr lang="en-US" sz="1700" dirty="0"/>
          </a:p>
        </p:txBody>
      </p:sp>
      <p:sp>
        <p:nvSpPr>
          <p:cNvPr id="19" name="Shape 16"/>
          <p:cNvSpPr/>
          <p:nvPr/>
        </p:nvSpPr>
        <p:spPr>
          <a:xfrm>
            <a:off x="4480560" y="3794760"/>
            <a:ext cx="3383280" cy="914400"/>
          </a:xfrm>
          <a:prstGeom prst="roundRect">
            <a:avLst>
              <a:gd name="adj" fmla="val 10000"/>
            </a:avLst>
          </a:prstGeom>
          <a:solidFill>
            <a:schemeClr val="accent3">
              <a:alpha val="28000"/>
            </a:schemeClr>
          </a:solidFill>
          <a:ln w="19050">
            <a:solidFill>
              <a:schemeClr val="accent3"/>
            </a:solidFill>
            <a:prstDash val="solid"/>
          </a:ln>
        </p:spPr>
      </p:sp>
      <p:sp>
        <p:nvSpPr>
          <p:cNvPr id="20" name="Text 17"/>
          <p:cNvSpPr txBox="1"/>
          <p:nvPr/>
        </p:nvSpPr>
        <p:spPr>
          <a:xfrm>
            <a:off x="4617720" y="379476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Privé : application</a:t>
            </a:r>
            <a:endParaRPr lang="en-US" sz="1700" dirty="0"/>
          </a:p>
        </p:txBody>
      </p:sp>
      <p:sp>
        <p:nvSpPr>
          <p:cNvPr id="21" name="Shape 18"/>
          <p:cNvSpPr/>
          <p:nvPr/>
        </p:nvSpPr>
        <p:spPr>
          <a:xfrm>
            <a:off x="4480560" y="4800600"/>
            <a:ext cx="3383280" cy="914400"/>
          </a:xfrm>
          <a:prstGeom prst="roundRect">
            <a:avLst>
              <a:gd name="adj" fmla="val 10000"/>
            </a:avLst>
          </a:prstGeom>
          <a:solidFill>
            <a:schemeClr val="accent2">
              <a:alpha val="28000"/>
            </a:schemeClr>
          </a:solidFill>
          <a:ln w="19050">
            <a:solidFill>
              <a:schemeClr val="accent2"/>
            </a:solidFill>
            <a:prstDash val="solid"/>
          </a:ln>
        </p:spPr>
      </p:sp>
      <p:sp>
        <p:nvSpPr>
          <p:cNvPr id="22" name="Text 19"/>
          <p:cNvSpPr txBox="1"/>
          <p:nvPr/>
        </p:nvSpPr>
        <p:spPr>
          <a:xfrm>
            <a:off x="4617720" y="4800600"/>
            <a:ext cx="3108960" cy="914400"/>
          </a:xfrm>
          <a:prstGeom prst="rect">
            <a:avLst/>
          </a:prstGeom>
          <a:noFill/>
          <a:ln/>
        </p:spPr>
        <p:txBody>
          <a:bodyPr wrap="square" lIns="0" tIns="0" rIns="0" bIns="0" rtlCol="0" anchor="ctr"/>
          <a:lstStyle/>
          <a:p>
            <a:pPr algn="ctr" indent="0" marL="0">
              <a:buNone/>
            </a:pPr>
            <a:r>
              <a:rPr lang="en-US" sz="1700" b="1" dirty="0">
                <a:solidFill>
                  <a:schemeClr val="tx1"/>
                </a:solidFill>
              </a:rPr>
              <a:t>Data : RDS standby</a:t>
            </a:r>
            <a:endParaRPr lang="en-US" sz="1700" dirty="0"/>
          </a:p>
        </p:txBody>
      </p:sp>
      <p:sp>
        <p:nvSpPr>
          <p:cNvPr id="23" name="Shape 20"/>
          <p:cNvSpPr/>
          <p:nvPr/>
        </p:nvSpPr>
        <p:spPr>
          <a:xfrm>
            <a:off x="8503920" y="1508760"/>
            <a:ext cx="3136392" cy="4754880"/>
          </a:xfrm>
          <a:prstGeom prst="roundRect">
            <a:avLst>
              <a:gd name="adj" fmla="val 3499"/>
            </a:avLst>
          </a:prstGeom>
          <a:solidFill>
            <a:schemeClr val="bg2"/>
          </a:solidFill>
          <a:ln w="12700">
            <a:solidFill>
              <a:schemeClr val="bg2"/>
            </a:solidFill>
            <a:prstDash val="solid"/>
          </a:ln>
        </p:spPr>
      </p:sp>
      <p:sp>
        <p:nvSpPr>
          <p:cNvPr id="24" name="Text 21"/>
          <p:cNvSpPr txBox="1"/>
          <p:nvPr/>
        </p:nvSpPr>
        <p:spPr>
          <a:xfrm>
            <a:off x="8778240" y="1691640"/>
            <a:ext cx="27432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LECTURE</a:t>
            </a:r>
            <a:endParaRPr lang="en-US" sz="1300" dirty="0"/>
          </a:p>
        </p:txBody>
      </p:sp>
      <p:sp>
        <p:nvSpPr>
          <p:cNvPr id="25" name="Text 22"/>
          <p:cNvSpPr txBox="1"/>
          <p:nvPr/>
        </p:nvSpPr>
        <p:spPr>
          <a:xfrm>
            <a:off x="8778240" y="2103120"/>
            <a:ext cx="2697480" cy="39319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Public : route 0.0.0.0/0 vers l'Internet Gateway</a:t>
            </a:r>
            <a:endParaRPr lang="en-US" sz="1800" dirty="0"/>
          </a:p>
          <a:p>
            <a:pPr marL="342900" indent="-342900">
              <a:spcAft>
                <a:spcPts val="1200"/>
              </a:spcAft>
              <a:buSzPct val="100000"/>
              <a:buChar char="•"/>
            </a:pPr>
            <a:r>
              <a:rPr lang="en-US" sz="1800" dirty="0">
                <a:solidFill>
                  <a:schemeClr val="tx1"/>
                </a:solidFill>
              </a:rPr>
              <a:t>Privé : sortie Internet via la NAT</a:t>
            </a:r>
            <a:endParaRPr lang="en-US" sz="1800" dirty="0"/>
          </a:p>
          <a:p>
            <a:pPr marL="342900" indent="-342900">
              <a:spcAft>
                <a:spcPts val="1200"/>
              </a:spcAft>
              <a:buSzPct val="100000"/>
              <a:buChar char="•"/>
            </a:pPr>
            <a:r>
              <a:rPr lang="en-US" sz="1800" dirty="0">
                <a:solidFill>
                  <a:schemeClr val="tx1"/>
                </a:solidFill>
              </a:rPr>
              <a:t>Data : aucune route Internet</a:t>
            </a:r>
            <a:endParaRPr lang="en-US" sz="1800" dirty="0"/>
          </a:p>
          <a:p>
            <a:pPr marL="342900" indent="-342900">
              <a:spcAft>
                <a:spcPts val="1200"/>
              </a:spcAft>
              <a:buSzPct val="100000"/>
              <a:buChar char="•"/>
            </a:pPr>
            <a:r>
              <a:rPr lang="en-US" sz="1800" dirty="0">
                <a:solidFill>
                  <a:schemeClr val="tx1"/>
                </a:solidFill>
              </a:rPr>
              <a:t>Security Groups chaînés : ALB, application, base</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composants à connaître</a:t>
            </a:r>
            <a:endParaRPr lang="en-US" sz="3600" dirty="0"/>
          </a:p>
        </p:txBody>
      </p:sp>
      <p:graphicFrame>
        <p:nvGraphicFramePr>
          <p:cNvPr id="30"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4023360"/>
                <a:gridCol w="4142232"/>
              </a:tblGrid>
              <a:tr h="6400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Composant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Rôle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À retenir</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Internet Gateway</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Entrée et sortie Internet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Gratuite, 1 par VPC</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NAT Gateway (payant)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Sortie Internet du privé</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Dans un subnet public, 1 par zone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Security Group</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Pare-feu de l'instance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Stateful, Allow uniquement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NACL</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Pare-feu du subnet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Stateless, Allow et Deny</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Endpoint Gateway</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Accès privé à S3 et DynamoDB</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Gratuit, via la table de routage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Endpoint Interface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Accès privé aux autres services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PrivateLink, payant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Security Group ou NACL ?</a:t>
            </a:r>
            <a:endParaRPr lang="en-US" sz="3600" dirty="0"/>
          </a:p>
        </p:txBody>
      </p:sp>
      <p:sp>
        <p:nvSpPr>
          <p:cNvPr id="5" name="En-tête Security Group"/>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Security Group</a:t>
            </a:r>
            <a:endParaRPr lang="en-US" sz="2200" dirty="0"/>
          </a:p>
        </p:txBody>
      </p:sp>
      <p:sp>
        <p:nvSpPr>
          <p:cNvPr id="7" name="Panneau Security Group"/>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Niveau instance (ENI)</a:t>
            </a:r>
            <a:endParaRPr lang="en-US" sz="2200" dirty="0"/>
          </a:p>
          <a:p>
            <a:pPr marL="342900" indent="-342900">
              <a:spcAft>
                <a:spcPts val="1400"/>
              </a:spcAft>
              <a:buSzPct val="100000"/>
              <a:buChar char="•"/>
            </a:pPr>
            <a:r>
              <a:rPr lang="en-US" sz="2200" dirty="0">
                <a:solidFill>
                  <a:schemeClr val="tx1"/>
                </a:solidFill>
              </a:rPr>
              <a:t>Stateful : la réponse est automatique</a:t>
            </a:r>
            <a:endParaRPr lang="en-US" sz="2200" dirty="0"/>
          </a:p>
          <a:p>
            <a:pPr marL="342900" indent="-342900">
              <a:spcAft>
                <a:spcPts val="1400"/>
              </a:spcAft>
              <a:buSzPct val="100000"/>
              <a:buChar char="•"/>
            </a:pPr>
            <a:r>
              <a:rPr lang="en-US" sz="2200" dirty="0">
                <a:solidFill>
                  <a:schemeClr val="tx1"/>
                </a:solidFill>
              </a:rPr>
              <a:t>Allow uniquement</a:t>
            </a:r>
            <a:endParaRPr lang="en-US" sz="2200" dirty="0"/>
          </a:p>
          <a:p>
            <a:pPr marL="342900" indent="-342900">
              <a:spcAft>
                <a:spcPts val="1400"/>
              </a:spcAft>
              <a:buSzPct val="100000"/>
              <a:buChar char="•"/>
            </a:pPr>
            <a:r>
              <a:rPr lang="en-US" sz="2200" dirty="0">
                <a:solidFill>
                  <a:schemeClr val="tx1"/>
                </a:solidFill>
              </a:rPr>
              <a:t>Peut référencer un autre SG</a:t>
            </a:r>
            <a:endParaRPr lang="en-US" sz="2200" dirty="0"/>
          </a:p>
        </p:txBody>
      </p:sp>
      <p:sp>
        <p:nvSpPr>
          <p:cNvPr id="9" name="En-tête NACL"/>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NACL</a:t>
            </a:r>
            <a:endParaRPr lang="en-US" sz="2200" dirty="0"/>
          </a:p>
        </p:txBody>
      </p:sp>
      <p:sp>
        <p:nvSpPr>
          <p:cNvPr id="11" name="Panneau NACL"/>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Niveau subnet</a:t>
            </a:r>
            <a:endParaRPr lang="en-US" sz="2200" dirty="0"/>
          </a:p>
          <a:p>
            <a:pPr marL="342900" indent="-342900">
              <a:spcAft>
                <a:spcPts val="1400"/>
              </a:spcAft>
              <a:buSzPct val="100000"/>
              <a:buChar char="•"/>
            </a:pPr>
            <a:r>
              <a:rPr lang="en-US" sz="2200" dirty="0">
                <a:solidFill>
                  <a:schemeClr val="tx1"/>
                </a:solidFill>
              </a:rPr>
              <a:t>Stateless : ouvrir les ports éphémères</a:t>
            </a:r>
            <a:endParaRPr lang="en-US" sz="2200" dirty="0"/>
          </a:p>
          <a:p>
            <a:pPr marL="342900" indent="-342900">
              <a:spcAft>
                <a:spcPts val="1400"/>
              </a:spcAft>
              <a:buSzPct val="100000"/>
              <a:buChar char="•"/>
            </a:pPr>
            <a:r>
              <a:rPr lang="en-US" sz="2200" dirty="0">
                <a:solidFill>
                  <a:schemeClr val="tx1"/>
                </a:solidFill>
              </a:rPr>
              <a:t>Allow et Deny, règles ordonnées</a:t>
            </a:r>
            <a:endParaRPr lang="en-US" sz="2200" dirty="0"/>
          </a:p>
          <a:p>
            <a:pPr marL="342900" indent="-342900">
              <a:spcAft>
                <a:spcPts val="1400"/>
              </a:spcAft>
              <a:buSzPct val="100000"/>
              <a:buChar char="•"/>
            </a:pPr>
            <a:r>
              <a:rPr lang="en-US" sz="2200" dirty="0">
                <a:solidFill>
                  <a:schemeClr val="tx1"/>
                </a:solidFill>
              </a:rPr>
              <a:t>Utile pour bloquer une IP</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Bonne pratique : chaîner les SG (alb-sg vers app-sg vers db-sg) plutôt que des CIDR.</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Relier des réseaux</a:t>
            </a:r>
            <a:endParaRPr lang="en-US" sz="3600" dirty="0"/>
          </a:p>
        </p:txBody>
      </p:sp>
      <p:graphicFrame>
        <p:nvGraphicFramePr>
          <p:cNvPr id="32"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657600"/>
                <a:gridCol w="3108960"/>
                <a:gridCol w="4325112"/>
              </a:tblGrid>
              <a:tr h="74676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Besoin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Solution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Remarque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2 VPC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VPC Peering</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Non transitif, pas de CIDR qui se chevauchent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Beaucoup de VPC et on-premises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Transit Gateway</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Hub and spoke transitif</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On-premises chiffré via Internet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Site-to-Site VPN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2 tunnels IPsec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Lien dédié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Direct Connect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Latence stable, ajouter un VPN pour chiffrer</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Exposer un service à des centaines de VPC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PrivateLink</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Endpoint service derrière un NLB</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03 : VPC à trois niveaux</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Déployer un VPC sur 2 zones avec subnets public, privé et data, SG chaînés, endpoint S3 et Flow Logs.</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-var enable_nat=false</a:t>
            </a:r>
            <a:endParaRPr lang="en-US" sz="1800" dirty="0"/>
          </a:p>
          <a:p>
            <a:pPr marL="342900" indent="-342900">
              <a:spcAft>
                <a:spcPts val="800"/>
              </a:spcAft>
              <a:buSzPct val="100000"/>
              <a:buFont typeface="+mj-lt"/>
              <a:buAutoNum type="arabicPeriod" startAt="1"/>
            </a:pPr>
            <a:r>
              <a:rPr lang="en-US" sz="1800" dirty="0">
                <a:solidFill>
                  <a:schemeClr val="tx1"/>
                </a:solidFill>
              </a:rPr>
              <a:t>Se connecter à l'instance privée via SSM</a:t>
            </a:r>
            <a:endParaRPr lang="en-US" sz="1800" dirty="0"/>
          </a:p>
          <a:p>
            <a:pPr marL="342900" indent="-342900">
              <a:spcAft>
                <a:spcPts val="800"/>
              </a:spcAft>
              <a:buSzPct val="100000"/>
              <a:buFont typeface="+mj-lt"/>
              <a:buAutoNum type="arabicPeriod" startAt="1"/>
            </a:pPr>
            <a:r>
              <a:rPr lang="en-US" sz="1800" dirty="0">
                <a:solidFill>
                  <a:schemeClr val="tx1"/>
                </a:solidFill>
              </a:rPr>
              <a:t>Constater : curl échoue, aws s3 ls fonctionne</a:t>
            </a:r>
            <a:endParaRPr lang="en-US" sz="1800" dirty="0"/>
          </a:p>
          <a:p>
            <a:pPr marL="342900" indent="-342900">
              <a:spcAft>
                <a:spcPts val="800"/>
              </a:spcAft>
              <a:buSzPct val="100000"/>
              <a:buFont typeface="+mj-lt"/>
              <a:buAutoNum type="arabicPeriod" startAt="1"/>
            </a:pPr>
            <a:r>
              <a:rPr lang="en-US" sz="1800" dirty="0">
                <a:solidFill>
                  <a:schemeClr val="tx1"/>
                </a:solidFill>
              </a:rPr>
              <a:t>Lire un REJECT dans les Flow Logs</a:t>
            </a:r>
            <a:endParaRPr lang="en-US" sz="1800" dirty="0"/>
          </a:p>
          <a:p>
            <a:pPr marL="342900" indent="-342900">
              <a:spcAft>
                <a:spcPts val="800"/>
              </a:spcAft>
              <a:buSzPct val="100000"/>
              <a:buFont typeface="+mj-lt"/>
              <a:buAutoNum type="arabicPeriod" startAt="1"/>
            </a:pPr>
            <a:r>
              <a:rPr lang="en-US" sz="1800" dirty="0">
                <a:solidFill>
                  <a:schemeClr val="tx1"/>
                </a:solidFill>
              </a:rPr>
              <a:t>Activer la NAT (payante) puis comparer</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Schéma annoté et captures d'un Flow Log ACCEPT et d'un REJECT.</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0 € sans NAT</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03-reseau-vpc/labs/lab-vpc</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03 · RÉSEAU : AMAZON VPC</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Un subnet = une zone. Public = route vers l'IGW</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NAT pour sortir, endpoints pour éviter la NAT</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SG stateful, NACL stateless, peering non transitif</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un subnet ne s'étend-il pas sur deux zones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n'autoriser que l'ALB à joindre l'application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endpoint est gratuit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04</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Compute : Amazon EC2</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type d'instance et modèle d'achat</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Accéder sans SSH grâce à SSM</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AMI, user-data, Launch Templates</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Durcir avec IMDSv2 et EBS chiffré</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familles d'instances</a:t>
            </a:r>
            <a:endParaRPr lang="en-US" sz="3600" dirty="0"/>
          </a:p>
        </p:txBody>
      </p:sp>
      <p:sp>
        <p:nvSpPr>
          <p:cNvPr id="5" name="Carte T et M"/>
          <p:cNvSpPr/>
          <p:nvPr/>
        </p:nvSpPr>
        <p:spPr>
          <a:xfrm>
            <a:off x="548640" y="1554480"/>
            <a:ext cx="3515258" cy="1874520"/>
          </a:xfrm>
          <a:prstGeom prst="roundRect">
            <a:avLst>
              <a:gd name="adj" fmla="val 5854"/>
            </a:avLst>
          </a:prstGeom>
          <a:solidFill>
            <a:schemeClr val="bg2"/>
          </a:solidFill>
          <a:ln w="12700">
            <a:solidFill>
              <a:schemeClr val="bg2"/>
            </a:solidFill>
            <a:prstDash val="solid"/>
          </a:ln>
        </p:spPr>
      </p:sp>
      <p:sp>
        <p:nvSpPr>
          <p:cNvPr id="6" name="Pastille FaBalanceScale"/>
          <p:cNvSpPr/>
          <p:nvPr/>
        </p:nvSpPr>
        <p:spPr>
          <a:xfrm>
            <a:off x="777240" y="1755648"/>
            <a:ext cx="566928" cy="566928"/>
          </a:xfrm>
          <a:prstGeom prst="ellipse">
            <a:avLst/>
          </a:prstGeom>
          <a:solidFill>
            <a:schemeClr val="accent1"/>
          </a:solidFill>
          <a:ln w="12700">
            <a:solidFill>
              <a:schemeClr val="accent1"/>
            </a:solidFill>
            <a:prstDash val="solid"/>
          </a:ln>
        </p:spPr>
      </p:sp>
      <p:pic>
        <p:nvPicPr>
          <p:cNvPr id="7" name="Icône FaBalanceScale" descr="icône">    </p:cNvPr>
          <p:cNvPicPr>
            <a:picLocks noChangeAspect="1"/>
          </p:cNvPicPr>
          <p:nvPr/>
        </p:nvPicPr>
        <p:blipFill>
          <a:blip r:embed="rId1"/>
          <a:stretch>
            <a:fillRect/>
          </a:stretch>
        </p:blipFill>
        <p:spPr>
          <a:xfrm>
            <a:off x="924641" y="1903049"/>
            <a:ext cx="272125" cy="272125"/>
          </a:xfrm>
          <a:prstGeom prst="rect">
            <a:avLst/>
          </a:prstGeom>
        </p:spPr>
      </p:pic>
      <p:sp>
        <p:nvSpPr>
          <p:cNvPr id="8" name="Text 4"/>
          <p:cNvSpPr txBox="1"/>
          <p:nvPr/>
        </p:nvSpPr>
        <p:spPr>
          <a:xfrm>
            <a:off x="1508760"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T et M</a:t>
            </a:r>
            <a:endParaRPr lang="en-US" sz="1900" dirty="0"/>
          </a:p>
        </p:txBody>
      </p:sp>
      <p:sp>
        <p:nvSpPr>
          <p:cNvPr id="9" name="Text 5"/>
          <p:cNvSpPr txBox="1"/>
          <p:nvPr/>
        </p:nvSpPr>
        <p:spPr>
          <a:xfrm>
            <a:off x="777240" y="2468880"/>
            <a:ext cx="3058058" cy="868680"/>
          </a:xfrm>
          <a:prstGeom prst="rect">
            <a:avLst/>
          </a:prstGeom>
          <a:noFill/>
          <a:ln/>
        </p:spPr>
        <p:txBody>
          <a:bodyPr wrap="square" lIns="0" tIns="0" rIns="0" bIns="0" rtlCol="0" anchor="t"/>
          <a:lstStyle/>
          <a:p>
            <a:pPr indent="0" marL="0">
              <a:buNone/>
            </a:pPr>
            <a:r>
              <a:rPr lang="en-US" sz="1600" dirty="0">
                <a:solidFill>
                  <a:schemeClr val="tx2"/>
                </a:solidFill>
              </a:rPr>
              <a:t>Usage général. T est burstable, M est équilibré CPU et mémoire.</a:t>
            </a:r>
            <a:endParaRPr lang="en-US" sz="1600" dirty="0"/>
          </a:p>
        </p:txBody>
      </p:sp>
      <p:sp>
        <p:nvSpPr>
          <p:cNvPr id="10" name="Carte C"/>
          <p:cNvSpPr/>
          <p:nvPr/>
        </p:nvSpPr>
        <p:spPr>
          <a:xfrm>
            <a:off x="4338218" y="1554480"/>
            <a:ext cx="3515258" cy="1874520"/>
          </a:xfrm>
          <a:prstGeom prst="roundRect">
            <a:avLst>
              <a:gd name="adj" fmla="val 5854"/>
            </a:avLst>
          </a:prstGeom>
          <a:solidFill>
            <a:schemeClr val="bg2"/>
          </a:solidFill>
          <a:ln w="12700">
            <a:solidFill>
              <a:schemeClr val="bg2"/>
            </a:solidFill>
            <a:prstDash val="solid"/>
          </a:ln>
        </p:spPr>
      </p:sp>
      <p:sp>
        <p:nvSpPr>
          <p:cNvPr id="11" name="Pastille FaMicrochip"/>
          <p:cNvSpPr/>
          <p:nvPr/>
        </p:nvSpPr>
        <p:spPr>
          <a:xfrm>
            <a:off x="4566818" y="1755648"/>
            <a:ext cx="566928" cy="566928"/>
          </a:xfrm>
          <a:prstGeom prst="ellipse">
            <a:avLst/>
          </a:prstGeom>
          <a:solidFill>
            <a:schemeClr val="accent3"/>
          </a:solidFill>
          <a:ln w="12700">
            <a:solidFill>
              <a:schemeClr val="accent3"/>
            </a:solidFill>
            <a:prstDash val="solid"/>
          </a:ln>
        </p:spPr>
      </p:sp>
      <p:pic>
        <p:nvPicPr>
          <p:cNvPr id="12" name="Icône FaMicrochip" descr="icône">    </p:cNvPr>
          <p:cNvPicPr>
            <a:picLocks noChangeAspect="1"/>
          </p:cNvPicPr>
          <p:nvPr/>
        </p:nvPicPr>
        <p:blipFill>
          <a:blip r:embed="rId2"/>
          <a:stretch>
            <a:fillRect/>
          </a:stretch>
        </p:blipFill>
        <p:spPr>
          <a:xfrm>
            <a:off x="4714220" y="1903049"/>
            <a:ext cx="272125" cy="272125"/>
          </a:xfrm>
          <a:prstGeom prst="rect">
            <a:avLst/>
          </a:prstGeom>
        </p:spPr>
      </p:pic>
      <p:sp>
        <p:nvSpPr>
          <p:cNvPr id="13" name="Text 8"/>
          <p:cNvSpPr txBox="1"/>
          <p:nvPr/>
        </p:nvSpPr>
        <p:spPr>
          <a:xfrm>
            <a:off x="5298338"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C</a:t>
            </a:r>
            <a:endParaRPr lang="en-US" sz="1900" dirty="0"/>
          </a:p>
        </p:txBody>
      </p:sp>
      <p:sp>
        <p:nvSpPr>
          <p:cNvPr id="14" name="Text 9"/>
          <p:cNvSpPr txBox="1"/>
          <p:nvPr/>
        </p:nvSpPr>
        <p:spPr>
          <a:xfrm>
            <a:off x="4566818" y="2468880"/>
            <a:ext cx="3058058" cy="868680"/>
          </a:xfrm>
          <a:prstGeom prst="rect">
            <a:avLst/>
          </a:prstGeom>
          <a:noFill/>
          <a:ln/>
        </p:spPr>
        <p:txBody>
          <a:bodyPr wrap="square" lIns="0" tIns="0" rIns="0" bIns="0" rtlCol="0" anchor="t"/>
          <a:lstStyle/>
          <a:p>
            <a:pPr indent="0" marL="0">
              <a:buNone/>
            </a:pPr>
            <a:r>
              <a:rPr lang="en-US" sz="1600" dirty="0">
                <a:solidFill>
                  <a:schemeClr val="tx2"/>
                </a:solidFill>
              </a:rPr>
              <a:t>Calcul intensif : batch, encodage, CI.</a:t>
            </a:r>
            <a:endParaRPr lang="en-US" sz="1600" dirty="0"/>
          </a:p>
        </p:txBody>
      </p:sp>
      <p:sp>
        <p:nvSpPr>
          <p:cNvPr id="15" name="Carte R et X"/>
          <p:cNvSpPr/>
          <p:nvPr/>
        </p:nvSpPr>
        <p:spPr>
          <a:xfrm>
            <a:off x="8127797" y="1554480"/>
            <a:ext cx="3515258" cy="1874520"/>
          </a:xfrm>
          <a:prstGeom prst="roundRect">
            <a:avLst>
              <a:gd name="adj" fmla="val 5854"/>
            </a:avLst>
          </a:prstGeom>
          <a:solidFill>
            <a:schemeClr val="bg2"/>
          </a:solidFill>
          <a:ln w="12700">
            <a:solidFill>
              <a:schemeClr val="bg2"/>
            </a:solidFill>
            <a:prstDash val="solid"/>
          </a:ln>
        </p:spPr>
      </p:sp>
      <p:sp>
        <p:nvSpPr>
          <p:cNvPr id="16" name="Pastille FaMemory"/>
          <p:cNvSpPr/>
          <p:nvPr/>
        </p:nvSpPr>
        <p:spPr>
          <a:xfrm>
            <a:off x="8356397" y="1755648"/>
            <a:ext cx="566928" cy="566928"/>
          </a:xfrm>
          <a:prstGeom prst="ellipse">
            <a:avLst/>
          </a:prstGeom>
          <a:solidFill>
            <a:schemeClr val="accent2"/>
          </a:solidFill>
          <a:ln w="12700">
            <a:solidFill>
              <a:schemeClr val="accent2"/>
            </a:solidFill>
            <a:prstDash val="solid"/>
          </a:ln>
        </p:spPr>
      </p:sp>
      <p:pic>
        <p:nvPicPr>
          <p:cNvPr id="17" name="Icône FaMemory" descr="icône">    </p:cNvPr>
          <p:cNvPicPr>
            <a:picLocks noChangeAspect="1"/>
          </p:cNvPicPr>
          <p:nvPr/>
        </p:nvPicPr>
        <p:blipFill>
          <a:blip r:embed="rId3"/>
          <a:stretch>
            <a:fillRect/>
          </a:stretch>
        </p:blipFill>
        <p:spPr>
          <a:xfrm>
            <a:off x="8503798" y="1903049"/>
            <a:ext cx="272125" cy="272125"/>
          </a:xfrm>
          <a:prstGeom prst="rect">
            <a:avLst/>
          </a:prstGeom>
        </p:spPr>
      </p:pic>
      <p:sp>
        <p:nvSpPr>
          <p:cNvPr id="18" name="Text 12"/>
          <p:cNvSpPr txBox="1"/>
          <p:nvPr/>
        </p:nvSpPr>
        <p:spPr>
          <a:xfrm>
            <a:off x="9087917"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R et X</a:t>
            </a:r>
            <a:endParaRPr lang="en-US" sz="1900" dirty="0"/>
          </a:p>
        </p:txBody>
      </p:sp>
      <p:sp>
        <p:nvSpPr>
          <p:cNvPr id="19" name="Text 13"/>
          <p:cNvSpPr txBox="1"/>
          <p:nvPr/>
        </p:nvSpPr>
        <p:spPr>
          <a:xfrm>
            <a:off x="8356397" y="2468880"/>
            <a:ext cx="3058058" cy="868680"/>
          </a:xfrm>
          <a:prstGeom prst="rect">
            <a:avLst/>
          </a:prstGeom>
          <a:noFill/>
          <a:ln/>
        </p:spPr>
        <p:txBody>
          <a:bodyPr wrap="square" lIns="0" tIns="0" rIns="0" bIns="0" rtlCol="0" anchor="t"/>
          <a:lstStyle/>
          <a:p>
            <a:pPr indent="0" marL="0">
              <a:buNone/>
            </a:pPr>
            <a:r>
              <a:rPr lang="en-US" sz="1600" dirty="0">
                <a:solidFill>
                  <a:schemeClr val="tx2"/>
                </a:solidFill>
              </a:rPr>
              <a:t>Mémoire : bases de données, caches.</a:t>
            </a:r>
            <a:endParaRPr lang="en-US" sz="1600" dirty="0"/>
          </a:p>
        </p:txBody>
      </p:sp>
      <p:sp>
        <p:nvSpPr>
          <p:cNvPr id="20" name="Carte I et D"/>
          <p:cNvSpPr/>
          <p:nvPr/>
        </p:nvSpPr>
        <p:spPr>
          <a:xfrm>
            <a:off x="548640" y="3630168"/>
            <a:ext cx="3515258" cy="1874520"/>
          </a:xfrm>
          <a:prstGeom prst="roundRect">
            <a:avLst>
              <a:gd name="adj" fmla="val 5854"/>
            </a:avLst>
          </a:prstGeom>
          <a:solidFill>
            <a:schemeClr val="bg2"/>
          </a:solidFill>
          <a:ln w="12700">
            <a:solidFill>
              <a:schemeClr val="bg2"/>
            </a:solidFill>
            <a:prstDash val="solid"/>
          </a:ln>
        </p:spPr>
      </p:sp>
      <p:sp>
        <p:nvSpPr>
          <p:cNvPr id="21" name="Pastille FaHdd"/>
          <p:cNvSpPr/>
          <p:nvPr/>
        </p:nvSpPr>
        <p:spPr>
          <a:xfrm>
            <a:off x="777240" y="3831336"/>
            <a:ext cx="566928" cy="566928"/>
          </a:xfrm>
          <a:prstGeom prst="ellipse">
            <a:avLst/>
          </a:prstGeom>
          <a:solidFill>
            <a:schemeClr val="accent4"/>
          </a:solidFill>
          <a:ln w="12700">
            <a:solidFill>
              <a:schemeClr val="accent4"/>
            </a:solidFill>
            <a:prstDash val="solid"/>
          </a:ln>
        </p:spPr>
      </p:sp>
      <p:pic>
        <p:nvPicPr>
          <p:cNvPr id="22" name="Icône FaHdd" descr="icône">    </p:cNvPr>
          <p:cNvPicPr>
            <a:picLocks noChangeAspect="1"/>
          </p:cNvPicPr>
          <p:nvPr/>
        </p:nvPicPr>
        <p:blipFill>
          <a:blip r:embed="rId4"/>
          <a:stretch>
            <a:fillRect/>
          </a:stretch>
        </p:blipFill>
        <p:spPr>
          <a:xfrm>
            <a:off x="924641" y="3978737"/>
            <a:ext cx="272125" cy="272125"/>
          </a:xfrm>
          <a:prstGeom prst="rect">
            <a:avLst/>
          </a:prstGeom>
        </p:spPr>
      </p:pic>
      <p:sp>
        <p:nvSpPr>
          <p:cNvPr id="23" name="Text 16"/>
          <p:cNvSpPr txBox="1"/>
          <p:nvPr/>
        </p:nvSpPr>
        <p:spPr>
          <a:xfrm>
            <a:off x="1508760" y="381304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I et D</a:t>
            </a:r>
            <a:endParaRPr lang="en-US" sz="1900" dirty="0"/>
          </a:p>
        </p:txBody>
      </p:sp>
      <p:sp>
        <p:nvSpPr>
          <p:cNvPr id="24" name="Text 17"/>
          <p:cNvSpPr txBox="1"/>
          <p:nvPr/>
        </p:nvSpPr>
        <p:spPr>
          <a:xfrm>
            <a:off x="777240" y="4544568"/>
            <a:ext cx="3058058" cy="868680"/>
          </a:xfrm>
          <a:prstGeom prst="rect">
            <a:avLst/>
          </a:prstGeom>
          <a:noFill/>
          <a:ln/>
        </p:spPr>
        <p:txBody>
          <a:bodyPr wrap="square" lIns="0" tIns="0" rIns="0" bIns="0" rtlCol="0" anchor="t"/>
          <a:lstStyle/>
          <a:p>
            <a:pPr indent="0" marL="0">
              <a:buNone/>
            </a:pPr>
            <a:r>
              <a:rPr lang="en-US" sz="1600" dirty="0">
                <a:solidFill>
                  <a:schemeClr val="tx2"/>
                </a:solidFill>
              </a:rPr>
              <a:t>Stockage NVMe local à haut débit.</a:t>
            </a:r>
            <a:endParaRPr lang="en-US" sz="1600" dirty="0"/>
          </a:p>
        </p:txBody>
      </p:sp>
      <p:sp>
        <p:nvSpPr>
          <p:cNvPr id="25" name="Carte G, P, Inf, Trn"/>
          <p:cNvSpPr/>
          <p:nvPr/>
        </p:nvSpPr>
        <p:spPr>
          <a:xfrm>
            <a:off x="4338218" y="3630168"/>
            <a:ext cx="3515258" cy="1874520"/>
          </a:xfrm>
          <a:prstGeom prst="roundRect">
            <a:avLst>
              <a:gd name="adj" fmla="val 5854"/>
            </a:avLst>
          </a:prstGeom>
          <a:solidFill>
            <a:schemeClr val="bg2"/>
          </a:solidFill>
          <a:ln w="12700">
            <a:solidFill>
              <a:schemeClr val="bg2"/>
            </a:solidFill>
            <a:prstDash val="solid"/>
          </a:ln>
        </p:spPr>
      </p:sp>
      <p:sp>
        <p:nvSpPr>
          <p:cNvPr id="26" name="Pastille FaBolt"/>
          <p:cNvSpPr/>
          <p:nvPr/>
        </p:nvSpPr>
        <p:spPr>
          <a:xfrm>
            <a:off x="4566818" y="3831336"/>
            <a:ext cx="566928" cy="566928"/>
          </a:xfrm>
          <a:prstGeom prst="ellipse">
            <a:avLst/>
          </a:prstGeom>
          <a:solidFill>
            <a:schemeClr val="accent1"/>
          </a:solidFill>
          <a:ln w="12700">
            <a:solidFill>
              <a:schemeClr val="accent1"/>
            </a:solidFill>
            <a:prstDash val="solid"/>
          </a:ln>
        </p:spPr>
      </p:sp>
      <p:pic>
        <p:nvPicPr>
          <p:cNvPr id="27" name="Icône FaBolt" descr="icône">    </p:cNvPr>
          <p:cNvPicPr>
            <a:picLocks noChangeAspect="1"/>
          </p:cNvPicPr>
          <p:nvPr/>
        </p:nvPicPr>
        <p:blipFill>
          <a:blip r:embed="rId5"/>
          <a:stretch>
            <a:fillRect/>
          </a:stretch>
        </p:blipFill>
        <p:spPr>
          <a:xfrm>
            <a:off x="4714220" y="3978737"/>
            <a:ext cx="272125" cy="272125"/>
          </a:xfrm>
          <a:prstGeom prst="rect">
            <a:avLst/>
          </a:prstGeom>
        </p:spPr>
      </p:pic>
      <p:sp>
        <p:nvSpPr>
          <p:cNvPr id="28" name="Text 20"/>
          <p:cNvSpPr txBox="1"/>
          <p:nvPr/>
        </p:nvSpPr>
        <p:spPr>
          <a:xfrm>
            <a:off x="5298338" y="381304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G, P, Inf, Trn</a:t>
            </a:r>
            <a:endParaRPr lang="en-US" sz="1900" dirty="0"/>
          </a:p>
        </p:txBody>
      </p:sp>
      <p:sp>
        <p:nvSpPr>
          <p:cNvPr id="29" name="Text 21"/>
          <p:cNvSpPr txBox="1"/>
          <p:nvPr/>
        </p:nvSpPr>
        <p:spPr>
          <a:xfrm>
            <a:off x="4566818" y="4544568"/>
            <a:ext cx="3058058" cy="868680"/>
          </a:xfrm>
          <a:prstGeom prst="rect">
            <a:avLst/>
          </a:prstGeom>
          <a:noFill/>
          <a:ln/>
        </p:spPr>
        <p:txBody>
          <a:bodyPr wrap="square" lIns="0" tIns="0" rIns="0" bIns="0" rtlCol="0" anchor="t"/>
          <a:lstStyle/>
          <a:p>
            <a:pPr indent="0" marL="0">
              <a:buNone/>
            </a:pPr>
            <a:r>
              <a:rPr lang="en-US" sz="1600" dirty="0">
                <a:solidFill>
                  <a:schemeClr val="tx2"/>
                </a:solidFill>
              </a:rPr>
              <a:t>GPU et accélérateurs pour le machine learning.</a:t>
            </a:r>
            <a:endParaRPr lang="en-US" sz="1600" dirty="0"/>
          </a:p>
        </p:txBody>
      </p:sp>
      <p:sp>
        <p:nvSpPr>
          <p:cNvPr id="30" name="Carte Suffixe g"/>
          <p:cNvSpPr/>
          <p:nvPr/>
        </p:nvSpPr>
        <p:spPr>
          <a:xfrm>
            <a:off x="8127797" y="3630168"/>
            <a:ext cx="3515258" cy="1874520"/>
          </a:xfrm>
          <a:prstGeom prst="roundRect">
            <a:avLst>
              <a:gd name="adj" fmla="val 5854"/>
            </a:avLst>
          </a:prstGeom>
          <a:solidFill>
            <a:schemeClr val="bg2"/>
          </a:solidFill>
          <a:ln w="12700">
            <a:solidFill>
              <a:schemeClr val="bg2"/>
            </a:solidFill>
            <a:prstDash val="solid"/>
          </a:ln>
        </p:spPr>
      </p:sp>
      <p:sp>
        <p:nvSpPr>
          <p:cNvPr id="31" name="Pastille FaLeaf"/>
          <p:cNvSpPr/>
          <p:nvPr/>
        </p:nvSpPr>
        <p:spPr>
          <a:xfrm>
            <a:off x="8356397" y="3831336"/>
            <a:ext cx="566928" cy="566928"/>
          </a:xfrm>
          <a:prstGeom prst="ellipse">
            <a:avLst/>
          </a:prstGeom>
          <a:solidFill>
            <a:schemeClr val="accent3"/>
          </a:solidFill>
          <a:ln w="12700">
            <a:solidFill>
              <a:schemeClr val="accent3"/>
            </a:solidFill>
            <a:prstDash val="solid"/>
          </a:ln>
        </p:spPr>
      </p:sp>
      <p:pic>
        <p:nvPicPr>
          <p:cNvPr id="32" name="Icône FaLeaf" descr="icône">    </p:cNvPr>
          <p:cNvPicPr>
            <a:picLocks noChangeAspect="1"/>
          </p:cNvPicPr>
          <p:nvPr/>
        </p:nvPicPr>
        <p:blipFill>
          <a:blip r:embed="rId6"/>
          <a:stretch>
            <a:fillRect/>
          </a:stretch>
        </p:blipFill>
        <p:spPr>
          <a:xfrm>
            <a:off x="8503798" y="3978737"/>
            <a:ext cx="272125" cy="272125"/>
          </a:xfrm>
          <a:prstGeom prst="rect">
            <a:avLst/>
          </a:prstGeom>
        </p:spPr>
      </p:pic>
      <p:sp>
        <p:nvSpPr>
          <p:cNvPr id="33" name="Text 24"/>
          <p:cNvSpPr txBox="1"/>
          <p:nvPr/>
        </p:nvSpPr>
        <p:spPr>
          <a:xfrm>
            <a:off x="9087917" y="381304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Suffixe g</a:t>
            </a:r>
            <a:endParaRPr lang="en-US" sz="1900" dirty="0"/>
          </a:p>
        </p:txBody>
      </p:sp>
      <p:sp>
        <p:nvSpPr>
          <p:cNvPr id="34" name="Text 25"/>
          <p:cNvSpPr txBox="1"/>
          <p:nvPr/>
        </p:nvSpPr>
        <p:spPr>
          <a:xfrm>
            <a:off x="8356397" y="4544568"/>
            <a:ext cx="3058058" cy="868680"/>
          </a:xfrm>
          <a:prstGeom prst="rect">
            <a:avLst/>
          </a:prstGeom>
          <a:noFill/>
          <a:ln/>
        </p:spPr>
        <p:txBody>
          <a:bodyPr wrap="square" lIns="0" tIns="0" rIns="0" bIns="0" rtlCol="0" anchor="t"/>
          <a:lstStyle/>
          <a:p>
            <a:pPr indent="0" marL="0">
              <a:buNone/>
            </a:pPr>
            <a:r>
              <a:rPr lang="en-US" sz="1600" dirty="0">
                <a:solidFill>
                  <a:schemeClr val="tx2"/>
                </a:solidFill>
              </a:rPr>
              <a:t>Graviton (ARM) : environ 20 % moins cher à performance égale.</a:t>
            </a:r>
            <a:endParaRPr lang="en-US" sz="1600" dirty="0"/>
          </a:p>
        </p:txBody>
      </p:sp>
      <p:sp>
        <p:nvSpPr>
          <p:cNvPr id="3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7" name="Icône FaLightbulb" descr="icône">    </p:cNvPr>
          <p:cNvPicPr>
            <a:picLocks noChangeAspect="1"/>
          </p:cNvPicPr>
          <p:nvPr/>
        </p:nvPicPr>
        <p:blipFill>
          <a:blip r:embed="rId7"/>
          <a:stretch>
            <a:fillRect/>
          </a:stretch>
        </p:blipFill>
        <p:spPr>
          <a:xfrm>
            <a:off x="799917" y="5801685"/>
            <a:ext cx="210678" cy="210678"/>
          </a:xfrm>
          <a:prstGeom prst="rect">
            <a:avLst/>
          </a:prstGeom>
        </p:spPr>
      </p:pic>
      <p:sp>
        <p:nvSpPr>
          <p:cNvPr id="3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Lecture d'un nom : m7g.xlarge = famille m, génération 7, processeur Graviton, taille xlarge.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Lancer une instance : les six choix</a:t>
            </a:r>
            <a:endParaRPr lang="en-US" sz="3600" dirty="0"/>
          </a:p>
        </p:txBody>
      </p:sp>
      <p:sp>
        <p:nvSpPr>
          <p:cNvPr id="5" name="Étape 1"/>
          <p:cNvSpPr/>
          <p:nvPr/>
        </p:nvSpPr>
        <p:spPr>
          <a:xfrm>
            <a:off x="548640" y="1600200"/>
            <a:ext cx="3393338" cy="1783080"/>
          </a:xfrm>
          <a:prstGeom prst="roundRect">
            <a:avLst>
              <a:gd name="adj" fmla="val 6154"/>
            </a:avLst>
          </a:prstGeom>
          <a:solidFill>
            <a:schemeClr val="bg2"/>
          </a:solidFill>
          <a:ln w="12700">
            <a:solidFill>
              <a:schemeClr val="bg2"/>
            </a:solidFill>
            <a:prstDash val="solid"/>
          </a:ln>
        </p:spPr>
      </p:sp>
      <p:sp>
        <p:nvSpPr>
          <p:cNvPr id="6" name="Shape 3"/>
          <p:cNvSpPr/>
          <p:nvPr/>
        </p:nvSpPr>
        <p:spPr>
          <a:xfrm>
            <a:off x="731520" y="178308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325880" y="178308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AMI</a:t>
            </a:r>
            <a:endParaRPr lang="en-US" sz="2000" dirty="0"/>
          </a:p>
        </p:txBody>
      </p:sp>
      <p:sp>
        <p:nvSpPr>
          <p:cNvPr id="9" name="Text 6"/>
          <p:cNvSpPr txBox="1"/>
          <p:nvPr/>
        </p:nvSpPr>
        <p:spPr>
          <a:xfrm>
            <a:off x="731520" y="2377440"/>
            <a:ext cx="3027578" cy="914400"/>
          </a:xfrm>
          <a:prstGeom prst="rect">
            <a:avLst/>
          </a:prstGeom>
          <a:noFill/>
          <a:ln/>
        </p:spPr>
        <p:txBody>
          <a:bodyPr wrap="square" lIns="0" tIns="0" rIns="0" bIns="0" rtlCol="0" anchor="t"/>
          <a:lstStyle/>
          <a:p>
            <a:pPr indent="0" marL="0">
              <a:buNone/>
            </a:pPr>
            <a:r>
              <a:rPr lang="en-US" sz="1800" dirty="0">
                <a:solidFill>
                  <a:schemeClr val="tx2"/>
                </a:solidFill>
              </a:rPr>
              <a:t>L'image : OS et logiciels, régionale</a:t>
            </a:r>
            <a:endParaRPr lang="en-US" sz="1800" dirty="0"/>
          </a:p>
        </p:txBody>
      </p:sp>
      <p:sp>
        <p:nvSpPr>
          <p:cNvPr id="10" name="Flèche"/>
          <p:cNvSpPr/>
          <p:nvPr/>
        </p:nvSpPr>
        <p:spPr>
          <a:xfrm>
            <a:off x="4033418" y="235458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4399178" y="1600200"/>
            <a:ext cx="3393338" cy="1783080"/>
          </a:xfrm>
          <a:prstGeom prst="roundRect">
            <a:avLst>
              <a:gd name="adj" fmla="val 6154"/>
            </a:avLst>
          </a:prstGeom>
          <a:solidFill>
            <a:schemeClr val="bg2"/>
          </a:solidFill>
          <a:ln w="12700">
            <a:solidFill>
              <a:schemeClr val="bg2"/>
            </a:solidFill>
            <a:prstDash val="solid"/>
          </a:ln>
        </p:spPr>
      </p:sp>
      <p:sp>
        <p:nvSpPr>
          <p:cNvPr id="12" name="Shape 9"/>
          <p:cNvSpPr/>
          <p:nvPr/>
        </p:nvSpPr>
        <p:spPr>
          <a:xfrm>
            <a:off x="4582058" y="1783080"/>
            <a:ext cx="457200" cy="457200"/>
          </a:xfrm>
          <a:prstGeom prst="ellipse">
            <a:avLst/>
          </a:prstGeom>
          <a:solidFill>
            <a:schemeClr val="accent3"/>
          </a:solidFill>
          <a:ln w="12700">
            <a:solidFill>
              <a:schemeClr val="accent3"/>
            </a:solidFill>
            <a:prstDash val="solid"/>
          </a:ln>
        </p:spPr>
      </p:sp>
      <p:sp>
        <p:nvSpPr>
          <p:cNvPr id="13" name="Text 10"/>
          <p:cNvSpPr txBox="1"/>
          <p:nvPr/>
        </p:nvSpPr>
        <p:spPr>
          <a:xfrm>
            <a:off x="4582058"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1"/>
          <p:cNvSpPr txBox="1"/>
          <p:nvPr/>
        </p:nvSpPr>
        <p:spPr>
          <a:xfrm>
            <a:off x="5176418" y="178308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Type</a:t>
            </a:r>
            <a:endParaRPr lang="en-US" sz="2000" dirty="0"/>
          </a:p>
        </p:txBody>
      </p:sp>
      <p:sp>
        <p:nvSpPr>
          <p:cNvPr id="15" name="Text 12"/>
          <p:cNvSpPr txBox="1"/>
          <p:nvPr/>
        </p:nvSpPr>
        <p:spPr>
          <a:xfrm>
            <a:off x="4582058" y="2377440"/>
            <a:ext cx="3027578" cy="914400"/>
          </a:xfrm>
          <a:prstGeom prst="rect">
            <a:avLst/>
          </a:prstGeom>
          <a:noFill/>
          <a:ln/>
        </p:spPr>
        <p:txBody>
          <a:bodyPr wrap="square" lIns="0" tIns="0" rIns="0" bIns="0" rtlCol="0" anchor="t"/>
          <a:lstStyle/>
          <a:p>
            <a:pPr indent="0" marL="0">
              <a:buNone/>
            </a:pPr>
            <a:r>
              <a:rPr lang="en-US" sz="1800" dirty="0">
                <a:solidFill>
                  <a:schemeClr val="tx2"/>
                </a:solidFill>
              </a:rPr>
              <a:t>Famille et taille</a:t>
            </a:r>
            <a:endParaRPr lang="en-US" sz="1800" dirty="0"/>
          </a:p>
        </p:txBody>
      </p:sp>
      <p:sp>
        <p:nvSpPr>
          <p:cNvPr id="16" name="Flèche"/>
          <p:cNvSpPr/>
          <p:nvPr/>
        </p:nvSpPr>
        <p:spPr>
          <a:xfrm>
            <a:off x="7883957" y="235458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8249717" y="1600200"/>
            <a:ext cx="3393338" cy="1783080"/>
          </a:xfrm>
          <a:prstGeom prst="roundRect">
            <a:avLst>
              <a:gd name="adj" fmla="val 6154"/>
            </a:avLst>
          </a:prstGeom>
          <a:solidFill>
            <a:schemeClr val="bg2"/>
          </a:solidFill>
          <a:ln w="12700">
            <a:solidFill>
              <a:schemeClr val="bg2"/>
            </a:solidFill>
            <a:prstDash val="solid"/>
          </a:ln>
        </p:spPr>
      </p:sp>
      <p:sp>
        <p:nvSpPr>
          <p:cNvPr id="18" name="Shape 15"/>
          <p:cNvSpPr/>
          <p:nvPr/>
        </p:nvSpPr>
        <p:spPr>
          <a:xfrm>
            <a:off x="8432597" y="1783080"/>
            <a:ext cx="457200" cy="457200"/>
          </a:xfrm>
          <a:prstGeom prst="ellipse">
            <a:avLst/>
          </a:prstGeom>
          <a:solidFill>
            <a:schemeClr val="accent2"/>
          </a:solidFill>
          <a:ln w="12700">
            <a:solidFill>
              <a:schemeClr val="accent2"/>
            </a:solidFill>
            <a:prstDash val="solid"/>
          </a:ln>
        </p:spPr>
      </p:sp>
      <p:sp>
        <p:nvSpPr>
          <p:cNvPr id="19" name="Text 16"/>
          <p:cNvSpPr txBox="1"/>
          <p:nvPr/>
        </p:nvSpPr>
        <p:spPr>
          <a:xfrm>
            <a:off x="8432597"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7"/>
          <p:cNvSpPr txBox="1"/>
          <p:nvPr/>
        </p:nvSpPr>
        <p:spPr>
          <a:xfrm>
            <a:off x="9026957" y="178308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Réseau</a:t>
            </a:r>
            <a:endParaRPr lang="en-US" sz="2000" dirty="0"/>
          </a:p>
        </p:txBody>
      </p:sp>
      <p:sp>
        <p:nvSpPr>
          <p:cNvPr id="21" name="Text 18"/>
          <p:cNvSpPr txBox="1"/>
          <p:nvPr/>
        </p:nvSpPr>
        <p:spPr>
          <a:xfrm>
            <a:off x="8432597" y="2377440"/>
            <a:ext cx="3027578" cy="914400"/>
          </a:xfrm>
          <a:prstGeom prst="rect">
            <a:avLst/>
          </a:prstGeom>
          <a:noFill/>
          <a:ln/>
        </p:spPr>
        <p:txBody>
          <a:bodyPr wrap="square" lIns="0" tIns="0" rIns="0" bIns="0" rtlCol="0" anchor="t"/>
          <a:lstStyle/>
          <a:p>
            <a:pPr indent="0" marL="0">
              <a:buNone/>
            </a:pPr>
            <a:r>
              <a:rPr lang="en-US" sz="1800" dirty="0">
                <a:solidFill>
                  <a:schemeClr val="tx2"/>
                </a:solidFill>
              </a:rPr>
              <a:t>Subnet et Security Group</a:t>
            </a:r>
            <a:endParaRPr lang="en-US" sz="1800" dirty="0"/>
          </a:p>
        </p:txBody>
      </p:sp>
      <p:sp>
        <p:nvSpPr>
          <p:cNvPr id="22" name="Étape 4"/>
          <p:cNvSpPr/>
          <p:nvPr/>
        </p:nvSpPr>
        <p:spPr>
          <a:xfrm>
            <a:off x="548640" y="3566160"/>
            <a:ext cx="3393338" cy="1783080"/>
          </a:xfrm>
          <a:prstGeom prst="roundRect">
            <a:avLst>
              <a:gd name="adj" fmla="val 6154"/>
            </a:avLst>
          </a:prstGeom>
          <a:solidFill>
            <a:schemeClr val="bg2"/>
          </a:solidFill>
          <a:ln w="12700">
            <a:solidFill>
              <a:schemeClr val="bg2"/>
            </a:solidFill>
            <a:prstDash val="solid"/>
          </a:ln>
        </p:spPr>
      </p:sp>
      <p:sp>
        <p:nvSpPr>
          <p:cNvPr id="23" name="Shape 20"/>
          <p:cNvSpPr/>
          <p:nvPr/>
        </p:nvSpPr>
        <p:spPr>
          <a:xfrm>
            <a:off x="731520" y="3749040"/>
            <a:ext cx="457200" cy="457200"/>
          </a:xfrm>
          <a:prstGeom prst="ellipse">
            <a:avLst/>
          </a:prstGeom>
          <a:solidFill>
            <a:schemeClr val="accent4"/>
          </a:solidFill>
          <a:ln w="12700">
            <a:solidFill>
              <a:schemeClr val="accent4"/>
            </a:solidFill>
            <a:prstDash val="solid"/>
          </a:ln>
        </p:spPr>
      </p:sp>
      <p:sp>
        <p:nvSpPr>
          <p:cNvPr id="24" name="Text 21"/>
          <p:cNvSpPr txBox="1"/>
          <p:nvPr/>
        </p:nvSpPr>
        <p:spPr>
          <a:xfrm>
            <a:off x="731520"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2"/>
          <p:cNvSpPr txBox="1"/>
          <p:nvPr/>
        </p:nvSpPr>
        <p:spPr>
          <a:xfrm>
            <a:off x="1325880" y="374904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Stockage</a:t>
            </a:r>
            <a:endParaRPr lang="en-US" sz="2000" dirty="0"/>
          </a:p>
        </p:txBody>
      </p:sp>
      <p:sp>
        <p:nvSpPr>
          <p:cNvPr id="26" name="Text 23"/>
          <p:cNvSpPr txBox="1"/>
          <p:nvPr/>
        </p:nvSpPr>
        <p:spPr>
          <a:xfrm>
            <a:off x="731520" y="4343400"/>
            <a:ext cx="3027578" cy="914400"/>
          </a:xfrm>
          <a:prstGeom prst="rect">
            <a:avLst/>
          </a:prstGeom>
          <a:noFill/>
          <a:ln/>
        </p:spPr>
        <p:txBody>
          <a:bodyPr wrap="square" lIns="0" tIns="0" rIns="0" bIns="0" rtlCol="0" anchor="t"/>
          <a:lstStyle/>
          <a:p>
            <a:pPr indent="0" marL="0">
              <a:buNone/>
            </a:pPr>
            <a:r>
              <a:rPr lang="en-US" sz="1800" dirty="0">
                <a:solidFill>
                  <a:schemeClr val="tx2"/>
                </a:solidFill>
              </a:rPr>
              <a:t>EBS gp3 chiffré</a:t>
            </a:r>
            <a:endParaRPr lang="en-US" sz="1800" dirty="0"/>
          </a:p>
        </p:txBody>
      </p:sp>
      <p:sp>
        <p:nvSpPr>
          <p:cNvPr id="27" name="Flèche"/>
          <p:cNvSpPr/>
          <p:nvPr/>
        </p:nvSpPr>
        <p:spPr>
          <a:xfrm>
            <a:off x="4033418" y="4320540"/>
            <a:ext cx="274320" cy="274320"/>
          </a:xfrm>
          <a:prstGeom prst="rightArrow">
            <a:avLst/>
          </a:prstGeom>
          <a:solidFill>
            <a:schemeClr val="accent1"/>
          </a:solidFill>
          <a:ln w="12700">
            <a:solidFill>
              <a:schemeClr val="accent1"/>
            </a:solidFill>
            <a:prstDash val="solid"/>
          </a:ln>
        </p:spPr>
      </p:sp>
      <p:sp>
        <p:nvSpPr>
          <p:cNvPr id="28" name="Étape 5"/>
          <p:cNvSpPr/>
          <p:nvPr/>
        </p:nvSpPr>
        <p:spPr>
          <a:xfrm>
            <a:off x="4399178" y="3566160"/>
            <a:ext cx="3393338" cy="1783080"/>
          </a:xfrm>
          <a:prstGeom prst="roundRect">
            <a:avLst>
              <a:gd name="adj" fmla="val 6154"/>
            </a:avLst>
          </a:prstGeom>
          <a:solidFill>
            <a:schemeClr val="bg2"/>
          </a:solidFill>
          <a:ln w="12700">
            <a:solidFill>
              <a:schemeClr val="bg2"/>
            </a:solidFill>
            <a:prstDash val="solid"/>
          </a:ln>
        </p:spPr>
      </p:sp>
      <p:sp>
        <p:nvSpPr>
          <p:cNvPr id="29" name="Shape 26"/>
          <p:cNvSpPr/>
          <p:nvPr/>
        </p:nvSpPr>
        <p:spPr>
          <a:xfrm>
            <a:off x="4582058" y="3749040"/>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4582058"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Text 28"/>
          <p:cNvSpPr txBox="1"/>
          <p:nvPr/>
        </p:nvSpPr>
        <p:spPr>
          <a:xfrm>
            <a:off x="5176418" y="374904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Rôle IAM</a:t>
            </a:r>
            <a:endParaRPr lang="en-US" sz="2000" dirty="0"/>
          </a:p>
        </p:txBody>
      </p:sp>
      <p:sp>
        <p:nvSpPr>
          <p:cNvPr id="32" name="Text 29"/>
          <p:cNvSpPr txBox="1"/>
          <p:nvPr/>
        </p:nvSpPr>
        <p:spPr>
          <a:xfrm>
            <a:off x="4582058" y="4343400"/>
            <a:ext cx="3027578" cy="914400"/>
          </a:xfrm>
          <a:prstGeom prst="rect">
            <a:avLst/>
          </a:prstGeom>
          <a:noFill/>
          <a:ln/>
        </p:spPr>
        <p:txBody>
          <a:bodyPr wrap="square" lIns="0" tIns="0" rIns="0" bIns="0" rtlCol="0" anchor="t"/>
          <a:lstStyle/>
          <a:p>
            <a:pPr indent="0" marL="0">
              <a:buNone/>
            </a:pPr>
            <a:r>
              <a:rPr lang="en-US" sz="1800" dirty="0">
                <a:solidFill>
                  <a:schemeClr val="tx2"/>
                </a:solidFill>
              </a:rPr>
              <a:t>Instance profile, pas de clé</a:t>
            </a:r>
            <a:endParaRPr lang="en-US" sz="1800" dirty="0"/>
          </a:p>
        </p:txBody>
      </p:sp>
      <p:sp>
        <p:nvSpPr>
          <p:cNvPr id="33" name="Flèche"/>
          <p:cNvSpPr/>
          <p:nvPr/>
        </p:nvSpPr>
        <p:spPr>
          <a:xfrm>
            <a:off x="7883957" y="4320540"/>
            <a:ext cx="274320" cy="274320"/>
          </a:xfrm>
          <a:prstGeom prst="rightArrow">
            <a:avLst/>
          </a:prstGeom>
          <a:solidFill>
            <a:schemeClr val="accent1"/>
          </a:solidFill>
          <a:ln w="12700">
            <a:solidFill>
              <a:schemeClr val="accent1"/>
            </a:solidFill>
            <a:prstDash val="solid"/>
          </a:ln>
        </p:spPr>
      </p:sp>
      <p:sp>
        <p:nvSpPr>
          <p:cNvPr id="34" name="Étape 6"/>
          <p:cNvSpPr/>
          <p:nvPr/>
        </p:nvSpPr>
        <p:spPr>
          <a:xfrm>
            <a:off x="8249717" y="3566160"/>
            <a:ext cx="3393338" cy="1783080"/>
          </a:xfrm>
          <a:prstGeom prst="roundRect">
            <a:avLst>
              <a:gd name="adj" fmla="val 6154"/>
            </a:avLst>
          </a:prstGeom>
          <a:solidFill>
            <a:schemeClr val="bg2"/>
          </a:solidFill>
          <a:ln w="12700">
            <a:solidFill>
              <a:schemeClr val="bg2"/>
            </a:solidFill>
            <a:prstDash val="solid"/>
          </a:ln>
        </p:spPr>
      </p:sp>
      <p:sp>
        <p:nvSpPr>
          <p:cNvPr id="35" name="Shape 32"/>
          <p:cNvSpPr/>
          <p:nvPr/>
        </p:nvSpPr>
        <p:spPr>
          <a:xfrm>
            <a:off x="8432597" y="3749040"/>
            <a:ext cx="457200" cy="457200"/>
          </a:xfrm>
          <a:prstGeom prst="ellipse">
            <a:avLst/>
          </a:prstGeom>
          <a:solidFill>
            <a:schemeClr val="accent3"/>
          </a:solidFill>
          <a:ln w="12700">
            <a:solidFill>
              <a:schemeClr val="accent3"/>
            </a:solidFill>
            <a:prstDash val="solid"/>
          </a:ln>
        </p:spPr>
      </p:sp>
      <p:sp>
        <p:nvSpPr>
          <p:cNvPr id="36" name="Text 33"/>
          <p:cNvSpPr txBox="1"/>
          <p:nvPr/>
        </p:nvSpPr>
        <p:spPr>
          <a:xfrm>
            <a:off x="8432597"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7" name="Text 34"/>
          <p:cNvSpPr txBox="1"/>
          <p:nvPr/>
        </p:nvSpPr>
        <p:spPr>
          <a:xfrm>
            <a:off x="9026957" y="3749040"/>
            <a:ext cx="2433218" cy="457200"/>
          </a:xfrm>
          <a:prstGeom prst="rect">
            <a:avLst/>
          </a:prstGeom>
          <a:noFill/>
          <a:ln/>
        </p:spPr>
        <p:txBody>
          <a:bodyPr wrap="square" lIns="0" tIns="0" rIns="0" bIns="0" rtlCol="0" anchor="ctr"/>
          <a:lstStyle/>
          <a:p>
            <a:pPr indent="0" marL="0">
              <a:buNone/>
            </a:pPr>
            <a:r>
              <a:rPr lang="en-US" sz="2000" b="1" dirty="0">
                <a:solidFill>
                  <a:schemeClr val="tx1"/>
                </a:solidFill>
              </a:rPr>
              <a:t>User-data</a:t>
            </a:r>
            <a:endParaRPr lang="en-US" sz="2000" dirty="0"/>
          </a:p>
        </p:txBody>
      </p:sp>
      <p:sp>
        <p:nvSpPr>
          <p:cNvPr id="38" name="Text 35"/>
          <p:cNvSpPr txBox="1"/>
          <p:nvPr/>
        </p:nvSpPr>
        <p:spPr>
          <a:xfrm>
            <a:off x="8432597" y="4343400"/>
            <a:ext cx="3027578" cy="914400"/>
          </a:xfrm>
          <a:prstGeom prst="rect">
            <a:avLst/>
          </a:prstGeom>
          <a:noFill/>
          <a:ln/>
        </p:spPr>
        <p:txBody>
          <a:bodyPr wrap="square" lIns="0" tIns="0" rIns="0" bIns="0" rtlCol="0" anchor="t"/>
          <a:lstStyle/>
          <a:p>
            <a:pPr indent="0" marL="0">
              <a:buNone/>
            </a:pPr>
            <a:r>
              <a:rPr lang="en-US" sz="1800" dirty="0">
                <a:solidFill>
                  <a:schemeClr val="tx2"/>
                </a:solidFill>
              </a:rPr>
              <a:t>Script exécuté au premier boot</a:t>
            </a:r>
            <a:endParaRPr lang="en-US" sz="1800" dirty="0"/>
          </a:p>
        </p:txBody>
      </p:sp>
      <p:sp>
        <p:nvSpPr>
          <p:cNvPr id="39"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40"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41"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42"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Un Launch Template regroupe ces choix, versionné, pour Auto Scaling.</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Accéder au serveur : SSH ou SSM ?</a:t>
            </a:r>
            <a:endParaRPr lang="en-US" sz="3600" dirty="0"/>
          </a:p>
        </p:txBody>
      </p:sp>
      <p:sp>
        <p:nvSpPr>
          <p:cNvPr id="5" name="En-tête SSH classique"/>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SSH classique</a:t>
            </a:r>
            <a:endParaRPr lang="en-US" sz="2200" dirty="0"/>
          </a:p>
        </p:txBody>
      </p:sp>
      <p:sp>
        <p:nvSpPr>
          <p:cNvPr id="7" name="Panneau SSH classique"/>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Port 22 ouvert</a:t>
            </a:r>
            <a:endParaRPr lang="en-US" sz="2200" dirty="0"/>
          </a:p>
          <a:p>
            <a:pPr marL="342900" indent="-342900">
              <a:spcAft>
                <a:spcPts val="1400"/>
              </a:spcAft>
              <a:buSzPct val="100000"/>
              <a:buChar char="•"/>
            </a:pPr>
            <a:r>
              <a:rPr lang="en-US" sz="2200" dirty="0">
                <a:solidFill>
                  <a:schemeClr val="tx1"/>
                </a:solidFill>
              </a:rPr>
              <a:t>Clés à distribuer et à faire tourner</a:t>
            </a:r>
            <a:endParaRPr lang="en-US" sz="2200" dirty="0"/>
          </a:p>
          <a:p>
            <a:pPr marL="342900" indent="-342900">
              <a:spcAft>
                <a:spcPts val="1400"/>
              </a:spcAft>
              <a:buSzPct val="100000"/>
              <a:buChar char="•"/>
            </a:pPr>
            <a:r>
              <a:rPr lang="en-US" sz="2200" dirty="0">
                <a:solidFill>
                  <a:schemeClr val="tx1"/>
                </a:solidFill>
              </a:rPr>
              <a:t>Bastion à maintenir</a:t>
            </a:r>
            <a:endParaRPr lang="en-US" sz="2200" dirty="0"/>
          </a:p>
          <a:p>
            <a:pPr marL="342900" indent="-342900">
              <a:spcAft>
                <a:spcPts val="1400"/>
              </a:spcAft>
              <a:buSzPct val="100000"/>
              <a:buChar char="•"/>
            </a:pPr>
            <a:r>
              <a:rPr lang="en-US" sz="2200" dirty="0">
                <a:solidFill>
                  <a:schemeClr val="tx1"/>
                </a:solidFill>
              </a:rPr>
              <a:t>Audit limité</a:t>
            </a:r>
            <a:endParaRPr lang="en-US" sz="2200" dirty="0"/>
          </a:p>
        </p:txBody>
      </p:sp>
      <p:sp>
        <p:nvSpPr>
          <p:cNvPr id="9" name="En-tête SSM Session Manager"/>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SSM Session Manager</a:t>
            </a:r>
            <a:endParaRPr lang="en-US" sz="2200" dirty="0"/>
          </a:p>
        </p:txBody>
      </p:sp>
      <p:sp>
        <p:nvSpPr>
          <p:cNvPr id="11" name="Panneau SSM Session Manager"/>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Aucun port entrant</a:t>
            </a:r>
            <a:endParaRPr lang="en-US" sz="2200" dirty="0"/>
          </a:p>
          <a:p>
            <a:pPr marL="342900" indent="-342900">
              <a:spcAft>
                <a:spcPts val="1400"/>
              </a:spcAft>
              <a:buSzPct val="100000"/>
              <a:buChar char="•"/>
            </a:pPr>
            <a:r>
              <a:rPr lang="en-US" sz="2200" dirty="0">
                <a:solidFill>
                  <a:schemeClr val="tx1"/>
                </a:solidFill>
              </a:rPr>
              <a:t>Authentification par IAM</a:t>
            </a:r>
            <a:endParaRPr lang="en-US" sz="2200" dirty="0"/>
          </a:p>
          <a:p>
            <a:pPr marL="342900" indent="-342900">
              <a:spcAft>
                <a:spcPts val="1400"/>
              </a:spcAft>
              <a:buSzPct val="100000"/>
              <a:buChar char="•"/>
            </a:pPr>
            <a:r>
              <a:rPr lang="en-US" sz="2200" dirty="0">
                <a:solidFill>
                  <a:schemeClr val="tx1"/>
                </a:solidFill>
              </a:rPr>
              <a:t>Aucun bastion</a:t>
            </a:r>
            <a:endParaRPr lang="en-US" sz="2200" dirty="0"/>
          </a:p>
          <a:p>
            <a:pPr marL="342900" indent="-342900">
              <a:spcAft>
                <a:spcPts val="1400"/>
              </a:spcAft>
              <a:buSzPct val="100000"/>
              <a:buChar char="•"/>
            </a:pPr>
            <a:r>
              <a:rPr lang="en-US" sz="2200" dirty="0">
                <a:solidFill>
                  <a:schemeClr val="tx1"/>
                </a:solidFill>
              </a:rPr>
              <a:t>Sessions journalisées</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Prérequis SSM : agent, rôle AmazonSSMManagedInstanceCore, sortie HTTPS ou endpoints.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Durcir une instance dès la création</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IMDSv2 obligatoire contre le vol de credentials par SSRF</a:t>
            </a:r>
            <a:endParaRPr lang="en-US" sz="2000" dirty="0"/>
          </a:p>
          <a:p>
            <a:pPr marL="342900" indent="-342900">
              <a:spcAft>
                <a:spcPts val="1600"/>
              </a:spcAft>
              <a:buSzPct val="100000"/>
              <a:buChar char="•"/>
            </a:pPr>
            <a:r>
              <a:rPr lang="en-US" sz="2000" dirty="0">
                <a:solidFill>
                  <a:schemeClr val="tx1"/>
                </a:solidFill>
              </a:rPr>
              <a:t>Volume racine gp3 chiffré</a:t>
            </a:r>
            <a:endParaRPr lang="en-US" sz="2000" dirty="0"/>
          </a:p>
          <a:p>
            <a:pPr marL="342900" indent="-342900">
              <a:spcAft>
                <a:spcPts val="1600"/>
              </a:spcAft>
              <a:buSzPct val="100000"/>
              <a:buChar char="•"/>
            </a:pPr>
            <a:r>
              <a:rPr lang="en-US" sz="2000" dirty="0">
                <a:solidFill>
                  <a:schemeClr val="tx1"/>
                </a:solidFill>
              </a:rPr>
              <a:t>Aucun port 22 ouvert</a:t>
            </a:r>
            <a:endParaRPr lang="en-US" sz="2000" dirty="0"/>
          </a:p>
          <a:p>
            <a:pPr marL="342900" indent="-342900">
              <a:spcAft>
                <a:spcPts val="1600"/>
              </a:spcAft>
              <a:buSzPct val="100000"/>
              <a:buChar char="•"/>
            </a:pPr>
            <a:r>
              <a:rPr lang="en-US" sz="2000" dirty="0">
                <a:solidFill>
                  <a:schemeClr val="tx1"/>
                </a:solidFill>
              </a:rPr>
              <a:t>Remplacement si le user-data change</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HCL</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resource "aws_instance" "web"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ami           = data.aws_ssm_parameter.al2023.value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instance_type = "t3.micro"</a:t>
            </a:r>
            <a:endParaRPr lang="en-US" sz="1400" dirty="0"/>
          </a:p>
          <a:p>
            <a:pPr indent="0" marL="0">
              <a:buNone/>
            </a:pP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metadata_options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http_tokens = "required" # IMDSv2</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root_block_device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volume_type = "gp3"</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encrypted   = 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user_data_replace_on_change = true</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04 : un serveur web durci</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Déployer nginx sans SSH, accessible par SSM, avec IMDSv2, volume chiffré et AMI toujours à jour.</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ouvrir l'URL de sortie</a:t>
            </a:r>
            <a:endParaRPr lang="en-US" sz="1800" dirty="0"/>
          </a:p>
          <a:p>
            <a:pPr marL="342900" indent="-342900">
              <a:spcAft>
                <a:spcPts val="800"/>
              </a:spcAft>
              <a:buSzPct val="100000"/>
              <a:buFont typeface="+mj-lt"/>
              <a:buAutoNum type="arabicPeriod" startAt="1"/>
            </a:pPr>
            <a:r>
              <a:rPr lang="en-US" sz="1800" dirty="0">
                <a:solidFill>
                  <a:schemeClr val="tx1"/>
                </a:solidFill>
              </a:rPr>
              <a:t>aws ssm start-session puis tester IMDSv2</a:t>
            </a:r>
            <a:endParaRPr lang="en-US" sz="1800" dirty="0"/>
          </a:p>
          <a:p>
            <a:pPr marL="342900" indent="-342900">
              <a:spcAft>
                <a:spcPts val="800"/>
              </a:spcAft>
              <a:buSzPct val="100000"/>
              <a:buFont typeface="+mj-lt"/>
              <a:buAutoNum type="arabicPeriod" startAt="1"/>
            </a:pPr>
            <a:r>
              <a:rPr lang="en-US" sz="1800" dirty="0">
                <a:solidFill>
                  <a:schemeClr val="tx1"/>
                </a:solidFill>
              </a:rPr>
              <a:t>Créer un snapshot puis une AMI</a:t>
            </a:r>
            <a:endParaRPr lang="en-US" sz="1800" dirty="0"/>
          </a:p>
          <a:p>
            <a:pPr marL="342900" indent="-342900">
              <a:spcAft>
                <a:spcPts val="800"/>
              </a:spcAft>
              <a:buSzPct val="100000"/>
              <a:buFont typeface="+mj-lt"/>
              <a:buAutoNum type="arabicPeriod" startAt="1"/>
            </a:pPr>
            <a:r>
              <a:rPr lang="en-US" sz="1800" dirty="0">
                <a:solidFill>
                  <a:schemeClr val="tx1"/>
                </a:solidFill>
              </a:rPr>
              <a:t>Modifier le user-data : l'instance est remplacée</a:t>
            </a:r>
            <a:endParaRPr lang="en-US" sz="1800" dirty="0"/>
          </a:p>
          <a:p>
            <a:pPr marL="342900" indent="-342900">
              <a:spcAft>
                <a:spcPts val="800"/>
              </a:spcAft>
              <a:buSzPct val="100000"/>
              <a:buFont typeface="+mj-lt"/>
              <a:buAutoNum type="arabicPeriod" startAt="1"/>
            </a:pPr>
            <a:r>
              <a:rPr lang="en-US" sz="1800" dirty="0">
                <a:solidFill>
                  <a:schemeClr val="tx1"/>
                </a:solidFill>
              </a:rPr>
              <a:t>Défi : passer en t4g.micro (Graviton)</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Port 22 fermé, session SSM ouverte, http_tokens=required vérifié.</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Free Tier</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04-compute-ec2/labs/lab-ec2</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04 · COMPUTE : AMAZON EC2</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Choisir la famille selon la charge, Graviton pour économiser</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SSM plutôt que SSH, IMDSv2 obligatoire</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Instances jetables : on remplace, on ne répare pas</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préférer Session Manager à SSH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 devient l'instance store à l'arrêt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Quand choisir Spot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05</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Stockage : S3, EBS, EFS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entre objet, bloc et fichier</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Maîtriser S3 : classes, versioning, cycle de vie</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Sécuriser les données</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Automatiser sauvegarde et réplication</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STOCKAGE : S3, EBS, EFS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Quel stockage choisir ?</a:t>
            </a:r>
            <a:endParaRPr lang="en-US" sz="3600" dirty="0"/>
          </a:p>
        </p:txBody>
      </p:sp>
      <p:graphicFrame>
        <p:nvGraphicFramePr>
          <p:cNvPr id="43"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645920"/>
                <a:gridCol w="2194560"/>
                <a:gridCol w="3566160"/>
                <a:gridCol w="3685032"/>
              </a:tblGrid>
              <a:tr h="77724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Service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Type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Accès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Cas d'usage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S3</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Objet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API HTTP, global</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Fichiers, backups, data lake, artefacts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EBS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Bloc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1 instance, 1 zone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Disque d'OS, bases de données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EFS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Fichier NFS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Milliers d'instances, multi-zones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Contenu partagé, CMS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7724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FSx</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Fichier managé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SMB, NFS, Lustre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Windows, calcul haute performance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STOCKAGE : S3, EBS, EFS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classes de stockage S3</a:t>
            </a:r>
            <a:endParaRPr lang="en-US" sz="3600" dirty="0"/>
          </a:p>
        </p:txBody>
      </p:sp>
      <p:graphicFrame>
        <p:nvGraphicFramePr>
          <p:cNvPr id="44"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474720"/>
                <a:gridCol w="3108960"/>
                <a:gridCol w="4507992"/>
              </a:tblGrid>
              <a:tr h="542109">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Classe</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Accès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À retenir</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Standard</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Fréquent</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Par défaut</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Intelligent-Tiering</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Inconnu ou variable</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Bascule automatique, sans frais de récupération</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Standard-IA</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Rare, en millisecondes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30 jours minimum</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Glacier Instant Retrieval</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Archive, en millisecondes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90 jours minimum</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Glacier Flexible Retrieval</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Archive, minutes à heures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Moins cher</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Glacier Deep Archive</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Archive longue, ~12 h</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Le moins cher, 180 jours minimum</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Durabilité : 11 neuf sur toutes les classes.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STOCKAGE : S3, EBS, EFS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Sécuriser un bucket S3</a:t>
            </a:r>
            <a:endParaRPr lang="en-US" sz="3600" dirty="0"/>
          </a:p>
        </p:txBody>
      </p:sp>
      <p:sp>
        <p:nvSpPr>
          <p:cNvPr id="5" name="Carte Block Public Access"/>
          <p:cNvSpPr/>
          <p:nvPr/>
        </p:nvSpPr>
        <p:spPr>
          <a:xfrm>
            <a:off x="548640" y="1554480"/>
            <a:ext cx="3515258" cy="2194560"/>
          </a:xfrm>
          <a:prstGeom prst="roundRect">
            <a:avLst>
              <a:gd name="adj" fmla="val 5000"/>
            </a:avLst>
          </a:prstGeom>
          <a:solidFill>
            <a:schemeClr val="bg2"/>
          </a:solidFill>
          <a:ln w="12700">
            <a:solidFill>
              <a:schemeClr val="bg2"/>
            </a:solidFill>
            <a:prstDash val="solid"/>
          </a:ln>
        </p:spPr>
      </p:sp>
      <p:sp>
        <p:nvSpPr>
          <p:cNvPr id="6" name="Pastille FaEyeSlash"/>
          <p:cNvSpPr/>
          <p:nvPr/>
        </p:nvSpPr>
        <p:spPr>
          <a:xfrm>
            <a:off x="777240" y="1755648"/>
            <a:ext cx="566928" cy="566928"/>
          </a:xfrm>
          <a:prstGeom prst="ellipse">
            <a:avLst/>
          </a:prstGeom>
          <a:solidFill>
            <a:schemeClr val="accent1"/>
          </a:solidFill>
          <a:ln w="12700">
            <a:solidFill>
              <a:schemeClr val="accent1"/>
            </a:solidFill>
            <a:prstDash val="solid"/>
          </a:ln>
        </p:spPr>
      </p:sp>
      <p:pic>
        <p:nvPicPr>
          <p:cNvPr id="7" name="Icône FaEyeSlash" descr="icône">    </p:cNvPr>
          <p:cNvPicPr>
            <a:picLocks noChangeAspect="1"/>
          </p:cNvPicPr>
          <p:nvPr/>
        </p:nvPicPr>
        <p:blipFill>
          <a:blip r:embed="rId1"/>
          <a:stretch>
            <a:fillRect/>
          </a:stretch>
        </p:blipFill>
        <p:spPr>
          <a:xfrm>
            <a:off x="924641" y="1903049"/>
            <a:ext cx="272125" cy="272125"/>
          </a:xfrm>
          <a:prstGeom prst="rect">
            <a:avLst/>
          </a:prstGeom>
        </p:spPr>
      </p:pic>
      <p:sp>
        <p:nvSpPr>
          <p:cNvPr id="8" name="Text 4"/>
          <p:cNvSpPr txBox="1"/>
          <p:nvPr/>
        </p:nvSpPr>
        <p:spPr>
          <a:xfrm>
            <a:off x="1508760"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Block Public Access</a:t>
            </a:r>
            <a:endParaRPr lang="en-US" sz="1900" dirty="0"/>
          </a:p>
        </p:txBody>
      </p:sp>
      <p:sp>
        <p:nvSpPr>
          <p:cNvPr id="9" name="Text 5"/>
          <p:cNvSpPr txBox="1"/>
          <p:nvPr/>
        </p:nvSpPr>
        <p:spPr>
          <a:xfrm>
            <a:off x="777240"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Activé au niveau du compte et du bucket.</a:t>
            </a:r>
            <a:endParaRPr lang="en-US" sz="1600" dirty="0"/>
          </a:p>
        </p:txBody>
      </p:sp>
      <p:sp>
        <p:nvSpPr>
          <p:cNvPr id="10" name="Carte Chiffrement"/>
          <p:cNvSpPr/>
          <p:nvPr/>
        </p:nvSpPr>
        <p:spPr>
          <a:xfrm>
            <a:off x="4338218" y="1554480"/>
            <a:ext cx="3515258" cy="2194560"/>
          </a:xfrm>
          <a:prstGeom prst="roundRect">
            <a:avLst>
              <a:gd name="adj" fmla="val 5000"/>
            </a:avLst>
          </a:prstGeom>
          <a:solidFill>
            <a:schemeClr val="bg2"/>
          </a:solidFill>
          <a:ln w="12700">
            <a:solidFill>
              <a:schemeClr val="bg2"/>
            </a:solidFill>
            <a:prstDash val="solid"/>
          </a:ln>
        </p:spPr>
      </p:sp>
      <p:sp>
        <p:nvSpPr>
          <p:cNvPr id="11" name="Pastille FaLock"/>
          <p:cNvSpPr/>
          <p:nvPr/>
        </p:nvSpPr>
        <p:spPr>
          <a:xfrm>
            <a:off x="4566818" y="1755648"/>
            <a:ext cx="566928" cy="566928"/>
          </a:xfrm>
          <a:prstGeom prst="ellipse">
            <a:avLst/>
          </a:prstGeom>
          <a:solidFill>
            <a:schemeClr val="accent3"/>
          </a:solidFill>
          <a:ln w="12700">
            <a:solidFill>
              <a:schemeClr val="accent3"/>
            </a:solidFill>
            <a:prstDash val="solid"/>
          </a:ln>
        </p:spPr>
      </p:sp>
      <p:pic>
        <p:nvPicPr>
          <p:cNvPr id="12" name="Icône FaLock" descr="icône">    </p:cNvPr>
          <p:cNvPicPr>
            <a:picLocks noChangeAspect="1"/>
          </p:cNvPicPr>
          <p:nvPr/>
        </p:nvPicPr>
        <p:blipFill>
          <a:blip r:embed="rId2"/>
          <a:stretch>
            <a:fillRect/>
          </a:stretch>
        </p:blipFill>
        <p:spPr>
          <a:xfrm>
            <a:off x="4714220" y="1903049"/>
            <a:ext cx="272125" cy="272125"/>
          </a:xfrm>
          <a:prstGeom prst="rect">
            <a:avLst/>
          </a:prstGeom>
        </p:spPr>
      </p:pic>
      <p:sp>
        <p:nvSpPr>
          <p:cNvPr id="13" name="Text 8"/>
          <p:cNvSpPr txBox="1"/>
          <p:nvPr/>
        </p:nvSpPr>
        <p:spPr>
          <a:xfrm>
            <a:off x="5298338"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Chiffrement</a:t>
            </a:r>
            <a:endParaRPr lang="en-US" sz="1900" dirty="0"/>
          </a:p>
        </p:txBody>
      </p:sp>
      <p:sp>
        <p:nvSpPr>
          <p:cNvPr id="14" name="Text 9"/>
          <p:cNvSpPr txBox="1"/>
          <p:nvPr/>
        </p:nvSpPr>
        <p:spPr>
          <a:xfrm>
            <a:off x="4566818"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SSE-S3 par défaut, SSE-KMS pour contrôler et auditer la clé.</a:t>
            </a:r>
            <a:endParaRPr lang="en-US" sz="1600" dirty="0"/>
          </a:p>
        </p:txBody>
      </p:sp>
      <p:sp>
        <p:nvSpPr>
          <p:cNvPr id="15" name="Carte TLS obligatoire"/>
          <p:cNvSpPr/>
          <p:nvPr/>
        </p:nvSpPr>
        <p:spPr>
          <a:xfrm>
            <a:off x="8127797" y="1554480"/>
            <a:ext cx="3515258" cy="2194560"/>
          </a:xfrm>
          <a:prstGeom prst="roundRect">
            <a:avLst>
              <a:gd name="adj" fmla="val 5000"/>
            </a:avLst>
          </a:prstGeom>
          <a:solidFill>
            <a:schemeClr val="bg2"/>
          </a:solidFill>
          <a:ln w="12700">
            <a:solidFill>
              <a:schemeClr val="bg2"/>
            </a:solidFill>
            <a:prstDash val="solid"/>
          </a:ln>
        </p:spPr>
      </p:sp>
      <p:sp>
        <p:nvSpPr>
          <p:cNvPr id="16" name="Pastille FaShieldAlt"/>
          <p:cNvSpPr/>
          <p:nvPr/>
        </p:nvSpPr>
        <p:spPr>
          <a:xfrm>
            <a:off x="8356397" y="1755648"/>
            <a:ext cx="566928" cy="566928"/>
          </a:xfrm>
          <a:prstGeom prst="ellipse">
            <a:avLst/>
          </a:prstGeom>
          <a:solidFill>
            <a:schemeClr val="accent2"/>
          </a:solidFill>
          <a:ln w="12700">
            <a:solidFill>
              <a:schemeClr val="accent2"/>
            </a:solidFill>
            <a:prstDash val="solid"/>
          </a:ln>
        </p:spPr>
      </p:sp>
      <p:pic>
        <p:nvPicPr>
          <p:cNvPr id="17" name="Icône FaShieldAlt" descr="icône">    </p:cNvPr>
          <p:cNvPicPr>
            <a:picLocks noChangeAspect="1"/>
          </p:cNvPicPr>
          <p:nvPr/>
        </p:nvPicPr>
        <p:blipFill>
          <a:blip r:embed="rId3"/>
          <a:stretch>
            <a:fillRect/>
          </a:stretch>
        </p:blipFill>
        <p:spPr>
          <a:xfrm>
            <a:off x="8503798" y="1903049"/>
            <a:ext cx="272125" cy="272125"/>
          </a:xfrm>
          <a:prstGeom prst="rect">
            <a:avLst/>
          </a:prstGeom>
        </p:spPr>
      </p:pic>
      <p:sp>
        <p:nvSpPr>
          <p:cNvPr id="18" name="Text 12"/>
          <p:cNvSpPr txBox="1"/>
          <p:nvPr/>
        </p:nvSpPr>
        <p:spPr>
          <a:xfrm>
            <a:off x="9087917"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TLS obligatoire</a:t>
            </a:r>
            <a:endParaRPr lang="en-US" sz="1900" dirty="0"/>
          </a:p>
        </p:txBody>
      </p:sp>
      <p:sp>
        <p:nvSpPr>
          <p:cNvPr id="19" name="Text 13"/>
          <p:cNvSpPr txBox="1"/>
          <p:nvPr/>
        </p:nvSpPr>
        <p:spPr>
          <a:xfrm>
            <a:off x="8356397"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Policy qui refuse aws:SecureTransport=false.</a:t>
            </a:r>
            <a:endParaRPr lang="en-US" sz="1600" dirty="0"/>
          </a:p>
        </p:txBody>
      </p:sp>
      <p:sp>
        <p:nvSpPr>
          <p:cNvPr id="20" name="Carte Versioning"/>
          <p:cNvSpPr/>
          <p:nvPr/>
        </p:nvSpPr>
        <p:spPr>
          <a:xfrm>
            <a:off x="548640" y="3950208"/>
            <a:ext cx="3515258" cy="2194560"/>
          </a:xfrm>
          <a:prstGeom prst="roundRect">
            <a:avLst>
              <a:gd name="adj" fmla="val 5000"/>
            </a:avLst>
          </a:prstGeom>
          <a:solidFill>
            <a:schemeClr val="bg2"/>
          </a:solidFill>
          <a:ln w="12700">
            <a:solidFill>
              <a:schemeClr val="bg2"/>
            </a:solidFill>
            <a:prstDash val="solid"/>
          </a:ln>
        </p:spPr>
      </p:sp>
      <p:sp>
        <p:nvSpPr>
          <p:cNvPr id="21" name="Pastille FaHistory"/>
          <p:cNvSpPr/>
          <p:nvPr/>
        </p:nvSpPr>
        <p:spPr>
          <a:xfrm>
            <a:off x="777240" y="4151376"/>
            <a:ext cx="566928" cy="566928"/>
          </a:xfrm>
          <a:prstGeom prst="ellipse">
            <a:avLst/>
          </a:prstGeom>
          <a:solidFill>
            <a:schemeClr val="accent4"/>
          </a:solidFill>
          <a:ln w="12700">
            <a:solidFill>
              <a:schemeClr val="accent4"/>
            </a:solidFill>
            <a:prstDash val="solid"/>
          </a:ln>
        </p:spPr>
      </p:sp>
      <p:pic>
        <p:nvPicPr>
          <p:cNvPr id="22" name="Icône FaHistory" descr="icône">    </p:cNvPr>
          <p:cNvPicPr>
            <a:picLocks noChangeAspect="1"/>
          </p:cNvPicPr>
          <p:nvPr/>
        </p:nvPicPr>
        <p:blipFill>
          <a:blip r:embed="rId4"/>
          <a:stretch>
            <a:fillRect/>
          </a:stretch>
        </p:blipFill>
        <p:spPr>
          <a:xfrm>
            <a:off x="924641" y="4298777"/>
            <a:ext cx="272125" cy="272125"/>
          </a:xfrm>
          <a:prstGeom prst="rect">
            <a:avLst/>
          </a:prstGeom>
        </p:spPr>
      </p:pic>
      <p:sp>
        <p:nvSpPr>
          <p:cNvPr id="23" name="Text 16"/>
          <p:cNvSpPr txBox="1"/>
          <p:nvPr/>
        </p:nvSpPr>
        <p:spPr>
          <a:xfrm>
            <a:off x="1508760"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Versioning</a:t>
            </a:r>
            <a:endParaRPr lang="en-US" sz="1900" dirty="0"/>
          </a:p>
        </p:txBody>
      </p:sp>
      <p:sp>
        <p:nvSpPr>
          <p:cNvPr id="24" name="Text 17"/>
          <p:cNvSpPr txBox="1"/>
          <p:nvPr/>
        </p:nvSpPr>
        <p:spPr>
          <a:xfrm>
            <a:off x="777240"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Protège de l'écrasement et de la suppression. Object Lock pour le WORM.</a:t>
            </a:r>
            <a:endParaRPr lang="en-US" sz="1600" dirty="0"/>
          </a:p>
        </p:txBody>
      </p:sp>
      <p:sp>
        <p:nvSpPr>
          <p:cNvPr id="25" name="Carte ACL désactivées"/>
          <p:cNvSpPr/>
          <p:nvPr/>
        </p:nvSpPr>
        <p:spPr>
          <a:xfrm>
            <a:off x="4338218" y="3950208"/>
            <a:ext cx="3515258" cy="2194560"/>
          </a:xfrm>
          <a:prstGeom prst="roundRect">
            <a:avLst>
              <a:gd name="adj" fmla="val 5000"/>
            </a:avLst>
          </a:prstGeom>
          <a:solidFill>
            <a:schemeClr val="bg2"/>
          </a:solidFill>
          <a:ln w="12700">
            <a:solidFill>
              <a:schemeClr val="bg2"/>
            </a:solidFill>
            <a:prstDash val="solid"/>
          </a:ln>
        </p:spPr>
      </p:sp>
      <p:sp>
        <p:nvSpPr>
          <p:cNvPr id="26" name="Pastille FaBan"/>
          <p:cNvSpPr/>
          <p:nvPr/>
        </p:nvSpPr>
        <p:spPr>
          <a:xfrm>
            <a:off x="4566818" y="4151376"/>
            <a:ext cx="566928" cy="566928"/>
          </a:xfrm>
          <a:prstGeom prst="ellipse">
            <a:avLst/>
          </a:prstGeom>
          <a:solidFill>
            <a:schemeClr val="accent1"/>
          </a:solidFill>
          <a:ln w="12700">
            <a:solidFill>
              <a:schemeClr val="accent1"/>
            </a:solidFill>
            <a:prstDash val="solid"/>
          </a:ln>
        </p:spPr>
      </p:sp>
      <p:pic>
        <p:nvPicPr>
          <p:cNvPr id="27" name="Icône FaBan" descr="icône">    </p:cNvPr>
          <p:cNvPicPr>
            <a:picLocks noChangeAspect="1"/>
          </p:cNvPicPr>
          <p:nvPr/>
        </p:nvPicPr>
        <p:blipFill>
          <a:blip r:embed="rId5"/>
          <a:stretch>
            <a:fillRect/>
          </a:stretch>
        </p:blipFill>
        <p:spPr>
          <a:xfrm>
            <a:off x="4714220" y="4298777"/>
            <a:ext cx="272125" cy="272125"/>
          </a:xfrm>
          <a:prstGeom prst="rect">
            <a:avLst/>
          </a:prstGeom>
        </p:spPr>
      </p:pic>
      <p:sp>
        <p:nvSpPr>
          <p:cNvPr id="28" name="Text 20"/>
          <p:cNvSpPr txBox="1"/>
          <p:nvPr/>
        </p:nvSpPr>
        <p:spPr>
          <a:xfrm>
            <a:off x="5298338"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ACL désactivées</a:t>
            </a:r>
            <a:endParaRPr lang="en-US" sz="1900" dirty="0"/>
          </a:p>
        </p:txBody>
      </p:sp>
      <p:sp>
        <p:nvSpPr>
          <p:cNvPr id="29" name="Text 21"/>
          <p:cNvSpPr txBox="1"/>
          <p:nvPr/>
        </p:nvSpPr>
        <p:spPr>
          <a:xfrm>
            <a:off x="4566818"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Propriété BucketOwnerEnforced : tout passe par les policies.</a:t>
            </a:r>
            <a:endParaRPr lang="en-US" sz="1600" dirty="0"/>
          </a:p>
        </p:txBody>
      </p:sp>
      <p:sp>
        <p:nvSpPr>
          <p:cNvPr id="30" name="Carte Journalisation"/>
          <p:cNvSpPr/>
          <p:nvPr/>
        </p:nvSpPr>
        <p:spPr>
          <a:xfrm>
            <a:off x="8127797" y="3950208"/>
            <a:ext cx="3515258" cy="2194560"/>
          </a:xfrm>
          <a:prstGeom prst="roundRect">
            <a:avLst>
              <a:gd name="adj" fmla="val 5000"/>
            </a:avLst>
          </a:prstGeom>
          <a:solidFill>
            <a:schemeClr val="bg2"/>
          </a:solidFill>
          <a:ln w="12700">
            <a:solidFill>
              <a:schemeClr val="bg2"/>
            </a:solidFill>
            <a:prstDash val="solid"/>
          </a:ln>
        </p:spPr>
      </p:sp>
      <p:sp>
        <p:nvSpPr>
          <p:cNvPr id="31" name="Pastille FaClipboardList"/>
          <p:cNvSpPr/>
          <p:nvPr/>
        </p:nvSpPr>
        <p:spPr>
          <a:xfrm>
            <a:off x="8356397" y="4151376"/>
            <a:ext cx="566928" cy="566928"/>
          </a:xfrm>
          <a:prstGeom prst="ellipse">
            <a:avLst/>
          </a:prstGeom>
          <a:solidFill>
            <a:schemeClr val="accent3"/>
          </a:solidFill>
          <a:ln w="12700">
            <a:solidFill>
              <a:schemeClr val="accent3"/>
            </a:solidFill>
            <a:prstDash val="solid"/>
          </a:ln>
        </p:spPr>
      </p:sp>
      <p:pic>
        <p:nvPicPr>
          <p:cNvPr id="32" name="Icône FaClipboardList" descr="icône">    </p:cNvPr>
          <p:cNvPicPr>
            <a:picLocks noChangeAspect="1"/>
          </p:cNvPicPr>
          <p:nvPr/>
        </p:nvPicPr>
        <p:blipFill>
          <a:blip r:embed="rId6"/>
          <a:stretch>
            <a:fillRect/>
          </a:stretch>
        </p:blipFill>
        <p:spPr>
          <a:xfrm>
            <a:off x="8503798" y="4298777"/>
            <a:ext cx="272125" cy="272125"/>
          </a:xfrm>
          <a:prstGeom prst="rect">
            <a:avLst/>
          </a:prstGeom>
        </p:spPr>
      </p:pic>
      <p:sp>
        <p:nvSpPr>
          <p:cNvPr id="33" name="Text 24"/>
          <p:cNvSpPr txBox="1"/>
          <p:nvPr/>
        </p:nvSpPr>
        <p:spPr>
          <a:xfrm>
            <a:off x="9087917"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Journalisation</a:t>
            </a:r>
            <a:endParaRPr lang="en-US" sz="1900" dirty="0"/>
          </a:p>
        </p:txBody>
      </p:sp>
      <p:sp>
        <p:nvSpPr>
          <p:cNvPr id="34" name="Text 25"/>
          <p:cNvSpPr txBox="1"/>
          <p:nvPr/>
        </p:nvSpPr>
        <p:spPr>
          <a:xfrm>
            <a:off x="8356397"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Server access logs et CloudTrail data events.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STOCKAGE : S3, EBS, EFS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05 : un bucket de production</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Créer un bucket conforme : SSE-KMS, versioning, cycle de vie, accès public bloqué, TLS obligatoire, événements vers SQS.</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puis envoyer un fichier</a:t>
            </a:r>
            <a:endParaRPr lang="en-US" sz="1800" dirty="0"/>
          </a:p>
          <a:p>
            <a:pPr marL="342900" indent="-342900">
              <a:spcAft>
                <a:spcPts val="800"/>
              </a:spcAft>
              <a:buSzPct val="100000"/>
              <a:buFont typeface="+mj-lt"/>
              <a:buAutoNum type="arabicPeriod" startAt="1"/>
            </a:pPr>
            <a:r>
              <a:rPr lang="en-US" sz="1800" dirty="0">
                <a:solidFill>
                  <a:schemeClr val="tx1"/>
                </a:solidFill>
              </a:rPr>
              <a:t>Lire l'événement dans la file SQS</a:t>
            </a:r>
            <a:endParaRPr lang="en-US" sz="1800" dirty="0"/>
          </a:p>
          <a:p>
            <a:pPr marL="342900" indent="-342900">
              <a:spcAft>
                <a:spcPts val="800"/>
              </a:spcAft>
              <a:buSzPct val="100000"/>
              <a:buFont typeface="+mj-lt"/>
              <a:buAutoNum type="arabicPeriod" startAt="1"/>
            </a:pPr>
            <a:r>
              <a:rPr lang="en-US" sz="1800" dirty="0">
                <a:solidFill>
                  <a:schemeClr val="tx1"/>
                </a:solidFill>
              </a:rPr>
              <a:t>Écraser 3 fois, lister et restaurer une version</a:t>
            </a:r>
            <a:endParaRPr lang="en-US" sz="1800" dirty="0"/>
          </a:p>
          <a:p>
            <a:pPr marL="342900" indent="-342900">
              <a:spcAft>
                <a:spcPts val="800"/>
              </a:spcAft>
              <a:buSzPct val="100000"/>
              <a:buFont typeface="+mj-lt"/>
              <a:buAutoNum type="arabicPeriod" startAt="1"/>
            </a:pPr>
            <a:r>
              <a:rPr lang="en-US" sz="1800" dirty="0">
                <a:solidFill>
                  <a:schemeClr val="tx1"/>
                </a:solidFill>
              </a:rPr>
              <a:t>Tester un accès HTTP : refus attendu</a:t>
            </a:r>
            <a:endParaRPr lang="en-US" sz="1800" dirty="0"/>
          </a:p>
          <a:p>
            <a:pPr marL="342900" indent="-342900">
              <a:spcAft>
                <a:spcPts val="800"/>
              </a:spcAft>
              <a:buSzPct val="100000"/>
              <a:buFont typeface="+mj-lt"/>
              <a:buAutoNum type="arabicPeriod" startAt="1"/>
            </a:pPr>
            <a:r>
              <a:rPr lang="en-US" sz="1800" dirty="0">
                <a:solidFill>
                  <a:schemeClr val="tx1"/>
                </a:solidFill>
              </a:rPr>
              <a:t>Défi : réplication vers une autre région</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Accès public bloqué, 3 versions existantes, événement reçu.</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05-stockage/labs/lab-s3</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05 · STOCKAGE : S3, EBS, EFS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Objet (S3), bloc (EBS), fichier (EFS/FSx)</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Block Public Access, chiffrement et TLS par défaut</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Versioning et cycle de vie contrôlent la durée et le coût</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classe S3 pour un profil d'accès inconnu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annuler la suppression d'un objet versionné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Un volume EBS peut-il être monté depuis deux zones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06</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Bases de données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la bonne base</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RDS : Multi-AZ, réplicas, sauvegardes</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DynamoDB : clés, index, capacité</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Sécuriser l'accès aux données</a:t>
            </a:r>
            <a:endParaRPr lang="en-US" sz="1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BASES DE DONNÉES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Quelle base pour quel besoin ?</a:t>
            </a:r>
            <a:endParaRPr lang="en-US" sz="3600" dirty="0"/>
          </a:p>
        </p:txBody>
      </p:sp>
      <p:graphicFrame>
        <p:nvGraphicFramePr>
          <p:cNvPr id="49"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6766560"/>
                <a:gridCol w="4325112"/>
              </a:tblGrid>
              <a:tr h="746760">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Besoin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Service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SQL classique (PostgreSQL, MySQL, Oracle…)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RDS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SQL cloud-native, 6 copies sur 3 zones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Aurora, Aurora Serverless v2</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Clé-valeur ou documents, latence en millisecondes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DynamoDB</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Cache en mémoire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ElastiCache (Redis, Valkey, Memcached)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46760">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Entrepôt de données et analytique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Redshift, Athena</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BASES DE DONNÉES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Multi-AZ ou Read Replica ?</a:t>
            </a:r>
            <a:endParaRPr lang="en-US" sz="3600" dirty="0"/>
          </a:p>
        </p:txBody>
      </p:sp>
      <p:sp>
        <p:nvSpPr>
          <p:cNvPr id="5" name="En-tête Multi-AZ : disponibilité"/>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Multi-AZ : disponibilité</a:t>
            </a:r>
            <a:endParaRPr lang="en-US" sz="2200" dirty="0"/>
          </a:p>
        </p:txBody>
      </p:sp>
      <p:sp>
        <p:nvSpPr>
          <p:cNvPr id="7" name="Panneau Multi-AZ : disponibilité"/>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Standby synchrone dans une autre zone</a:t>
            </a:r>
            <a:endParaRPr lang="en-US" sz="2200" dirty="0"/>
          </a:p>
          <a:p>
            <a:pPr marL="342900" indent="-342900">
              <a:spcAft>
                <a:spcPts val="1400"/>
              </a:spcAft>
              <a:buSzPct val="100000"/>
              <a:buChar char="•"/>
            </a:pPr>
            <a:r>
              <a:rPr lang="en-US" sz="2200" dirty="0">
                <a:solidFill>
                  <a:schemeClr val="tx1"/>
                </a:solidFill>
              </a:rPr>
              <a:t>Bascule automatique en 1 à 2 minutes</a:t>
            </a:r>
            <a:endParaRPr lang="en-US" sz="2200" dirty="0"/>
          </a:p>
          <a:p>
            <a:pPr marL="342900" indent="-342900">
              <a:spcAft>
                <a:spcPts val="1400"/>
              </a:spcAft>
              <a:buSzPct val="100000"/>
              <a:buChar char="•"/>
            </a:pPr>
            <a:r>
              <a:rPr lang="en-US" sz="2200" dirty="0">
                <a:solidFill>
                  <a:schemeClr val="tx1"/>
                </a:solidFill>
              </a:rPr>
              <a:t>Le standby ne sert pas les lectures</a:t>
            </a:r>
            <a:endParaRPr lang="en-US" sz="2200" dirty="0"/>
          </a:p>
          <a:p>
            <a:pPr marL="342900" indent="-342900">
              <a:spcAft>
                <a:spcPts val="1400"/>
              </a:spcAft>
              <a:buSzPct val="100000"/>
              <a:buChar char="•"/>
            </a:pPr>
            <a:r>
              <a:rPr lang="en-US" sz="2200" dirty="0">
                <a:solidFill>
                  <a:schemeClr val="tx1"/>
                </a:solidFill>
              </a:rPr>
              <a:t>Protège d'une panne de zone</a:t>
            </a:r>
            <a:endParaRPr lang="en-US" sz="2200" dirty="0"/>
          </a:p>
        </p:txBody>
      </p:sp>
      <p:sp>
        <p:nvSpPr>
          <p:cNvPr id="9" name="En-tête Read Replica : performance"/>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Read Replica : performance</a:t>
            </a:r>
            <a:endParaRPr lang="en-US" sz="2200" dirty="0"/>
          </a:p>
        </p:txBody>
      </p:sp>
      <p:sp>
        <p:nvSpPr>
          <p:cNvPr id="11" name="Panneau Read Replica : performance"/>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Réplication asynchrone</a:t>
            </a:r>
            <a:endParaRPr lang="en-US" sz="2200" dirty="0"/>
          </a:p>
          <a:p>
            <a:pPr marL="342900" indent="-342900">
              <a:spcAft>
                <a:spcPts val="1400"/>
              </a:spcAft>
              <a:buSzPct val="100000"/>
              <a:buChar char="•"/>
            </a:pPr>
            <a:r>
              <a:rPr lang="en-US" sz="2200" dirty="0">
                <a:solidFill>
                  <a:schemeClr val="tx1"/>
                </a:solidFill>
              </a:rPr>
              <a:t>Soulage la base en lecture</a:t>
            </a:r>
            <a:endParaRPr lang="en-US" sz="2200" dirty="0"/>
          </a:p>
          <a:p>
            <a:pPr marL="342900" indent="-342900">
              <a:spcAft>
                <a:spcPts val="1400"/>
              </a:spcAft>
              <a:buSzPct val="100000"/>
              <a:buChar char="•"/>
            </a:pPr>
            <a:r>
              <a:rPr lang="en-US" sz="2200" dirty="0">
                <a:solidFill>
                  <a:schemeClr val="tx1"/>
                </a:solidFill>
              </a:rPr>
              <a:t>Possible dans une autre région</a:t>
            </a:r>
            <a:endParaRPr lang="en-US" sz="2200" dirty="0"/>
          </a:p>
          <a:p>
            <a:pPr marL="342900" indent="-342900">
              <a:spcAft>
                <a:spcPts val="1400"/>
              </a:spcAft>
              <a:buSzPct val="100000"/>
              <a:buChar char="•"/>
            </a:pPr>
            <a:r>
              <a:rPr lang="en-US" sz="2200" dirty="0">
                <a:solidFill>
                  <a:schemeClr val="tx1"/>
                </a:solidFill>
              </a:rPr>
              <a:t>Promouvable en base autonome</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Mnémo : Multi-AZ = disponibilité, Read Replica = performance.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BASES DE DONNÉES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DynamoDB en quatre idées</a:t>
            </a:r>
            <a:endParaRPr lang="en-US" sz="3600" dirty="0"/>
          </a:p>
        </p:txBody>
      </p:sp>
      <p:sp>
        <p:nvSpPr>
          <p:cNvPr id="5" name="Carte Clé primaire"/>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Key"/>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Key"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Clé primaire</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Partition key, plus sort key en option. Elle doit répartir la charge.</a:t>
            </a:r>
            <a:endParaRPr lang="en-US" sz="1900" dirty="0"/>
          </a:p>
        </p:txBody>
      </p:sp>
      <p:sp>
        <p:nvSpPr>
          <p:cNvPr id="10" name="Carte Index GSI"/>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Search"/>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Search"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Index GSI</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Une autre clé pour d'autres requêtes. Créé à tout moment.</a:t>
            </a:r>
            <a:endParaRPr lang="en-US" sz="1900" dirty="0"/>
          </a:p>
        </p:txBody>
      </p:sp>
      <p:sp>
        <p:nvSpPr>
          <p:cNvPr id="15" name="Carte Capacité"/>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TachometerAlt"/>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TachometerAlt"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Capacité</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On-demand pour l'imprévisible, provisioned avec autoscaling pour le stable.</a:t>
            </a:r>
            <a:endParaRPr lang="en-US" sz="1900" dirty="0"/>
          </a:p>
        </p:txBody>
      </p:sp>
      <p:sp>
        <p:nvSpPr>
          <p:cNvPr id="20" name="Carte TTL et Streams"/>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HourglassHalf"/>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HourglassHalf"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TTL et Streams</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Expiration gratuite des items et capture des changements.</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On modélise à partir des requêtes à servir. On évite Scan, on utilise Query.</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BASES DE DONNÉES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06 : RDS sécurisé et DynamoDB</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Une base PostgreSQL privée, chiffrée, avec mot de passe géré, et une table DynamoDB avec GSI et TTL.</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-var multi_az=false</a:t>
            </a:r>
            <a:endParaRPr lang="en-US" sz="1800" dirty="0"/>
          </a:p>
          <a:p>
            <a:pPr marL="342900" indent="-342900">
              <a:spcAft>
                <a:spcPts val="800"/>
              </a:spcAft>
              <a:buSzPct val="100000"/>
              <a:buFont typeface="+mj-lt"/>
              <a:buAutoNum type="arabicPeriod" startAt="1"/>
            </a:pPr>
            <a:r>
              <a:rPr lang="en-US" sz="1800" dirty="0">
                <a:solidFill>
                  <a:schemeClr val="tx1"/>
                </a:solidFill>
              </a:rPr>
              <a:t>Lire le secret dans Secrets Manager</a:t>
            </a:r>
            <a:endParaRPr lang="en-US" sz="1800" dirty="0"/>
          </a:p>
          <a:p>
            <a:pPr marL="342900" indent="-342900">
              <a:spcAft>
                <a:spcPts val="800"/>
              </a:spcAft>
              <a:buSzPct val="100000"/>
              <a:buFont typeface="+mj-lt"/>
              <a:buAutoNum type="arabicPeriod" startAt="1"/>
            </a:pPr>
            <a:r>
              <a:rPr lang="en-US" sz="1800" dirty="0">
                <a:solidFill>
                  <a:schemeClr val="tx1"/>
                </a:solidFill>
              </a:rPr>
              <a:t>Se connecter via SSM, créer un snapshot et restaurer</a:t>
            </a:r>
            <a:endParaRPr lang="en-US" sz="1800" dirty="0"/>
          </a:p>
          <a:p>
            <a:pPr marL="342900" indent="-342900">
              <a:spcAft>
                <a:spcPts val="800"/>
              </a:spcAft>
              <a:buSzPct val="100000"/>
              <a:buFont typeface="+mj-lt"/>
              <a:buAutoNum type="arabicPeriod" startAt="1"/>
            </a:pPr>
            <a:r>
              <a:rPr lang="en-US" sz="1800" dirty="0">
                <a:solidFill>
                  <a:schemeClr val="tx1"/>
                </a:solidFill>
              </a:rPr>
              <a:t>Insérer des items avec TTL dans DynamoDB</a:t>
            </a:r>
            <a:endParaRPr lang="en-US" sz="1800" dirty="0"/>
          </a:p>
          <a:p>
            <a:pPr marL="342900" indent="-342900">
              <a:spcAft>
                <a:spcPts val="800"/>
              </a:spcAft>
              <a:buSzPct val="100000"/>
              <a:buFont typeface="+mj-lt"/>
              <a:buAutoNum type="arabicPeriod" startAt="1"/>
            </a:pPr>
            <a:r>
              <a:rPr lang="en-US" sz="1800" dirty="0">
                <a:solidFill>
                  <a:schemeClr val="tx1"/>
                </a:solidFill>
              </a:rPr>
              <a:t>Défi : ajouter un Read Replica et mesurer le lag</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Base non publique, chiffrée, aucun mot de passe dans le code.</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Payant : RDS : détruire aussitôt</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06-bases-de-donnees/labs/lab-db</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06 · BASES DE DONNÉES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Multi-AZ pour la disponibilité, réplicas pour la lecture</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RDS dans des subnets privés, secrets gérés, chiffrement</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DynamoDB : Query + bonnes clés, jamais Scan en production</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Multi-AZ ou Read Replica pour soulager la lecture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service limite les connexions depuis des milliers de Lambdas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option pour du multi-région actif-actif sur DynamoDB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07</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Haute disponibilité et edge</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Répartir la charge avec ELB</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Auto Scaling et politiques</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DNS et bascule avec Route 53</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Accélérer avec CloudFront</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Une application web hautement disponible</a:t>
            </a:r>
            <a:endParaRPr lang="en-US" sz="3600" dirty="0"/>
          </a:p>
        </p:txBody>
      </p:sp>
      <p:sp>
        <p:nvSpPr>
          <p:cNvPr id="5" name="Bloc Utilisateurs"/>
          <p:cNvSpPr/>
          <p:nvPr/>
        </p:nvSpPr>
        <p:spPr>
          <a:xfrm>
            <a:off x="548640" y="1600200"/>
            <a:ext cx="1554480" cy="3017520"/>
          </a:xfrm>
          <a:prstGeom prst="roundRect">
            <a:avLst>
              <a:gd name="adj" fmla="val 7059"/>
            </a:avLst>
          </a:prstGeom>
          <a:solidFill>
            <a:schemeClr val="bg2"/>
          </a:solidFill>
          <a:ln w="12700">
            <a:solidFill>
              <a:schemeClr val="bg2"/>
            </a:solidFill>
            <a:prstDash val="solid"/>
          </a:ln>
        </p:spPr>
      </p:sp>
      <p:sp>
        <p:nvSpPr>
          <p:cNvPr id="6" name="Pastille FaUsers"/>
          <p:cNvSpPr/>
          <p:nvPr/>
        </p:nvSpPr>
        <p:spPr>
          <a:xfrm>
            <a:off x="1005840" y="1783080"/>
            <a:ext cx="640080" cy="640080"/>
          </a:xfrm>
          <a:prstGeom prst="ellipse">
            <a:avLst/>
          </a:prstGeom>
          <a:solidFill>
            <a:schemeClr val="accent1"/>
          </a:solidFill>
          <a:ln w="12700">
            <a:solidFill>
              <a:schemeClr val="accent1"/>
            </a:solidFill>
            <a:prstDash val="solid"/>
          </a:ln>
        </p:spPr>
      </p:sp>
      <p:pic>
        <p:nvPicPr>
          <p:cNvPr id="7" name="Icône FaUsers" descr="icône">    </p:cNvPr>
          <p:cNvPicPr>
            <a:picLocks noChangeAspect="1"/>
          </p:cNvPicPr>
          <p:nvPr/>
        </p:nvPicPr>
        <p:blipFill>
          <a:blip r:embed="rId1"/>
          <a:stretch>
            <a:fillRect/>
          </a:stretch>
        </p:blipFill>
        <p:spPr>
          <a:xfrm>
            <a:off x="1172261" y="1949501"/>
            <a:ext cx="307238" cy="307238"/>
          </a:xfrm>
          <a:prstGeom prst="rect">
            <a:avLst/>
          </a:prstGeom>
        </p:spPr>
      </p:pic>
      <p:sp>
        <p:nvSpPr>
          <p:cNvPr id="8" name="Text 4"/>
          <p:cNvSpPr txBox="1"/>
          <p:nvPr/>
        </p:nvSpPr>
        <p:spPr>
          <a:xfrm>
            <a:off x="640080" y="2560320"/>
            <a:ext cx="1371600" cy="548640"/>
          </a:xfrm>
          <a:prstGeom prst="rect">
            <a:avLst/>
          </a:prstGeom>
          <a:noFill/>
          <a:ln/>
        </p:spPr>
        <p:txBody>
          <a:bodyPr wrap="square" lIns="0" tIns="0" rIns="0" bIns="0" rtlCol="0" anchor="ctr"/>
          <a:lstStyle/>
          <a:p>
            <a:pPr algn="ctr" indent="0" marL="0">
              <a:buNone/>
            </a:pPr>
            <a:r>
              <a:rPr lang="en-US" sz="1700" b="1" dirty="0">
                <a:solidFill>
                  <a:schemeClr val="tx1"/>
                </a:solidFill>
              </a:rPr>
              <a:t>Utilisateurs</a:t>
            </a:r>
            <a:endParaRPr lang="en-US" sz="1700" dirty="0"/>
          </a:p>
        </p:txBody>
      </p:sp>
      <p:sp>
        <p:nvSpPr>
          <p:cNvPr id="9" name="Flèche"/>
          <p:cNvSpPr/>
          <p:nvPr/>
        </p:nvSpPr>
        <p:spPr>
          <a:xfrm>
            <a:off x="2171700" y="2971800"/>
            <a:ext cx="274320" cy="274320"/>
          </a:xfrm>
          <a:prstGeom prst="rightArrow">
            <a:avLst/>
          </a:prstGeom>
          <a:solidFill>
            <a:schemeClr val="accent1"/>
          </a:solidFill>
          <a:ln w="12700">
            <a:solidFill>
              <a:schemeClr val="accent1"/>
            </a:solidFill>
            <a:prstDash val="solid"/>
          </a:ln>
        </p:spPr>
      </p:sp>
      <p:sp>
        <p:nvSpPr>
          <p:cNvPr id="10" name="Bloc CloudFront + WAF"/>
          <p:cNvSpPr/>
          <p:nvPr/>
        </p:nvSpPr>
        <p:spPr>
          <a:xfrm>
            <a:off x="2514600" y="1600200"/>
            <a:ext cx="1828800" cy="3017520"/>
          </a:xfrm>
          <a:prstGeom prst="roundRect">
            <a:avLst>
              <a:gd name="adj" fmla="val 6000"/>
            </a:avLst>
          </a:prstGeom>
          <a:solidFill>
            <a:schemeClr val="bg2"/>
          </a:solidFill>
          <a:ln w="12700">
            <a:solidFill>
              <a:schemeClr val="bg2"/>
            </a:solidFill>
            <a:prstDash val="solid"/>
          </a:ln>
        </p:spPr>
      </p:sp>
      <p:sp>
        <p:nvSpPr>
          <p:cNvPr id="11" name="Pastille FaGlobe"/>
          <p:cNvSpPr/>
          <p:nvPr/>
        </p:nvSpPr>
        <p:spPr>
          <a:xfrm>
            <a:off x="3108960" y="1783080"/>
            <a:ext cx="640080" cy="640080"/>
          </a:xfrm>
          <a:prstGeom prst="ellipse">
            <a:avLst/>
          </a:prstGeom>
          <a:solidFill>
            <a:schemeClr val="accent3"/>
          </a:solidFill>
          <a:ln w="12700">
            <a:solidFill>
              <a:schemeClr val="accent3"/>
            </a:solidFill>
            <a:prstDash val="solid"/>
          </a:ln>
        </p:spPr>
      </p:sp>
      <p:pic>
        <p:nvPicPr>
          <p:cNvPr id="12" name="Icône FaGlobe" descr="icône">    </p:cNvPr>
          <p:cNvPicPr>
            <a:picLocks noChangeAspect="1"/>
          </p:cNvPicPr>
          <p:nvPr/>
        </p:nvPicPr>
        <p:blipFill>
          <a:blip r:embed="rId2"/>
          <a:stretch>
            <a:fillRect/>
          </a:stretch>
        </p:blipFill>
        <p:spPr>
          <a:xfrm>
            <a:off x="3275381" y="1949501"/>
            <a:ext cx="307238" cy="307238"/>
          </a:xfrm>
          <a:prstGeom prst="rect">
            <a:avLst/>
          </a:prstGeom>
        </p:spPr>
      </p:pic>
      <p:sp>
        <p:nvSpPr>
          <p:cNvPr id="13" name="Text 8"/>
          <p:cNvSpPr txBox="1"/>
          <p:nvPr/>
        </p:nvSpPr>
        <p:spPr>
          <a:xfrm>
            <a:off x="2606040" y="2560320"/>
            <a:ext cx="1645920" cy="548640"/>
          </a:xfrm>
          <a:prstGeom prst="rect">
            <a:avLst/>
          </a:prstGeom>
          <a:noFill/>
          <a:ln/>
        </p:spPr>
        <p:txBody>
          <a:bodyPr wrap="square" lIns="0" tIns="0" rIns="0" bIns="0" rtlCol="0" anchor="ctr"/>
          <a:lstStyle/>
          <a:p>
            <a:pPr algn="ctr" indent="0" marL="0">
              <a:buNone/>
            </a:pPr>
            <a:r>
              <a:rPr lang="en-US" sz="1700" b="1" dirty="0">
                <a:solidFill>
                  <a:schemeClr val="tx1"/>
                </a:solidFill>
              </a:rPr>
              <a:t>CloudFront + WAF</a:t>
            </a:r>
            <a:endParaRPr lang="en-US" sz="1700" dirty="0"/>
          </a:p>
        </p:txBody>
      </p:sp>
      <p:sp>
        <p:nvSpPr>
          <p:cNvPr id="14" name="Flèche"/>
          <p:cNvSpPr/>
          <p:nvPr/>
        </p:nvSpPr>
        <p:spPr>
          <a:xfrm>
            <a:off x="4411980" y="2971800"/>
            <a:ext cx="274320" cy="274320"/>
          </a:xfrm>
          <a:prstGeom prst="rightArrow">
            <a:avLst/>
          </a:prstGeom>
          <a:solidFill>
            <a:schemeClr val="accent1"/>
          </a:solidFill>
          <a:ln w="12700">
            <a:solidFill>
              <a:schemeClr val="accent1"/>
            </a:solidFill>
            <a:prstDash val="solid"/>
          </a:ln>
        </p:spPr>
      </p:sp>
      <p:sp>
        <p:nvSpPr>
          <p:cNvPr id="15" name="Bloc ALB"/>
          <p:cNvSpPr/>
          <p:nvPr/>
        </p:nvSpPr>
        <p:spPr>
          <a:xfrm>
            <a:off x="4754880" y="1600200"/>
            <a:ext cx="1554480" cy="3017520"/>
          </a:xfrm>
          <a:prstGeom prst="roundRect">
            <a:avLst>
              <a:gd name="adj" fmla="val 7059"/>
            </a:avLst>
          </a:prstGeom>
          <a:solidFill>
            <a:schemeClr val="bg2"/>
          </a:solidFill>
          <a:ln w="12700">
            <a:solidFill>
              <a:schemeClr val="bg2"/>
            </a:solidFill>
            <a:prstDash val="solid"/>
          </a:ln>
        </p:spPr>
      </p:sp>
      <p:sp>
        <p:nvSpPr>
          <p:cNvPr id="16" name="Pastille FaNetworkWired"/>
          <p:cNvSpPr/>
          <p:nvPr/>
        </p:nvSpPr>
        <p:spPr>
          <a:xfrm>
            <a:off x="5212080" y="1783080"/>
            <a:ext cx="640080" cy="640080"/>
          </a:xfrm>
          <a:prstGeom prst="ellipse">
            <a:avLst/>
          </a:prstGeom>
          <a:solidFill>
            <a:schemeClr val="accent2"/>
          </a:solidFill>
          <a:ln w="12700">
            <a:solidFill>
              <a:schemeClr val="accent2"/>
            </a:solidFill>
            <a:prstDash val="solid"/>
          </a:ln>
        </p:spPr>
      </p:sp>
      <p:pic>
        <p:nvPicPr>
          <p:cNvPr id="17" name="Icône FaNetworkWired" descr="icône">    </p:cNvPr>
          <p:cNvPicPr>
            <a:picLocks noChangeAspect="1"/>
          </p:cNvPicPr>
          <p:nvPr/>
        </p:nvPicPr>
        <p:blipFill>
          <a:blip r:embed="rId3"/>
          <a:stretch>
            <a:fillRect/>
          </a:stretch>
        </p:blipFill>
        <p:spPr>
          <a:xfrm>
            <a:off x="5378501" y="1949501"/>
            <a:ext cx="307238" cy="307238"/>
          </a:xfrm>
          <a:prstGeom prst="rect">
            <a:avLst/>
          </a:prstGeom>
        </p:spPr>
      </p:pic>
      <p:sp>
        <p:nvSpPr>
          <p:cNvPr id="18" name="Text 12"/>
          <p:cNvSpPr txBox="1"/>
          <p:nvPr/>
        </p:nvSpPr>
        <p:spPr>
          <a:xfrm>
            <a:off x="4846320" y="2560320"/>
            <a:ext cx="1371600" cy="548640"/>
          </a:xfrm>
          <a:prstGeom prst="rect">
            <a:avLst/>
          </a:prstGeom>
          <a:noFill/>
          <a:ln/>
        </p:spPr>
        <p:txBody>
          <a:bodyPr wrap="square" lIns="0" tIns="0" rIns="0" bIns="0" rtlCol="0" anchor="ctr"/>
          <a:lstStyle/>
          <a:p>
            <a:pPr algn="ctr" indent="0" marL="0">
              <a:buNone/>
            </a:pPr>
            <a:r>
              <a:rPr lang="en-US" sz="1700" b="1" dirty="0">
                <a:solidFill>
                  <a:schemeClr val="tx1"/>
                </a:solidFill>
              </a:rPr>
              <a:t>ALB</a:t>
            </a:r>
            <a:endParaRPr lang="en-US" sz="1700" dirty="0"/>
          </a:p>
        </p:txBody>
      </p:sp>
      <p:sp>
        <p:nvSpPr>
          <p:cNvPr id="19" name="Flèche"/>
          <p:cNvSpPr/>
          <p:nvPr/>
        </p:nvSpPr>
        <p:spPr>
          <a:xfrm>
            <a:off x="6377940" y="2971800"/>
            <a:ext cx="274320" cy="274320"/>
          </a:xfrm>
          <a:prstGeom prst="rightArrow">
            <a:avLst/>
          </a:prstGeom>
          <a:solidFill>
            <a:schemeClr val="accent1"/>
          </a:solidFill>
          <a:ln w="12700">
            <a:solidFill>
              <a:schemeClr val="accent1"/>
            </a:solidFill>
            <a:prstDash val="solid"/>
          </a:ln>
        </p:spPr>
      </p:sp>
      <p:sp>
        <p:nvSpPr>
          <p:cNvPr id="20" name="Bloc Auto Scaling"/>
          <p:cNvSpPr/>
          <p:nvPr/>
        </p:nvSpPr>
        <p:spPr>
          <a:xfrm>
            <a:off x="6720840" y="1600200"/>
            <a:ext cx="2468880" cy="3017520"/>
          </a:xfrm>
          <a:prstGeom prst="roundRect">
            <a:avLst>
              <a:gd name="adj" fmla="val 4444"/>
            </a:avLst>
          </a:prstGeom>
          <a:solidFill>
            <a:schemeClr val="bg2"/>
          </a:solidFill>
          <a:ln w="12700">
            <a:solidFill>
              <a:schemeClr val="bg2"/>
            </a:solidFill>
            <a:prstDash val="solid"/>
          </a:ln>
        </p:spPr>
      </p:sp>
      <p:sp>
        <p:nvSpPr>
          <p:cNvPr id="21" name="Pastille FaServer"/>
          <p:cNvSpPr/>
          <p:nvPr/>
        </p:nvSpPr>
        <p:spPr>
          <a:xfrm>
            <a:off x="7635240" y="1783080"/>
            <a:ext cx="640080" cy="640080"/>
          </a:xfrm>
          <a:prstGeom prst="ellipse">
            <a:avLst/>
          </a:prstGeom>
          <a:solidFill>
            <a:schemeClr val="accent4"/>
          </a:solidFill>
          <a:ln w="12700">
            <a:solidFill>
              <a:schemeClr val="accent4"/>
            </a:solidFill>
            <a:prstDash val="solid"/>
          </a:ln>
        </p:spPr>
      </p:sp>
      <p:pic>
        <p:nvPicPr>
          <p:cNvPr id="22" name="Icône FaServer" descr="icône">    </p:cNvPr>
          <p:cNvPicPr>
            <a:picLocks noChangeAspect="1"/>
          </p:cNvPicPr>
          <p:nvPr/>
        </p:nvPicPr>
        <p:blipFill>
          <a:blip r:embed="rId4"/>
          <a:stretch>
            <a:fillRect/>
          </a:stretch>
        </p:blipFill>
        <p:spPr>
          <a:xfrm>
            <a:off x="7801661" y="1949501"/>
            <a:ext cx="307238" cy="307238"/>
          </a:xfrm>
          <a:prstGeom prst="rect">
            <a:avLst/>
          </a:prstGeom>
        </p:spPr>
      </p:pic>
      <p:sp>
        <p:nvSpPr>
          <p:cNvPr id="23" name="Text 16"/>
          <p:cNvSpPr txBox="1"/>
          <p:nvPr/>
        </p:nvSpPr>
        <p:spPr>
          <a:xfrm>
            <a:off x="6812280" y="2560320"/>
            <a:ext cx="2286000" cy="548640"/>
          </a:xfrm>
          <a:prstGeom prst="rect">
            <a:avLst/>
          </a:prstGeom>
          <a:noFill/>
          <a:ln/>
        </p:spPr>
        <p:txBody>
          <a:bodyPr wrap="square" lIns="0" tIns="0" rIns="0" bIns="0" rtlCol="0" anchor="ctr"/>
          <a:lstStyle/>
          <a:p>
            <a:pPr algn="ctr" indent="0" marL="0">
              <a:buNone/>
            </a:pPr>
            <a:r>
              <a:rPr lang="en-US" sz="1700" b="1" dirty="0">
                <a:solidFill>
                  <a:schemeClr val="tx1"/>
                </a:solidFill>
              </a:rPr>
              <a:t>Auto Scaling</a:t>
            </a:r>
            <a:endParaRPr lang="en-US" sz="1700" dirty="0"/>
          </a:p>
        </p:txBody>
      </p:sp>
      <p:sp>
        <p:nvSpPr>
          <p:cNvPr id="24" name="Shape 17"/>
          <p:cNvSpPr/>
          <p:nvPr/>
        </p:nvSpPr>
        <p:spPr>
          <a:xfrm>
            <a:off x="6903720" y="3200400"/>
            <a:ext cx="2103120" cy="502920"/>
          </a:xfrm>
          <a:prstGeom prst="roundRect">
            <a:avLst>
              <a:gd name="adj" fmla="val 14545"/>
            </a:avLst>
          </a:prstGeom>
          <a:solidFill>
            <a:schemeClr val="bg1"/>
          </a:solidFill>
          <a:ln w="12700">
            <a:solidFill>
              <a:schemeClr val="accent5"/>
            </a:solidFill>
            <a:prstDash val="solid"/>
          </a:ln>
        </p:spPr>
      </p:sp>
      <p:sp>
        <p:nvSpPr>
          <p:cNvPr id="25" name="Text 18"/>
          <p:cNvSpPr txBox="1"/>
          <p:nvPr/>
        </p:nvSpPr>
        <p:spPr>
          <a:xfrm>
            <a:off x="6903720" y="3200400"/>
            <a:ext cx="2103120" cy="502920"/>
          </a:xfrm>
          <a:prstGeom prst="rect">
            <a:avLst/>
          </a:prstGeom>
          <a:noFill/>
          <a:ln/>
        </p:spPr>
        <p:txBody>
          <a:bodyPr wrap="square" lIns="0" tIns="0" rIns="0" bIns="0" rtlCol="0" anchor="ctr"/>
          <a:lstStyle/>
          <a:p>
            <a:pPr algn="ctr" indent="0" marL="0">
              <a:buNone/>
            </a:pPr>
            <a:r>
              <a:rPr lang="en-US" sz="1400" b="1" dirty="0">
                <a:solidFill>
                  <a:schemeClr val="tx2"/>
                </a:solidFill>
              </a:rPr>
              <a:t>EC2 · Zone A</a:t>
            </a:r>
            <a:endParaRPr lang="en-US" sz="1400" dirty="0"/>
          </a:p>
        </p:txBody>
      </p:sp>
      <p:sp>
        <p:nvSpPr>
          <p:cNvPr id="26" name="Shape 19"/>
          <p:cNvSpPr/>
          <p:nvPr/>
        </p:nvSpPr>
        <p:spPr>
          <a:xfrm>
            <a:off x="6903720" y="3840480"/>
            <a:ext cx="2103120" cy="502920"/>
          </a:xfrm>
          <a:prstGeom prst="roundRect">
            <a:avLst>
              <a:gd name="adj" fmla="val 14545"/>
            </a:avLst>
          </a:prstGeom>
          <a:solidFill>
            <a:schemeClr val="bg1"/>
          </a:solidFill>
          <a:ln w="12700">
            <a:solidFill>
              <a:schemeClr val="accent5"/>
            </a:solidFill>
            <a:prstDash val="solid"/>
          </a:ln>
        </p:spPr>
      </p:sp>
      <p:sp>
        <p:nvSpPr>
          <p:cNvPr id="27" name="Text 20"/>
          <p:cNvSpPr txBox="1"/>
          <p:nvPr/>
        </p:nvSpPr>
        <p:spPr>
          <a:xfrm>
            <a:off x="6903720" y="3840480"/>
            <a:ext cx="2103120" cy="502920"/>
          </a:xfrm>
          <a:prstGeom prst="rect">
            <a:avLst/>
          </a:prstGeom>
          <a:noFill/>
          <a:ln/>
        </p:spPr>
        <p:txBody>
          <a:bodyPr wrap="square" lIns="0" tIns="0" rIns="0" bIns="0" rtlCol="0" anchor="ctr"/>
          <a:lstStyle/>
          <a:p>
            <a:pPr algn="ctr" indent="0" marL="0">
              <a:buNone/>
            </a:pPr>
            <a:r>
              <a:rPr lang="en-US" sz="1400" b="1" dirty="0">
                <a:solidFill>
                  <a:schemeClr val="tx2"/>
                </a:solidFill>
              </a:rPr>
              <a:t>EC2 · Zone B</a:t>
            </a:r>
            <a:endParaRPr lang="en-US" sz="1400" dirty="0"/>
          </a:p>
        </p:txBody>
      </p:sp>
      <p:sp>
        <p:nvSpPr>
          <p:cNvPr id="28" name="Flèche"/>
          <p:cNvSpPr/>
          <p:nvPr/>
        </p:nvSpPr>
        <p:spPr>
          <a:xfrm>
            <a:off x="9258300" y="2971800"/>
            <a:ext cx="274320" cy="274320"/>
          </a:xfrm>
          <a:prstGeom prst="rightArrow">
            <a:avLst/>
          </a:prstGeom>
          <a:solidFill>
            <a:schemeClr val="accent1"/>
          </a:solidFill>
          <a:ln w="12700">
            <a:solidFill>
              <a:schemeClr val="accent1"/>
            </a:solidFill>
            <a:prstDash val="solid"/>
          </a:ln>
        </p:spPr>
      </p:sp>
      <p:sp>
        <p:nvSpPr>
          <p:cNvPr id="29" name="Bloc RDS Multi-AZ"/>
          <p:cNvSpPr/>
          <p:nvPr/>
        </p:nvSpPr>
        <p:spPr>
          <a:xfrm>
            <a:off x="9601200" y="1600200"/>
            <a:ext cx="2039112" cy="3017520"/>
          </a:xfrm>
          <a:prstGeom prst="roundRect">
            <a:avLst>
              <a:gd name="adj" fmla="val 5381"/>
            </a:avLst>
          </a:prstGeom>
          <a:solidFill>
            <a:schemeClr val="bg2"/>
          </a:solidFill>
          <a:ln w="12700">
            <a:solidFill>
              <a:schemeClr val="bg2"/>
            </a:solidFill>
            <a:prstDash val="solid"/>
          </a:ln>
        </p:spPr>
      </p:sp>
      <p:sp>
        <p:nvSpPr>
          <p:cNvPr id="30" name="Pastille FaDatabase"/>
          <p:cNvSpPr/>
          <p:nvPr/>
        </p:nvSpPr>
        <p:spPr>
          <a:xfrm>
            <a:off x="10300716" y="1783080"/>
            <a:ext cx="640080" cy="640080"/>
          </a:xfrm>
          <a:prstGeom prst="ellipse">
            <a:avLst/>
          </a:prstGeom>
          <a:solidFill>
            <a:schemeClr val="accent1"/>
          </a:solidFill>
          <a:ln w="12700">
            <a:solidFill>
              <a:schemeClr val="accent1"/>
            </a:solidFill>
            <a:prstDash val="solid"/>
          </a:ln>
        </p:spPr>
      </p:sp>
      <p:pic>
        <p:nvPicPr>
          <p:cNvPr id="31" name="Icône FaDatabase" descr="icône">    </p:cNvPr>
          <p:cNvPicPr>
            <a:picLocks noChangeAspect="1"/>
          </p:cNvPicPr>
          <p:nvPr/>
        </p:nvPicPr>
        <p:blipFill>
          <a:blip r:embed="rId5"/>
          <a:stretch>
            <a:fillRect/>
          </a:stretch>
        </p:blipFill>
        <p:spPr>
          <a:xfrm>
            <a:off x="10467137" y="1949501"/>
            <a:ext cx="307238" cy="307238"/>
          </a:xfrm>
          <a:prstGeom prst="rect">
            <a:avLst/>
          </a:prstGeom>
        </p:spPr>
      </p:pic>
      <p:sp>
        <p:nvSpPr>
          <p:cNvPr id="32" name="Text 24"/>
          <p:cNvSpPr txBox="1"/>
          <p:nvPr/>
        </p:nvSpPr>
        <p:spPr>
          <a:xfrm>
            <a:off x="9692640" y="2560320"/>
            <a:ext cx="1856232" cy="548640"/>
          </a:xfrm>
          <a:prstGeom prst="rect">
            <a:avLst/>
          </a:prstGeom>
          <a:noFill/>
          <a:ln/>
        </p:spPr>
        <p:txBody>
          <a:bodyPr wrap="square" lIns="0" tIns="0" rIns="0" bIns="0" rtlCol="0" anchor="ctr"/>
          <a:lstStyle/>
          <a:p>
            <a:pPr algn="ctr" indent="0" marL="0">
              <a:buNone/>
            </a:pPr>
            <a:r>
              <a:rPr lang="en-US" sz="1700" b="1" dirty="0">
                <a:solidFill>
                  <a:schemeClr val="tx1"/>
                </a:solidFill>
              </a:rPr>
              <a:t>RDS Multi-AZ</a:t>
            </a:r>
            <a:endParaRPr lang="en-US" sz="1700" dirty="0"/>
          </a:p>
        </p:txBody>
      </p:sp>
      <p:sp>
        <p:nvSpPr>
          <p:cNvPr id="33" name="Shape 25"/>
          <p:cNvSpPr/>
          <p:nvPr/>
        </p:nvSpPr>
        <p:spPr>
          <a:xfrm>
            <a:off x="9784080" y="3200400"/>
            <a:ext cx="1673352" cy="502920"/>
          </a:xfrm>
          <a:prstGeom prst="roundRect">
            <a:avLst>
              <a:gd name="adj" fmla="val 14545"/>
            </a:avLst>
          </a:prstGeom>
          <a:solidFill>
            <a:schemeClr val="bg1"/>
          </a:solidFill>
          <a:ln w="12700">
            <a:solidFill>
              <a:schemeClr val="accent5"/>
            </a:solidFill>
            <a:prstDash val="solid"/>
          </a:ln>
        </p:spPr>
      </p:sp>
      <p:sp>
        <p:nvSpPr>
          <p:cNvPr id="34" name="Text 26"/>
          <p:cNvSpPr txBox="1"/>
          <p:nvPr/>
        </p:nvSpPr>
        <p:spPr>
          <a:xfrm>
            <a:off x="9784080" y="3200400"/>
            <a:ext cx="1673352" cy="502920"/>
          </a:xfrm>
          <a:prstGeom prst="rect">
            <a:avLst/>
          </a:prstGeom>
          <a:noFill/>
          <a:ln/>
        </p:spPr>
        <p:txBody>
          <a:bodyPr wrap="square" lIns="0" tIns="0" rIns="0" bIns="0" rtlCol="0" anchor="ctr"/>
          <a:lstStyle/>
          <a:p>
            <a:pPr algn="ctr" indent="0" marL="0">
              <a:buNone/>
            </a:pPr>
            <a:r>
              <a:rPr lang="en-US" sz="1400" b="1" dirty="0">
                <a:solidFill>
                  <a:schemeClr val="tx2"/>
                </a:solidFill>
              </a:rPr>
              <a:t>Primaire · Zone A</a:t>
            </a:r>
            <a:endParaRPr lang="en-US" sz="1400" dirty="0"/>
          </a:p>
        </p:txBody>
      </p:sp>
      <p:sp>
        <p:nvSpPr>
          <p:cNvPr id="35" name="Shape 27"/>
          <p:cNvSpPr/>
          <p:nvPr/>
        </p:nvSpPr>
        <p:spPr>
          <a:xfrm>
            <a:off x="9784080" y="3840480"/>
            <a:ext cx="1673352" cy="502920"/>
          </a:xfrm>
          <a:prstGeom prst="roundRect">
            <a:avLst>
              <a:gd name="adj" fmla="val 14545"/>
            </a:avLst>
          </a:prstGeom>
          <a:solidFill>
            <a:schemeClr val="bg1"/>
          </a:solidFill>
          <a:ln w="12700">
            <a:solidFill>
              <a:schemeClr val="accent5"/>
            </a:solidFill>
            <a:prstDash val="solid"/>
          </a:ln>
        </p:spPr>
      </p:sp>
      <p:sp>
        <p:nvSpPr>
          <p:cNvPr id="36" name="Text 28"/>
          <p:cNvSpPr txBox="1"/>
          <p:nvPr/>
        </p:nvSpPr>
        <p:spPr>
          <a:xfrm>
            <a:off x="9784080" y="3840480"/>
            <a:ext cx="1673352" cy="502920"/>
          </a:xfrm>
          <a:prstGeom prst="rect">
            <a:avLst/>
          </a:prstGeom>
          <a:noFill/>
          <a:ln/>
        </p:spPr>
        <p:txBody>
          <a:bodyPr wrap="square" lIns="0" tIns="0" rIns="0" bIns="0" rtlCol="0" anchor="ctr"/>
          <a:lstStyle/>
          <a:p>
            <a:pPr algn="ctr" indent="0" marL="0">
              <a:buNone/>
            </a:pPr>
            <a:r>
              <a:rPr lang="en-US" sz="1400" b="1" dirty="0">
                <a:solidFill>
                  <a:schemeClr val="tx2"/>
                </a:solidFill>
              </a:rPr>
              <a:t>Standby · Zone B</a:t>
            </a:r>
            <a:endParaRPr lang="en-US" sz="1400" dirty="0"/>
          </a:p>
        </p:txBody>
      </p:sp>
      <p:sp>
        <p:nvSpPr>
          <p:cNvPr id="37" name="Shape 29"/>
          <p:cNvSpPr/>
          <p:nvPr/>
        </p:nvSpPr>
        <p:spPr>
          <a:xfrm>
            <a:off x="548640" y="4892040"/>
            <a:ext cx="3515258" cy="1188720"/>
          </a:xfrm>
          <a:prstGeom prst="roundRect">
            <a:avLst>
              <a:gd name="adj" fmla="val 9231"/>
            </a:avLst>
          </a:prstGeom>
          <a:solidFill>
            <a:schemeClr val="tx1"/>
          </a:solidFill>
          <a:ln w="12700">
            <a:solidFill>
              <a:schemeClr val="tx1"/>
            </a:solidFill>
            <a:prstDash val="solid"/>
          </a:ln>
        </p:spPr>
      </p:sp>
      <p:sp>
        <p:nvSpPr>
          <p:cNvPr id="38" name="Text 30"/>
          <p:cNvSpPr txBox="1"/>
          <p:nvPr/>
        </p:nvSpPr>
        <p:spPr>
          <a:xfrm>
            <a:off x="822960" y="4892040"/>
            <a:ext cx="2966618" cy="1188720"/>
          </a:xfrm>
          <a:prstGeom prst="rect">
            <a:avLst/>
          </a:prstGeom>
          <a:noFill/>
          <a:ln/>
        </p:spPr>
        <p:txBody>
          <a:bodyPr wrap="square" lIns="0" tIns="0" rIns="0" bIns="0" rtlCol="0" anchor="ctr"/>
          <a:lstStyle/>
          <a:p>
            <a:pPr indent="0" marL="0">
              <a:buNone/>
            </a:pPr>
            <a:r>
              <a:rPr lang="en-US" sz="1800" dirty="0">
                <a:solidFill>
                  <a:schemeClr val="bg1"/>
                </a:solidFill>
              </a:rPr>
              <a:t>Zone perdue : l'ALB retire les cibles en panne</a:t>
            </a:r>
            <a:endParaRPr lang="en-US" sz="1800" dirty="0"/>
          </a:p>
        </p:txBody>
      </p:sp>
      <p:sp>
        <p:nvSpPr>
          <p:cNvPr id="39" name="Shape 31"/>
          <p:cNvSpPr/>
          <p:nvPr/>
        </p:nvSpPr>
        <p:spPr>
          <a:xfrm>
            <a:off x="4338218" y="4892040"/>
            <a:ext cx="3515258" cy="1188720"/>
          </a:xfrm>
          <a:prstGeom prst="roundRect">
            <a:avLst>
              <a:gd name="adj" fmla="val 9231"/>
            </a:avLst>
          </a:prstGeom>
          <a:solidFill>
            <a:schemeClr val="tx1"/>
          </a:solidFill>
          <a:ln w="12700">
            <a:solidFill>
              <a:schemeClr val="tx1"/>
            </a:solidFill>
            <a:prstDash val="solid"/>
          </a:ln>
        </p:spPr>
      </p:sp>
      <p:sp>
        <p:nvSpPr>
          <p:cNvPr id="40" name="Text 32"/>
          <p:cNvSpPr txBox="1"/>
          <p:nvPr/>
        </p:nvSpPr>
        <p:spPr>
          <a:xfrm>
            <a:off x="4612538" y="4892040"/>
            <a:ext cx="2966618" cy="1188720"/>
          </a:xfrm>
          <a:prstGeom prst="rect">
            <a:avLst/>
          </a:prstGeom>
          <a:noFill/>
          <a:ln/>
        </p:spPr>
        <p:txBody>
          <a:bodyPr wrap="square" lIns="0" tIns="0" rIns="0" bIns="0" rtlCol="0" anchor="ctr"/>
          <a:lstStyle/>
          <a:p>
            <a:pPr indent="0" marL="0">
              <a:buNone/>
            </a:pPr>
            <a:r>
              <a:rPr lang="en-US" sz="1800" dirty="0">
                <a:solidFill>
                  <a:schemeClr val="bg1"/>
                </a:solidFill>
              </a:rPr>
              <a:t>Charge en hausse : Auto Scaling ajoute des instances</a:t>
            </a:r>
            <a:endParaRPr lang="en-US" sz="1800" dirty="0"/>
          </a:p>
        </p:txBody>
      </p:sp>
      <p:sp>
        <p:nvSpPr>
          <p:cNvPr id="41" name="Shape 33"/>
          <p:cNvSpPr/>
          <p:nvPr/>
        </p:nvSpPr>
        <p:spPr>
          <a:xfrm>
            <a:off x="8127797" y="4892040"/>
            <a:ext cx="3515258" cy="1188720"/>
          </a:xfrm>
          <a:prstGeom prst="roundRect">
            <a:avLst>
              <a:gd name="adj" fmla="val 9231"/>
            </a:avLst>
          </a:prstGeom>
          <a:solidFill>
            <a:schemeClr val="tx1"/>
          </a:solidFill>
          <a:ln w="12700">
            <a:solidFill>
              <a:schemeClr val="tx1"/>
            </a:solidFill>
            <a:prstDash val="solid"/>
          </a:ln>
        </p:spPr>
      </p:sp>
      <p:sp>
        <p:nvSpPr>
          <p:cNvPr id="42" name="Text 34"/>
          <p:cNvSpPr txBox="1"/>
          <p:nvPr/>
        </p:nvSpPr>
        <p:spPr>
          <a:xfrm>
            <a:off x="8402117" y="4892040"/>
            <a:ext cx="2966618" cy="1188720"/>
          </a:xfrm>
          <a:prstGeom prst="rect">
            <a:avLst/>
          </a:prstGeom>
          <a:noFill/>
          <a:ln/>
        </p:spPr>
        <p:txBody>
          <a:bodyPr wrap="square" lIns="0" tIns="0" rIns="0" bIns="0" rtlCol="0" anchor="ctr"/>
          <a:lstStyle/>
          <a:p>
            <a:pPr indent="0" marL="0">
              <a:buNone/>
            </a:pPr>
            <a:r>
              <a:rPr lang="en-US" sz="1800" dirty="0">
                <a:solidFill>
                  <a:schemeClr val="bg1"/>
                </a:solidFill>
              </a:rPr>
              <a:t>Base : bascule Multi-AZ automatique</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ALB ou NLB ?</a:t>
            </a:r>
            <a:endParaRPr lang="en-US" sz="3600" dirty="0"/>
          </a:p>
        </p:txBody>
      </p:sp>
      <p:sp>
        <p:nvSpPr>
          <p:cNvPr id="5" name="En-tête ALB : couche 7"/>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ALB : couche 7</a:t>
            </a:r>
            <a:endParaRPr lang="en-US" sz="2200" dirty="0"/>
          </a:p>
        </p:txBody>
      </p:sp>
      <p:sp>
        <p:nvSpPr>
          <p:cNvPr id="7" name="Panneau ALB : couche 7"/>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HTTP, HTTPS, gRPC, WebSocket</a:t>
            </a:r>
            <a:endParaRPr lang="en-US" sz="2200" dirty="0"/>
          </a:p>
          <a:p>
            <a:pPr marL="342900" indent="-342900">
              <a:spcAft>
                <a:spcPts val="1400"/>
              </a:spcAft>
              <a:buSzPct val="100000"/>
              <a:buChar char="•"/>
            </a:pPr>
            <a:r>
              <a:rPr lang="en-US" sz="2200" dirty="0">
                <a:solidFill>
                  <a:schemeClr val="tx1"/>
                </a:solidFill>
              </a:rPr>
              <a:t>Routage par chemin, hôte, en-tête</a:t>
            </a:r>
            <a:endParaRPr lang="en-US" sz="2200" dirty="0"/>
          </a:p>
          <a:p>
            <a:pPr marL="342900" indent="-342900">
              <a:spcAft>
                <a:spcPts val="1400"/>
              </a:spcAft>
              <a:buSzPct val="100000"/>
              <a:buChar char="•"/>
            </a:pPr>
            <a:r>
              <a:rPr lang="en-US" sz="2200" dirty="0">
                <a:solidFill>
                  <a:schemeClr val="tx1"/>
                </a:solidFill>
              </a:rPr>
              <a:t>Cibles : instances, IP, Lambda, ECS</a:t>
            </a:r>
            <a:endParaRPr lang="en-US" sz="2200" dirty="0"/>
          </a:p>
          <a:p>
            <a:pPr marL="342900" indent="-342900">
              <a:spcAft>
                <a:spcPts val="1400"/>
              </a:spcAft>
              <a:buSzPct val="100000"/>
              <a:buChar char="•"/>
            </a:pPr>
            <a:r>
              <a:rPr lang="en-US" sz="2200" dirty="0">
                <a:solidFill>
                  <a:schemeClr val="tx1"/>
                </a:solidFill>
              </a:rPr>
              <a:t>S'associe à WAF</a:t>
            </a:r>
            <a:endParaRPr lang="en-US" sz="2200" dirty="0"/>
          </a:p>
        </p:txBody>
      </p:sp>
      <p:sp>
        <p:nvSpPr>
          <p:cNvPr id="9" name="En-tête NLB : couche 4"/>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NLB : couche 4</a:t>
            </a:r>
            <a:endParaRPr lang="en-US" sz="2200" dirty="0"/>
          </a:p>
        </p:txBody>
      </p:sp>
      <p:sp>
        <p:nvSpPr>
          <p:cNvPr id="11" name="Panneau NLB : couche 4"/>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TCP, UDP, TLS</a:t>
            </a:r>
            <a:endParaRPr lang="en-US" sz="2200" dirty="0"/>
          </a:p>
          <a:p>
            <a:pPr marL="342900" indent="-342900">
              <a:spcAft>
                <a:spcPts val="1400"/>
              </a:spcAft>
              <a:buSzPct val="100000"/>
              <a:buChar char="•"/>
            </a:pPr>
            <a:r>
              <a:rPr lang="en-US" sz="2200" dirty="0">
                <a:solidFill>
                  <a:schemeClr val="tx1"/>
                </a:solidFill>
              </a:rPr>
              <a:t>Latence ultra faible</a:t>
            </a:r>
            <a:endParaRPr lang="en-US" sz="2200" dirty="0"/>
          </a:p>
          <a:p>
            <a:pPr marL="342900" indent="-342900">
              <a:spcAft>
                <a:spcPts val="1400"/>
              </a:spcAft>
              <a:buSzPct val="100000"/>
              <a:buChar char="•"/>
            </a:pPr>
            <a:r>
              <a:rPr lang="en-US" sz="2200" dirty="0">
                <a:solidFill>
                  <a:schemeClr val="tx1"/>
                </a:solidFill>
              </a:rPr>
              <a:t>Une IP statique par zone</a:t>
            </a:r>
            <a:endParaRPr lang="en-US" sz="2200" dirty="0"/>
          </a:p>
          <a:p>
            <a:pPr marL="342900" indent="-342900">
              <a:spcAft>
                <a:spcPts val="1400"/>
              </a:spcAft>
              <a:buSzPct val="100000"/>
              <a:buChar char="•"/>
            </a:pPr>
            <a:r>
              <a:rPr lang="en-US" sz="2200" dirty="0">
                <a:solidFill>
                  <a:schemeClr val="tx1"/>
                </a:solidFill>
              </a:rPr>
              <a:t>Base de PrivateLink</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Dans les deux cas : des health checks, et un certificat ACM gratuit pour le TLS.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Auto Scaling : trois idées</a:t>
            </a:r>
            <a:endParaRPr lang="en-US" sz="3600" dirty="0"/>
          </a:p>
        </p:txBody>
      </p:sp>
      <p:sp>
        <p:nvSpPr>
          <p:cNvPr id="5" name="Carte Min, désiré, max"/>
          <p:cNvSpPr/>
          <p:nvPr/>
        </p:nvSpPr>
        <p:spPr>
          <a:xfrm>
            <a:off x="548640" y="1600200"/>
            <a:ext cx="3515258" cy="3840480"/>
          </a:xfrm>
          <a:prstGeom prst="roundRect">
            <a:avLst>
              <a:gd name="adj" fmla="val 3121"/>
            </a:avLst>
          </a:prstGeom>
          <a:solidFill>
            <a:schemeClr val="bg2"/>
          </a:solidFill>
          <a:ln w="12700">
            <a:solidFill>
              <a:schemeClr val="bg2"/>
            </a:solidFill>
            <a:prstDash val="solid"/>
          </a:ln>
        </p:spPr>
      </p:sp>
      <p:sp>
        <p:nvSpPr>
          <p:cNvPr id="6" name="Pastille FaLayerGroup"/>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LayerGroup"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966618" cy="731520"/>
          </a:xfrm>
          <a:prstGeom prst="rect">
            <a:avLst/>
          </a:prstGeom>
          <a:noFill/>
          <a:ln/>
        </p:spPr>
        <p:txBody>
          <a:bodyPr wrap="square" lIns="0" tIns="0" rIns="0" bIns="0" rtlCol="0" anchor="t"/>
          <a:lstStyle/>
          <a:p>
            <a:pPr indent="0" marL="0">
              <a:buNone/>
            </a:pPr>
            <a:r>
              <a:rPr lang="en-US" sz="2200" b="1" dirty="0">
                <a:solidFill>
                  <a:schemeClr val="tx1"/>
                </a:solidFill>
              </a:rPr>
              <a:t>Min, désiré, max</a:t>
            </a:r>
            <a:endParaRPr lang="en-US" sz="2200" dirty="0"/>
          </a:p>
        </p:txBody>
      </p:sp>
      <p:sp>
        <p:nvSpPr>
          <p:cNvPr id="9" name="Text 5"/>
          <p:cNvSpPr txBox="1"/>
          <p:nvPr/>
        </p:nvSpPr>
        <p:spPr>
          <a:xfrm>
            <a:off x="822960" y="3566160"/>
            <a:ext cx="2966618" cy="1737360"/>
          </a:xfrm>
          <a:prstGeom prst="rect">
            <a:avLst/>
          </a:prstGeom>
          <a:noFill/>
          <a:ln/>
        </p:spPr>
        <p:txBody>
          <a:bodyPr wrap="square" lIns="0" tIns="0" rIns="0" bIns="0" rtlCol="0" anchor="t"/>
          <a:lstStyle/>
          <a:p>
            <a:pPr indent="0" marL="0">
              <a:buNone/>
            </a:pPr>
            <a:r>
              <a:rPr lang="en-US" sz="1900" dirty="0">
                <a:solidFill>
                  <a:schemeClr val="tx2"/>
                </a:solidFill>
              </a:rPr>
              <a:t>Le groupe maintient le nombre d'instances, réparties sur plusieurs zones.</a:t>
            </a:r>
            <a:endParaRPr lang="en-US" sz="1900" dirty="0"/>
          </a:p>
        </p:txBody>
      </p:sp>
      <p:sp>
        <p:nvSpPr>
          <p:cNvPr id="10" name="Carte Target tracking"/>
          <p:cNvSpPr/>
          <p:nvPr/>
        </p:nvSpPr>
        <p:spPr>
          <a:xfrm>
            <a:off x="4338218" y="1600200"/>
            <a:ext cx="3515258" cy="3840480"/>
          </a:xfrm>
          <a:prstGeom prst="roundRect">
            <a:avLst>
              <a:gd name="adj" fmla="val 3121"/>
            </a:avLst>
          </a:prstGeom>
          <a:solidFill>
            <a:schemeClr val="bg2"/>
          </a:solidFill>
          <a:ln w="12700">
            <a:solidFill>
              <a:schemeClr val="bg2"/>
            </a:solidFill>
            <a:prstDash val="solid"/>
          </a:ln>
        </p:spPr>
      </p:sp>
      <p:sp>
        <p:nvSpPr>
          <p:cNvPr id="11" name="Pastille FaBullseye"/>
          <p:cNvSpPr/>
          <p:nvPr/>
        </p:nvSpPr>
        <p:spPr>
          <a:xfrm>
            <a:off x="4612538" y="1874520"/>
            <a:ext cx="685800" cy="685800"/>
          </a:xfrm>
          <a:prstGeom prst="ellipse">
            <a:avLst/>
          </a:prstGeom>
          <a:solidFill>
            <a:schemeClr val="accent3"/>
          </a:solidFill>
          <a:ln w="12700">
            <a:solidFill>
              <a:schemeClr val="accent3"/>
            </a:solidFill>
            <a:prstDash val="solid"/>
          </a:ln>
        </p:spPr>
      </p:sp>
      <p:pic>
        <p:nvPicPr>
          <p:cNvPr id="12" name="Icône FaBullseye" descr="icône">    </p:cNvPr>
          <p:cNvPicPr>
            <a:picLocks noChangeAspect="1"/>
          </p:cNvPicPr>
          <p:nvPr/>
        </p:nvPicPr>
        <p:blipFill>
          <a:blip r:embed="rId2"/>
          <a:stretch>
            <a:fillRect/>
          </a:stretch>
        </p:blipFill>
        <p:spPr>
          <a:xfrm>
            <a:off x="4790846" y="2052828"/>
            <a:ext cx="329184" cy="329184"/>
          </a:xfrm>
          <a:prstGeom prst="rect">
            <a:avLst/>
          </a:prstGeom>
        </p:spPr>
      </p:pic>
      <p:sp>
        <p:nvSpPr>
          <p:cNvPr id="13" name="Text 8"/>
          <p:cNvSpPr txBox="1"/>
          <p:nvPr/>
        </p:nvSpPr>
        <p:spPr>
          <a:xfrm>
            <a:off x="4612538" y="2788920"/>
            <a:ext cx="2966618" cy="731520"/>
          </a:xfrm>
          <a:prstGeom prst="rect">
            <a:avLst/>
          </a:prstGeom>
          <a:noFill/>
          <a:ln/>
        </p:spPr>
        <p:txBody>
          <a:bodyPr wrap="square" lIns="0" tIns="0" rIns="0" bIns="0" rtlCol="0" anchor="t"/>
          <a:lstStyle/>
          <a:p>
            <a:pPr indent="0" marL="0">
              <a:buNone/>
            </a:pPr>
            <a:r>
              <a:rPr lang="en-US" sz="2200" b="1" dirty="0">
                <a:solidFill>
                  <a:schemeClr val="tx1"/>
                </a:solidFill>
              </a:rPr>
              <a:t>Target tracking</a:t>
            </a:r>
            <a:endParaRPr lang="en-US" sz="2200" dirty="0"/>
          </a:p>
        </p:txBody>
      </p:sp>
      <p:sp>
        <p:nvSpPr>
          <p:cNvPr id="14" name="Text 9"/>
          <p:cNvSpPr txBox="1"/>
          <p:nvPr/>
        </p:nvSpPr>
        <p:spPr>
          <a:xfrm>
            <a:off x="4612538" y="3566160"/>
            <a:ext cx="2966618" cy="1737360"/>
          </a:xfrm>
          <a:prstGeom prst="rect">
            <a:avLst/>
          </a:prstGeom>
          <a:noFill/>
          <a:ln/>
        </p:spPr>
        <p:txBody>
          <a:bodyPr wrap="square" lIns="0" tIns="0" rIns="0" bIns="0" rtlCol="0" anchor="t"/>
          <a:lstStyle/>
          <a:p>
            <a:pPr indent="0" marL="0">
              <a:buNone/>
            </a:pPr>
            <a:r>
              <a:rPr lang="en-US" sz="1900" dirty="0">
                <a:solidFill>
                  <a:schemeClr val="tx2"/>
                </a:solidFill>
              </a:rPr>
              <a:t>On fixe une cible, par exemple 100 requêtes par instance. AWS ajuste.</a:t>
            </a:r>
            <a:endParaRPr lang="en-US" sz="1900" dirty="0"/>
          </a:p>
        </p:txBody>
      </p:sp>
      <p:sp>
        <p:nvSpPr>
          <p:cNvPr id="15" name="Carte Instance refresh"/>
          <p:cNvSpPr/>
          <p:nvPr/>
        </p:nvSpPr>
        <p:spPr>
          <a:xfrm>
            <a:off x="8127797" y="1600200"/>
            <a:ext cx="3515258" cy="3840480"/>
          </a:xfrm>
          <a:prstGeom prst="roundRect">
            <a:avLst>
              <a:gd name="adj" fmla="val 3121"/>
            </a:avLst>
          </a:prstGeom>
          <a:solidFill>
            <a:schemeClr val="bg2"/>
          </a:solidFill>
          <a:ln w="12700">
            <a:solidFill>
              <a:schemeClr val="bg2"/>
            </a:solidFill>
            <a:prstDash val="solid"/>
          </a:ln>
        </p:spPr>
      </p:sp>
      <p:sp>
        <p:nvSpPr>
          <p:cNvPr id="16" name="Pastille FaSyncAlt"/>
          <p:cNvSpPr/>
          <p:nvPr/>
        </p:nvSpPr>
        <p:spPr>
          <a:xfrm>
            <a:off x="8402117" y="1874520"/>
            <a:ext cx="685800" cy="685800"/>
          </a:xfrm>
          <a:prstGeom prst="ellipse">
            <a:avLst/>
          </a:prstGeom>
          <a:solidFill>
            <a:schemeClr val="accent2"/>
          </a:solidFill>
          <a:ln w="12700">
            <a:solidFill>
              <a:schemeClr val="accent2"/>
            </a:solidFill>
            <a:prstDash val="solid"/>
          </a:ln>
        </p:spPr>
      </p:sp>
      <p:pic>
        <p:nvPicPr>
          <p:cNvPr id="17" name="Icône FaSyncAlt" descr="icône">    </p:cNvPr>
          <p:cNvPicPr>
            <a:picLocks noChangeAspect="1"/>
          </p:cNvPicPr>
          <p:nvPr/>
        </p:nvPicPr>
        <p:blipFill>
          <a:blip r:embed="rId3"/>
          <a:stretch>
            <a:fillRect/>
          </a:stretch>
        </p:blipFill>
        <p:spPr>
          <a:xfrm>
            <a:off x="8580425" y="2052828"/>
            <a:ext cx="329184" cy="329184"/>
          </a:xfrm>
          <a:prstGeom prst="rect">
            <a:avLst/>
          </a:prstGeom>
        </p:spPr>
      </p:pic>
      <p:sp>
        <p:nvSpPr>
          <p:cNvPr id="18" name="Text 12"/>
          <p:cNvSpPr txBox="1"/>
          <p:nvPr/>
        </p:nvSpPr>
        <p:spPr>
          <a:xfrm>
            <a:off x="8402117" y="2788920"/>
            <a:ext cx="2966618" cy="731520"/>
          </a:xfrm>
          <a:prstGeom prst="rect">
            <a:avLst/>
          </a:prstGeom>
          <a:noFill/>
          <a:ln/>
        </p:spPr>
        <p:txBody>
          <a:bodyPr wrap="square" lIns="0" tIns="0" rIns="0" bIns="0" rtlCol="0" anchor="t"/>
          <a:lstStyle/>
          <a:p>
            <a:pPr indent="0" marL="0">
              <a:buNone/>
            </a:pPr>
            <a:r>
              <a:rPr lang="en-US" sz="2200" b="1" dirty="0">
                <a:solidFill>
                  <a:schemeClr val="tx1"/>
                </a:solidFill>
              </a:rPr>
              <a:t>Instance refresh</a:t>
            </a:r>
            <a:endParaRPr lang="en-US" sz="2200" dirty="0"/>
          </a:p>
        </p:txBody>
      </p:sp>
      <p:sp>
        <p:nvSpPr>
          <p:cNvPr id="19" name="Text 13"/>
          <p:cNvSpPr txBox="1"/>
          <p:nvPr/>
        </p:nvSpPr>
        <p:spPr>
          <a:xfrm>
            <a:off x="8402117" y="3566160"/>
            <a:ext cx="2966618" cy="1737360"/>
          </a:xfrm>
          <a:prstGeom prst="rect">
            <a:avLst/>
          </a:prstGeom>
          <a:noFill/>
          <a:ln/>
        </p:spPr>
        <p:txBody>
          <a:bodyPr wrap="square" lIns="0" tIns="0" rIns="0" bIns="0" rtlCol="0" anchor="t"/>
          <a:lstStyle/>
          <a:p>
            <a:pPr indent="0" marL="0">
              <a:buNone/>
            </a:pPr>
            <a:r>
              <a:rPr lang="en-US" sz="1900" dirty="0">
                <a:solidFill>
                  <a:schemeClr val="tx2"/>
                </a:solidFill>
              </a:rPr>
              <a:t>Déploiement progressif d'une nouvelle AMI, sans interruption.</a:t>
            </a:r>
            <a:endParaRPr lang="en-US" sz="1900" dirty="0"/>
          </a:p>
        </p:txBody>
      </p:sp>
      <p:sp>
        <p:nvSpPr>
          <p:cNvPr id="20"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1"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2" name="Icône FaLightbulb" descr="icône">    </p:cNvPr>
          <p:cNvPicPr>
            <a:picLocks noChangeAspect="1"/>
          </p:cNvPicPr>
          <p:nvPr/>
        </p:nvPicPr>
        <p:blipFill>
          <a:blip r:embed="rId4"/>
          <a:stretch>
            <a:fillRect/>
          </a:stretch>
        </p:blipFill>
        <p:spPr>
          <a:xfrm>
            <a:off x="799917" y="5801685"/>
            <a:ext cx="210678" cy="210678"/>
          </a:xfrm>
          <a:prstGeom prst="rect">
            <a:avLst/>
          </a:prstGeom>
        </p:spPr>
      </p:pic>
      <p:sp>
        <p:nvSpPr>
          <p:cNvPr id="23"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Principe d'architecture : instances sans état et jetables. Sessions dans ElastiCache, fichiers dans S3.</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DNS et distribution mondiale</a:t>
            </a:r>
            <a:endParaRPr lang="en-US" sz="3600" dirty="0"/>
          </a:p>
        </p:txBody>
      </p:sp>
      <p:sp>
        <p:nvSpPr>
          <p:cNvPr id="5" name="Carte Route 53"/>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Glob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Globe"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Route 53</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DNS managé. Politiques : pondéré, latence, failover, géolocalisation.</a:t>
            </a:r>
            <a:endParaRPr lang="en-US" sz="1900" dirty="0"/>
          </a:p>
        </p:txBody>
      </p:sp>
      <p:sp>
        <p:nvSpPr>
          <p:cNvPr id="10" name="Carte Alias"/>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Link"/>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Link"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Alias</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Pointe vers ALB ou CloudFront, autorisé à l'apex, gratuit.</a:t>
            </a:r>
            <a:endParaRPr lang="en-US" sz="1900" dirty="0"/>
          </a:p>
        </p:txBody>
      </p:sp>
      <p:sp>
        <p:nvSpPr>
          <p:cNvPr id="15" name="Carte CloudFront"/>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Rocket"/>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Rocket"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CloudFront</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CDN : cache, HTTPS, bucket S3 privé via OAC. Certificat en us-east-1.</a:t>
            </a:r>
            <a:endParaRPr lang="en-US" sz="1900" dirty="0"/>
          </a:p>
        </p:txBody>
      </p:sp>
      <p:sp>
        <p:nvSpPr>
          <p:cNvPr id="20" name="Carte WAF et Shield"/>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ShieldAl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ShieldAl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WAF et Shield</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Filtrage applicatif et protection DDoS en bordure.</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07 : une application hautement disponible</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ALB et Auto Scaling sur 2 zones, page qui affiche la zone, scaling par requêtes, puis CloudFront devant.</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rafraîchir : la zone alterne</a:t>
            </a:r>
            <a:endParaRPr lang="en-US" sz="1800" dirty="0"/>
          </a:p>
          <a:p>
            <a:pPr marL="342900" indent="-342900">
              <a:spcAft>
                <a:spcPts val="800"/>
              </a:spcAft>
              <a:buSzPct val="100000"/>
              <a:buFont typeface="+mj-lt"/>
              <a:buAutoNum type="arabicPeriod" startAt="1"/>
            </a:pPr>
            <a:r>
              <a:rPr lang="en-US" sz="1800" dirty="0">
                <a:solidFill>
                  <a:schemeClr val="tx1"/>
                </a:solidFill>
              </a:rPr>
              <a:t>Terminer une instance, mesurer la remédiation</a:t>
            </a:r>
            <a:endParaRPr lang="en-US" sz="1800" dirty="0"/>
          </a:p>
          <a:p>
            <a:pPr marL="342900" indent="-342900">
              <a:spcAft>
                <a:spcPts val="800"/>
              </a:spcAft>
              <a:buSzPct val="100000"/>
              <a:buFont typeface="+mj-lt"/>
              <a:buAutoNum type="arabicPeriod" startAt="1"/>
            </a:pPr>
            <a:r>
              <a:rPr lang="en-US" sz="1800" dirty="0">
                <a:solidFill>
                  <a:schemeClr val="tx1"/>
                </a:solidFill>
              </a:rPr>
              <a:t>Charger avec hey et observer le scale-out</a:t>
            </a:r>
            <a:endParaRPr lang="en-US" sz="1800" dirty="0"/>
          </a:p>
          <a:p>
            <a:pPr marL="342900" indent="-342900">
              <a:spcAft>
                <a:spcPts val="800"/>
              </a:spcAft>
              <a:buSzPct val="100000"/>
              <a:buFont typeface="+mj-lt"/>
              <a:buAutoNum type="arabicPeriod" startAt="1"/>
            </a:pPr>
            <a:r>
              <a:rPr lang="en-US" sz="1800" dirty="0">
                <a:solidFill>
                  <a:schemeClr val="tx1"/>
                </a:solidFill>
              </a:rPr>
              <a:t>Changer le user-data et lancer un instance refresh</a:t>
            </a:r>
            <a:endParaRPr lang="en-US" sz="1800" dirty="0"/>
          </a:p>
          <a:p>
            <a:pPr marL="342900" indent="-342900">
              <a:spcAft>
                <a:spcPts val="800"/>
              </a:spcAft>
              <a:buSzPct val="100000"/>
              <a:buFont typeface="+mj-lt"/>
              <a:buAutoNum type="arabicPeriod" startAt="1"/>
            </a:pPr>
            <a:r>
              <a:rPr lang="en-US" sz="1800" dirty="0">
                <a:solidFill>
                  <a:schemeClr val="tx1"/>
                </a:solidFill>
              </a:rPr>
              <a:t>Comparer les en-têtes via CloudFront</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Aucune erreur 5xx pendant la terminaison d'une instance.</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Payant : ALB et instances</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07-haute-dispo-et-edge/labs/lab-ha-web</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07 · HAUTE DISPONIBILITÉ ET EDGE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Au moins 2 zones pour chaque tier</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ALB pour le HTTP, NLB pour le TCP et les IP fixes</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Target tracking, instances jetables, health checks partout</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métrique cible pour scaler selon le trafic HTTP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différence entre Alias et CNAME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CloudFront devant S3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08</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Serverless et messaging</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Lambda et API Gateway</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Découpler avec SQS, SNS et EventBridge</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Orchestrer avec Step Functions</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Limites, DLQ et idempotence</a:t>
            </a:r>
            <a:endParaRPr lang="en-US" sz="1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SERVERLESS ET MESSAGING</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Lambda : les limites à connaître</a:t>
            </a:r>
            <a:endParaRPr lang="en-US" sz="3600" dirty="0"/>
          </a:p>
        </p:txBody>
      </p:sp>
      <p:sp>
        <p:nvSpPr>
          <p:cNvPr id="5" name="Carte chiffre"/>
          <p:cNvSpPr/>
          <p:nvPr/>
        </p:nvSpPr>
        <p:spPr>
          <a:xfrm>
            <a:off x="548640" y="1691640"/>
            <a:ext cx="3515258" cy="3566160"/>
          </a:xfrm>
          <a:prstGeom prst="roundRect">
            <a:avLst>
              <a:gd name="adj" fmla="val 3902"/>
            </a:avLst>
          </a:prstGeom>
          <a:solidFill>
            <a:schemeClr val="bg2"/>
          </a:solidFill>
          <a:ln w="12700">
            <a:solidFill>
              <a:schemeClr val="bg2"/>
            </a:solidFill>
            <a:prstDash val="solid"/>
          </a:ln>
        </p:spPr>
      </p:sp>
      <p:sp>
        <p:nvSpPr>
          <p:cNvPr id="6" name="Chiffre"/>
          <p:cNvSpPr txBox="1"/>
          <p:nvPr/>
        </p:nvSpPr>
        <p:spPr>
          <a:xfrm>
            <a:off x="731520" y="2103120"/>
            <a:ext cx="3149498"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15 min</a:t>
            </a:r>
            <a:endParaRPr lang="en-US" sz="6000" dirty="0"/>
          </a:p>
        </p:txBody>
      </p:sp>
      <p:sp>
        <p:nvSpPr>
          <p:cNvPr id="7" name="Text 4"/>
          <p:cNvSpPr txBox="1"/>
          <p:nvPr/>
        </p:nvSpPr>
        <p:spPr>
          <a:xfrm>
            <a:off x="822960" y="3611880"/>
            <a:ext cx="2966618" cy="1280160"/>
          </a:xfrm>
          <a:prstGeom prst="rect">
            <a:avLst/>
          </a:prstGeom>
          <a:noFill/>
          <a:ln/>
        </p:spPr>
        <p:txBody>
          <a:bodyPr wrap="square" lIns="0" tIns="0" rIns="0" bIns="0" rtlCol="0" anchor="t"/>
          <a:lstStyle/>
          <a:p>
            <a:pPr algn="ctr" indent="0" marL="0">
              <a:buNone/>
            </a:pPr>
            <a:r>
              <a:rPr lang="en-US" sz="2000" dirty="0">
                <a:solidFill>
                  <a:schemeClr val="tx2"/>
                </a:solidFill>
              </a:rPr>
              <a:t>durée maximale d'une exécution</a:t>
            </a:r>
            <a:endParaRPr lang="en-US" sz="2000" dirty="0"/>
          </a:p>
        </p:txBody>
      </p:sp>
      <p:sp>
        <p:nvSpPr>
          <p:cNvPr id="8" name="Carte chiffre"/>
          <p:cNvSpPr/>
          <p:nvPr/>
        </p:nvSpPr>
        <p:spPr>
          <a:xfrm>
            <a:off x="4338218" y="1691640"/>
            <a:ext cx="3515258" cy="3566160"/>
          </a:xfrm>
          <a:prstGeom prst="roundRect">
            <a:avLst>
              <a:gd name="adj" fmla="val 3902"/>
            </a:avLst>
          </a:prstGeom>
          <a:solidFill>
            <a:schemeClr val="bg2"/>
          </a:solidFill>
          <a:ln w="12700">
            <a:solidFill>
              <a:schemeClr val="bg2"/>
            </a:solidFill>
            <a:prstDash val="solid"/>
          </a:ln>
        </p:spPr>
      </p:sp>
      <p:sp>
        <p:nvSpPr>
          <p:cNvPr id="9" name="Chiffre"/>
          <p:cNvSpPr txBox="1"/>
          <p:nvPr/>
        </p:nvSpPr>
        <p:spPr>
          <a:xfrm>
            <a:off x="4521098" y="2103120"/>
            <a:ext cx="3149498"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10 Go</a:t>
            </a:r>
            <a:endParaRPr lang="en-US" sz="6000" dirty="0"/>
          </a:p>
        </p:txBody>
      </p:sp>
      <p:sp>
        <p:nvSpPr>
          <p:cNvPr id="10" name="Text 7"/>
          <p:cNvSpPr txBox="1"/>
          <p:nvPr/>
        </p:nvSpPr>
        <p:spPr>
          <a:xfrm>
            <a:off x="4612538" y="3611880"/>
            <a:ext cx="2966618" cy="1280160"/>
          </a:xfrm>
          <a:prstGeom prst="rect">
            <a:avLst/>
          </a:prstGeom>
          <a:noFill/>
          <a:ln/>
        </p:spPr>
        <p:txBody>
          <a:bodyPr wrap="square" lIns="0" tIns="0" rIns="0" bIns="0" rtlCol="0" anchor="t"/>
          <a:lstStyle/>
          <a:p>
            <a:pPr algn="ctr" indent="0" marL="0">
              <a:buNone/>
            </a:pPr>
            <a:r>
              <a:rPr lang="en-US" sz="2000" dirty="0">
                <a:solidFill>
                  <a:schemeClr val="tx2"/>
                </a:solidFill>
              </a:rPr>
              <a:t>mémoire maximale, CPU proportionnel</a:t>
            </a:r>
            <a:endParaRPr lang="en-US" sz="2000" dirty="0"/>
          </a:p>
        </p:txBody>
      </p:sp>
      <p:sp>
        <p:nvSpPr>
          <p:cNvPr id="11" name="Carte chiffre"/>
          <p:cNvSpPr/>
          <p:nvPr/>
        </p:nvSpPr>
        <p:spPr>
          <a:xfrm>
            <a:off x="8127797" y="1691640"/>
            <a:ext cx="3515258" cy="3566160"/>
          </a:xfrm>
          <a:prstGeom prst="roundRect">
            <a:avLst>
              <a:gd name="adj" fmla="val 3902"/>
            </a:avLst>
          </a:prstGeom>
          <a:solidFill>
            <a:schemeClr val="bg2"/>
          </a:solidFill>
          <a:ln w="12700">
            <a:solidFill>
              <a:schemeClr val="bg2"/>
            </a:solidFill>
            <a:prstDash val="solid"/>
          </a:ln>
        </p:spPr>
      </p:sp>
      <p:sp>
        <p:nvSpPr>
          <p:cNvPr id="12" name="Chiffre"/>
          <p:cNvSpPr txBox="1"/>
          <p:nvPr/>
        </p:nvSpPr>
        <p:spPr>
          <a:xfrm>
            <a:off x="8310677" y="2103120"/>
            <a:ext cx="3149498" cy="13716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1 000</a:t>
            </a:r>
            <a:endParaRPr lang="en-US" sz="6000" dirty="0"/>
          </a:p>
        </p:txBody>
      </p:sp>
      <p:sp>
        <p:nvSpPr>
          <p:cNvPr id="13" name="Text 10"/>
          <p:cNvSpPr txBox="1"/>
          <p:nvPr/>
        </p:nvSpPr>
        <p:spPr>
          <a:xfrm>
            <a:off x="8402117" y="3611880"/>
            <a:ext cx="2966618" cy="1280160"/>
          </a:xfrm>
          <a:prstGeom prst="rect">
            <a:avLst/>
          </a:prstGeom>
          <a:noFill/>
          <a:ln/>
        </p:spPr>
        <p:txBody>
          <a:bodyPr wrap="square" lIns="0" tIns="0" rIns="0" bIns="0" rtlCol="0" anchor="t"/>
          <a:lstStyle/>
          <a:p>
            <a:pPr algn="ctr" indent="0" marL="0">
              <a:buNone/>
            </a:pPr>
            <a:r>
              <a:rPr lang="en-US" sz="2000" dirty="0">
                <a:solidFill>
                  <a:schemeClr val="tx2"/>
                </a:solidFill>
              </a:rPr>
              <a:t>exécutions simultanées par région (défaut, relevable)</a:t>
            </a:r>
            <a:endParaRPr lang="en-US" sz="2000" dirty="0"/>
          </a:p>
        </p:txBody>
      </p:sp>
      <p:sp>
        <p:nvSpPr>
          <p:cNvPr id="1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Plus long que 15 minutes : Step Functions, Fargate ou Batch.</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SERVERLESS ET MESSAGING</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L'API du labo : de la requête au worker</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API Gateway</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Reçoit POST /tasks (HTTP API)</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Lambda api</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Valide, écrit dans DynamoDB</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SNS</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Publie l'événement tâche créée</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SQS + DLQ</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File avec 3 essais puis DLQ</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Lambda worker</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Traite par lot, rapporte les échecs</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Synchrone jusqu'à la réponse, asynchrone ensuite : l'utilisateur n'attend pas le traitement.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SERVERLESS ET MESSAGING</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SQS, SNS, EventBridge ou Kinesis ?</a:t>
            </a:r>
            <a:endParaRPr lang="en-US" sz="3600" dirty="0"/>
          </a:p>
        </p:txBody>
      </p:sp>
      <p:graphicFrame>
        <p:nvGraphicFramePr>
          <p:cNvPr id="64"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2743200"/>
                <a:gridCol w="5605272"/>
              </a:tblGrid>
              <a:tr h="63246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Service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Modèle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À retenir</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SQS Standard</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File, pull</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Débit illimité, at-least-once, ordre non garanti</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SQS FIFO</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File ordonnée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Ordre et exactly-once, débit plus limité</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SNS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Pub/Sub, push</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Fan-out vers files, Lambda, e-mail</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EventBridge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Bus d'événements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Règles à motifs, sources SaaS, Scheduler, rejeu</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Kinesis Data Streams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Flux partitionné</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Ordonné, rejouable, plusieurs consommateurs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Patron fan-out : un topic SNS vers plusieurs files SQS, chaque consommateur à son rythme.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SERVERLESS ET MESSAGING</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08 : une API de tâches serverless</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POST /tasks et GET /tasks/{id} sur API Gateway, Lambda et DynamoDB, avec publication SNS et worker SQS.</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puis créer une tâche avec curl</a:t>
            </a:r>
            <a:endParaRPr lang="en-US" sz="1800" dirty="0"/>
          </a:p>
          <a:p>
            <a:pPr marL="342900" indent="-342900">
              <a:spcAft>
                <a:spcPts val="800"/>
              </a:spcAft>
              <a:buSzPct val="100000"/>
              <a:buFont typeface="+mj-lt"/>
              <a:buAutoNum type="arabicPeriod" startAt="1"/>
            </a:pPr>
            <a:r>
              <a:rPr lang="en-US" sz="1800" dirty="0">
                <a:solidFill>
                  <a:schemeClr val="tx1"/>
                </a:solidFill>
              </a:rPr>
              <a:t>Suivre les logs du worker</a:t>
            </a:r>
            <a:endParaRPr lang="en-US" sz="1800" dirty="0"/>
          </a:p>
          <a:p>
            <a:pPr marL="342900" indent="-342900">
              <a:spcAft>
                <a:spcPts val="800"/>
              </a:spcAft>
              <a:buSzPct val="100000"/>
              <a:buFont typeface="+mj-lt"/>
              <a:buAutoNum type="arabicPeriod" startAt="1"/>
            </a:pPr>
            <a:r>
              <a:rPr lang="en-US" sz="1800" dirty="0">
                <a:solidFill>
                  <a:schemeClr val="tx1"/>
                </a:solidFill>
              </a:rPr>
              <a:t>Publier un message {fail:true} : voir la DLQ</a:t>
            </a:r>
            <a:endParaRPr lang="en-US" sz="1800" dirty="0"/>
          </a:p>
          <a:p>
            <a:pPr marL="342900" indent="-342900">
              <a:spcAft>
                <a:spcPts val="800"/>
              </a:spcAft>
              <a:buSzPct val="100000"/>
              <a:buFont typeface="+mj-lt"/>
              <a:buAutoNum type="arabicPeriod" startAt="1"/>
            </a:pPr>
            <a:r>
              <a:rPr lang="en-US" sz="1800" dirty="0">
                <a:solidFill>
                  <a:schemeClr val="tx1"/>
                </a:solidFill>
              </a:rPr>
              <a:t>Mesurer le cold start dans les logs REPORT</a:t>
            </a:r>
            <a:endParaRPr lang="en-US" sz="1800" dirty="0"/>
          </a:p>
          <a:p>
            <a:pPr marL="342900" indent="-342900">
              <a:spcAft>
                <a:spcPts val="800"/>
              </a:spcAft>
              <a:buSzPct val="100000"/>
              <a:buFont typeface="+mj-lt"/>
              <a:buAutoNum type="arabicPeriod" startAt="1"/>
            </a:pPr>
            <a:r>
              <a:rPr lang="en-US" sz="1800" dirty="0">
                <a:solidFill>
                  <a:schemeClr val="tx1"/>
                </a:solidFill>
              </a:rPr>
              <a:t>Défi : un Scheduler de nettoyage nocturne</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Vous décrivez le chemin d'un message et où il peut échouer.</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08-serverless-et-messaging/labs/lab-serverless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08 · SERVERLESS ET MESSAGING</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Lambda : 15 minutes max, événementiel, idempotent</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Découpler avec SQS, diffuser avec SNS, router avec EventBridge</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Toujours une DLQ</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combiner SNS et SQS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 garantit une file FIFO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éviter le cold start d'un endpoint critique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09</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Conteneurs : ECR, ECS, EKS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2 jours</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Stocker et scanner les images avec ECR</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Déployer sur ECS Fargate</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Comprendre EKS côté AWS</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ECS, EKS ou Lambda</a:t>
            </a:r>
            <a:endParaRPr lang="en-US" sz="1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CONTENEURS : ECR, ECS, EKS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ECS, EKS ou Lambda ?</a:t>
            </a:r>
            <a:endParaRPr lang="en-US" sz="3600" dirty="0"/>
          </a:p>
        </p:txBody>
      </p:sp>
      <p:graphicFrame>
        <p:nvGraphicFramePr>
          <p:cNvPr id="68"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651760"/>
                <a:gridCol w="2743200"/>
                <a:gridCol w="3108960"/>
                <a:gridCol w="2587752"/>
              </a:tblGrid>
              <a:tr h="758952">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Critère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ECS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EKS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Lambda</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Complexité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Faible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Élevée (Kubernetes)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Très faible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Portabilité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AWS uniquement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Standard K8s, multi-cloud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AWS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Cas typique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Services web, API, workers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Plateforme multi-équipes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Événements courts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Coût de contrôle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0</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0,10 $/h par cluster</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À l'usage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Calcul : Fargate (aucun serveur à gérer) ou EC2 (contrôle, GPU, Spot).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CONTENEURS : ECR, ECS, EKS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ECS : les objets à connaître</a:t>
            </a:r>
            <a:endParaRPr lang="en-US" sz="3600" dirty="0"/>
          </a:p>
        </p:txBody>
      </p:sp>
      <p:sp>
        <p:nvSpPr>
          <p:cNvPr id="5" name="Carte Task Definition"/>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FileCod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FileCode"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Task Definition</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Plan versionné : image, CPU, mémoire, ports, logs.</a:t>
            </a:r>
            <a:endParaRPr lang="en-US" sz="1900" dirty="0"/>
          </a:p>
        </p:txBody>
      </p:sp>
      <p:sp>
        <p:nvSpPr>
          <p:cNvPr id="10" name="Carte Service"/>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Server"/>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Server"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Service</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Maintient N tâches, les enregistre dans le target group, déploie.</a:t>
            </a:r>
            <a:endParaRPr lang="en-US" sz="1900" dirty="0"/>
          </a:p>
        </p:txBody>
      </p:sp>
      <p:sp>
        <p:nvSpPr>
          <p:cNvPr id="15" name="Carte Execution role"/>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UserCog"/>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UserCog"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Execution role</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Utilisé par ECS : tirer l'image ECR, écrire les logs, lire les secrets.</a:t>
            </a:r>
            <a:endParaRPr lang="en-US" sz="1900" dirty="0"/>
          </a:p>
        </p:txBody>
      </p:sp>
      <p:sp>
        <p:nvSpPr>
          <p:cNvPr id="20" name="Carte Task role"/>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IdBadge"/>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IdBadge"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Task role</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Permissions de votre application : S3, DynamoDB…</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Confusion fréquente : mettre les droits applicatifs sur l'execution role au lieu du task role.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CONTENEURS : ECR, ECS, EKS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Du code au service en production</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Build</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Image minimale, utilisateur non-root</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Scan</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Vulnérabilités à chaque push (ECR, Trivy)</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Push ECR</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Tag = SHA du commit, tags immuables</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Déployer</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Rolling avec circuit breaker, ou blue/green</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Rollback</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Automatique si les health checks échouent</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Jamais de tag latest en production : non traçable, retour arrière impossible.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CONTENEURS : ECR, ECS, EKS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09 : un service ECS Fargate</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Déployer une API sur ECS Fargate derrière un ALB : 2 tâches, logs, autoscaling CPU et circuit breaker.</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puis curl sur l'ALB</a:t>
            </a:r>
            <a:endParaRPr lang="en-US" sz="1800" dirty="0"/>
          </a:p>
          <a:p>
            <a:pPr marL="342900" indent="-342900">
              <a:spcAft>
                <a:spcPts val="800"/>
              </a:spcAft>
              <a:buSzPct val="100000"/>
              <a:buFont typeface="+mj-lt"/>
              <a:buAutoNum type="arabicPeriod" startAt="1"/>
            </a:pPr>
            <a:r>
              <a:rPr lang="en-US" sz="1800" dirty="0">
                <a:solidFill>
                  <a:schemeClr val="tx1"/>
                </a:solidFill>
              </a:rPr>
              <a:t>Construire l'image, la pousser dans ECR</a:t>
            </a:r>
            <a:endParaRPr lang="en-US" sz="1800" dirty="0"/>
          </a:p>
          <a:p>
            <a:pPr marL="342900" indent="-342900">
              <a:spcAft>
                <a:spcPts val="800"/>
              </a:spcAft>
              <a:buSzPct val="100000"/>
              <a:buFont typeface="+mj-lt"/>
              <a:buAutoNum type="arabicPeriod" startAt="1"/>
            </a:pPr>
            <a:r>
              <a:rPr lang="en-US" sz="1800" dirty="0">
                <a:solidFill>
                  <a:schemeClr val="tx1"/>
                </a:solidFill>
              </a:rPr>
              <a:t>Redéployer avec l'image du labo</a:t>
            </a:r>
            <a:endParaRPr lang="en-US" sz="1800" dirty="0"/>
          </a:p>
          <a:p>
            <a:pPr marL="342900" indent="-342900">
              <a:spcAft>
                <a:spcPts val="800"/>
              </a:spcAft>
              <a:buSzPct val="100000"/>
              <a:buFont typeface="+mj-lt"/>
              <a:buAutoNum type="arabicPeriod" startAt="1"/>
            </a:pPr>
            <a:r>
              <a:rPr lang="en-US" sz="1800" dirty="0">
                <a:solidFill>
                  <a:schemeClr val="tx1"/>
                </a:solidFill>
              </a:rPr>
              <a:t>Casser l'image : constater le rollback</a:t>
            </a:r>
            <a:endParaRPr lang="en-US" sz="1800" dirty="0"/>
          </a:p>
          <a:p>
            <a:pPr marL="342900" indent="-342900">
              <a:spcAft>
                <a:spcPts val="800"/>
              </a:spcAft>
              <a:buSzPct val="100000"/>
              <a:buFont typeface="+mj-lt"/>
              <a:buAutoNum type="arabicPeriod" startAt="1"/>
            </a:pPr>
            <a:r>
              <a:rPr lang="en-US" sz="1800" dirty="0">
                <a:solidFill>
                  <a:schemeClr val="tx1"/>
                </a:solidFill>
              </a:rPr>
              <a:t>Ouvrir un shell avec ECS Exec</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Zéro interruption pendant un déploiement, rollback constaté.</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Payant : Fargate et ALB</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09-conteneurs/labs/lab-ecs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09 · CONTENEURS : ECR, ECS, EKS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ECS/Fargate simple, EKS pour l'écosystème Kubernetes</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Task role pour l'appli, execution role pour ECS</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Circuit breaker pour un rollback automatique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Différence entre task role et execution role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donner à un pod EKS l'accès à S3 sans clé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éviter le tag latest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10</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Infrastructure as Code</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2 jours</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Pourquoi décrire l'infrastructure en code</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CloudFormation et CDK</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Terraform : state, modules, backend</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Qualité et sécurité de l'IaC</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Pourquoi l'IaC ?</a:t>
            </a:r>
            <a:endParaRPr lang="en-US" sz="3600" dirty="0"/>
          </a:p>
        </p:txBody>
      </p:sp>
      <p:sp>
        <p:nvSpPr>
          <p:cNvPr id="5" name="Carte Reproductible"/>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Copy"/>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Copy"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Reproductible</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Mêmes environnements, de dev à prod.</a:t>
            </a:r>
            <a:endParaRPr lang="en-US" sz="1900" dirty="0"/>
          </a:p>
        </p:txBody>
      </p:sp>
      <p:sp>
        <p:nvSpPr>
          <p:cNvPr id="10" name="Carte Versionné"/>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CodeBranch"/>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CodeBranch"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Versionné</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Pull requests, historique, retour arrière.</a:t>
            </a:r>
            <a:endParaRPr lang="en-US" sz="1900" dirty="0"/>
          </a:p>
        </p:txBody>
      </p:sp>
      <p:sp>
        <p:nvSpPr>
          <p:cNvPr id="15" name="Carte Détection de dérive"/>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Search"/>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Search"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Détection de dérive</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On repère les modifications manuelles.</a:t>
            </a:r>
            <a:endParaRPr lang="en-US" sz="1900" dirty="0"/>
          </a:p>
        </p:txBody>
      </p:sp>
      <p:sp>
        <p:nvSpPr>
          <p:cNvPr id="20" name="Carte Reprise rapide"/>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FirstAid"/>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FirstAid"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Reprise rapide</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Reconstruire une plateforme en quelques minutes.</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Principes : déclaratif, idempotent, immuable, versionné, testé, modulaire.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CloudFormation : un template minimal</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Parameters, Conditions, Resources, Outputs</a:t>
            </a:r>
            <a:endParaRPr lang="en-US" sz="2000" dirty="0"/>
          </a:p>
          <a:p>
            <a:pPr marL="342900" indent="-342900">
              <a:spcAft>
                <a:spcPts val="1600"/>
              </a:spcAft>
              <a:buSzPct val="100000"/>
              <a:buChar char="•"/>
            </a:pPr>
            <a:r>
              <a:rPr lang="en-US" sz="2000" dirty="0">
                <a:solidFill>
                  <a:schemeClr val="tx1"/>
                </a:solidFill>
              </a:rPr>
              <a:t>Change set pour prévisualiser</a:t>
            </a:r>
            <a:endParaRPr lang="en-US" sz="2000" dirty="0"/>
          </a:p>
          <a:p>
            <a:pPr marL="342900" indent="-342900">
              <a:spcAft>
                <a:spcPts val="1600"/>
              </a:spcAft>
              <a:buSzPct val="100000"/>
              <a:buChar char="•"/>
            </a:pPr>
            <a:r>
              <a:rPr lang="en-US" sz="2000" dirty="0">
                <a:solidFill>
                  <a:schemeClr val="tx1"/>
                </a:solidFill>
              </a:rPr>
              <a:t>Drift detection</a:t>
            </a:r>
            <a:endParaRPr lang="en-US" sz="2000" dirty="0"/>
          </a:p>
          <a:p>
            <a:pPr marL="342900" indent="-342900">
              <a:spcAft>
                <a:spcPts val="1600"/>
              </a:spcAft>
              <a:buSzPct val="100000"/>
              <a:buChar char="•"/>
            </a:pPr>
            <a:r>
              <a:rPr lang="en-US" sz="2000" dirty="0">
                <a:solidFill>
                  <a:schemeClr val="tx1"/>
                </a:solidFill>
              </a:rPr>
              <a:t>DeletionPolicy: Retain protège les données</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YAML</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500" dirty="0">
                <a:solidFill>
                  <a:schemeClr val="bg2"/>
                </a:solidFill>
                <a:latin typeface="Courier New" pitchFamily="34" charset="0"/>
                <a:ea typeface="Courier New" pitchFamily="34" charset="-122"/>
                <a:cs typeface="Courier New" pitchFamily="34" charset="-120"/>
              </a:rPr>
              <a:t>Parameters: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Env: { Type: String, Default: dev }</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Conditions: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IsProd: !Equals [!Ref Env, prod]</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Resources: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Bucket:</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Type: AWS::S3::Bucket</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DeletionPolicy: Retain</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Properties: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VersioningConfiguration:</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Status: !If [IsProd, Enabled, Suspended]</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Outputs:</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BucketName:</a:t>
            </a:r>
            <a:endParaRPr lang="en-US" sz="1500" dirty="0"/>
          </a:p>
          <a:p>
            <a:pPr indent="0" marL="0">
              <a:buNone/>
            </a:pPr>
            <a:r>
              <a:rPr lang="en-US" sz="1500" dirty="0">
                <a:solidFill>
                  <a:schemeClr val="bg2"/>
                </a:solidFill>
                <a:latin typeface="Courier New" pitchFamily="34" charset="0"/>
                <a:ea typeface="Courier New" pitchFamily="34" charset="-122"/>
                <a:cs typeface="Courier New" pitchFamily="34" charset="-120"/>
              </a:rPr>
              <a:t>    Value: !Ref Bucket</a:t>
            </a:r>
            <a:endParaRPr lang="en-US" sz="15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CloudFormation, CDK ou Terraform ?</a:t>
            </a:r>
            <a:endParaRPr lang="en-US" sz="3600" dirty="0"/>
          </a:p>
        </p:txBody>
      </p:sp>
      <p:graphicFrame>
        <p:nvGraphicFramePr>
          <p:cNvPr id="76"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011680"/>
                <a:gridCol w="3017520"/>
                <a:gridCol w="3200400"/>
                <a:gridCol w="2862072"/>
              </a:tblGrid>
              <a:tr h="758952">
                <a:tc>
                  <a:txBody>
                    <a:bodyPr/>
                    <a:lstStyle/>
                    <a:p>
                      <a:pPr indent="0" marL="0">
                        <a:buNone/>
                      </a:pP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CloudFormation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CDK</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Terraform</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Langage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YAML ou JSON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TypeScript, Python, Java…</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HCL</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Multi-cloud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Non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Non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Oui</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État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Géré par AWS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Géré par AWS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À gérer (backend)</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Atout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Rollback, StackSets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Productivité, abstractions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Écosystème, modules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Les examens AWS attendent CloudFormation, CDK et SAM. Le marché attend Terraform : maîtrisez les deux.</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Terraform : le cycle de travail</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init</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Télécharge providers et modules</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validate</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fmt, validate, tflint, checkov</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plan</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Compare le code et l'état réel</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apply</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Applique les changements</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destroy</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Supprime ce qui est géré</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Le state fait le lien entre code et réalité : backend S3 versionné, chiffré, avec verrouillage. Jamais dans Git.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10 : module Terraform et backend distant</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Amorcer un backend S3, puis créer des buckets dev et prod avec un module réutilisable et for_each.</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Lancer bootstrap : bucket d'état et verrou</a:t>
            </a:r>
            <a:endParaRPr lang="en-US" sz="1800" dirty="0"/>
          </a:p>
          <a:p>
            <a:pPr marL="342900" indent="-342900">
              <a:spcAft>
                <a:spcPts val="800"/>
              </a:spcAft>
              <a:buSzPct val="100000"/>
              <a:buFont typeface="+mj-lt"/>
              <a:buAutoNum type="arabicPeriod" startAt="1"/>
            </a:pPr>
            <a:r>
              <a:rPr lang="en-US" sz="1800" dirty="0">
                <a:solidFill>
                  <a:schemeClr val="tx1"/>
                </a:solidFill>
              </a:rPr>
              <a:t>Appliquer envs/demo avec le module</a:t>
            </a:r>
            <a:endParaRPr lang="en-US" sz="1800" dirty="0"/>
          </a:p>
          <a:p>
            <a:pPr marL="342900" indent="-342900">
              <a:spcAft>
                <a:spcPts val="800"/>
              </a:spcAft>
              <a:buSzPct val="100000"/>
              <a:buFont typeface="+mj-lt"/>
              <a:buAutoNum type="arabicPeriod" startAt="1"/>
            </a:pPr>
            <a:r>
              <a:rPr lang="en-US" sz="1800" dirty="0">
                <a:solidFill>
                  <a:schemeClr val="tx1"/>
                </a:solidFill>
              </a:rPr>
              <a:t>Modifier un bucket à la main : voir la dérive</a:t>
            </a:r>
            <a:endParaRPr lang="en-US" sz="1800" dirty="0"/>
          </a:p>
          <a:p>
            <a:pPr marL="342900" indent="-342900">
              <a:spcAft>
                <a:spcPts val="800"/>
              </a:spcAft>
              <a:buSzPct val="100000"/>
              <a:buFont typeface="+mj-lt"/>
              <a:buAutoNum type="arabicPeriod" startAt="1"/>
            </a:pPr>
            <a:r>
              <a:rPr lang="en-US" sz="1800" dirty="0">
                <a:solidFill>
                  <a:schemeClr val="tx1"/>
                </a:solidFill>
              </a:rPr>
              <a:t>Refactorer avec un bloc moved</a:t>
            </a:r>
            <a:endParaRPr lang="en-US" sz="1800" dirty="0"/>
          </a:p>
          <a:p>
            <a:pPr marL="342900" indent="-342900">
              <a:spcAft>
                <a:spcPts val="800"/>
              </a:spcAft>
              <a:buSzPct val="100000"/>
              <a:buFont typeface="+mj-lt"/>
              <a:buAutoNum type="arabicPeriod" startAt="1"/>
            </a:pPr>
            <a:r>
              <a:rPr lang="en-US" sz="1800" dirty="0">
                <a:solidFill>
                  <a:schemeClr val="tx1"/>
                </a:solidFill>
              </a:rPr>
              <a:t>Passer tflint et checkov, défi terraform test</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Le plan affiche « No changes » après apply, la dérive est détectée.</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10-infrastructure-as-code/labs/lab-terraform</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10 · INFRASTRUCTURE AS CODE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Tout en code : versionné, revu, testé</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Change set et plan avant d'appliquer</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State distant verrouillé, for_each plutôt que count</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prévisualiser une mise à jour CloudFormation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À quoi sert le verrouillage du state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adopter une ressource existante dans Terraform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11</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CI/CD sur AWS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Concevoir un pipeline complet</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GitHub Actions avec OIDC</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CodeBuild, CodePipeline, CodeDeploy</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Stratégies de déploiement</a:t>
            </a:r>
            <a:endParaRPr lang="en-US" sz="18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 pipeline idéal</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Qualité</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Lint et tests unitaires</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Build</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Un seul artefact, tag = SHA</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Scans</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Code, dépendances, secrets, image, IaC</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Déployer</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Dev automatique, tests de fumée</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Production</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Approbation puis déploiement progressif</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Build once, deploy many : le même artefact est promu de l'environnement dev à la production.</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Stratégies de déploiement</a:t>
            </a:r>
            <a:endParaRPr lang="en-US" sz="3600" dirty="0"/>
          </a:p>
        </p:txBody>
      </p:sp>
      <p:graphicFrame>
        <p:nvGraphicFramePr>
          <p:cNvPr id="82"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3291840"/>
                <a:gridCol w="2560320"/>
                <a:gridCol w="2313432"/>
              </a:tblGrid>
              <a:tr h="63246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Stratégie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Interruption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Retour arrière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Coût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All-at-once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Oui</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Lent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Bas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Rolling</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Non, capacité réduite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Moyen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Bas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Blue/green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Non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Instantané</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Doublé brièvement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Canary</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Non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Rapide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Moyen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3246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Feature flags</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Non</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Immédiat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Faible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CodeDeploy Lambda ou ECS : bascule progressive et rollback automatique sur alarme CloudWatch.</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GitHub Actions vers AWS sans clé (OIDC)</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Job GitHub</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Reçoit un jeton JWT signé</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Fournisseur OIDC</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IAM vérifie signature et audience</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Trust policy</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Filtre sur le dépôt et la branche</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STS</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Échange le jeton contre un rôle</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Credentials</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Valables 1 heure, rien à stocker</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Séparer deux rôles : plan (lecture seule, pull requests) et apply (branche main, environnement protégé).</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Workflow de déploiement sans secret</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permissions: id-token: write</a:t>
            </a:r>
            <a:endParaRPr lang="en-US" sz="2000" dirty="0"/>
          </a:p>
          <a:p>
            <a:pPr marL="342900" indent="-342900">
              <a:spcAft>
                <a:spcPts val="1600"/>
              </a:spcAft>
              <a:buSzPct val="100000"/>
              <a:buChar char="•"/>
            </a:pPr>
            <a:r>
              <a:rPr lang="en-US" sz="2000" dirty="0">
                <a:solidFill>
                  <a:schemeClr val="tx1"/>
                </a:solidFill>
              </a:rPr>
              <a:t>Rôle à assumer, aucune clé</a:t>
            </a:r>
            <a:endParaRPr lang="en-US" sz="2000" dirty="0"/>
          </a:p>
          <a:p>
            <a:pPr marL="342900" indent="-342900">
              <a:spcAft>
                <a:spcPts val="1600"/>
              </a:spcAft>
              <a:buSzPct val="100000"/>
              <a:buChar char="•"/>
            </a:pPr>
            <a:r>
              <a:rPr lang="en-US" sz="2000" dirty="0">
                <a:solidFill>
                  <a:schemeClr val="tx1"/>
                </a:solidFill>
              </a:rPr>
              <a:t>Déploiement seulement depuis main</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YAML</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300" dirty="0">
                <a:solidFill>
                  <a:schemeClr val="bg2"/>
                </a:solidFill>
                <a:latin typeface="Courier New" pitchFamily="34" charset="0"/>
                <a:ea typeface="Courier New" pitchFamily="34" charset="-122"/>
                <a:cs typeface="Courier New" pitchFamily="34" charset="-120"/>
              </a:rPr>
              <a:t>name: deploy-site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on:</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push:</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branches: [main]</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permissions: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id-token: write</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contents: read</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jobs: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deploy:</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runs-on: ubuntu-latest</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steps:</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 uses: actions/checkout@v4</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 uses: aws-actions/configure-aws-credentials@v4</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with:</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role-to-assume: arn:aws:iam::&lt;ID&gt;:role/deploy</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aws-region: eu-west-3</a:t>
            </a:r>
            <a:endParaRPr lang="en-US" sz="1300" dirty="0"/>
          </a:p>
          <a:p>
            <a:pPr indent="0" marL="0">
              <a:buNone/>
            </a:pPr>
            <a:r>
              <a:rPr lang="en-US" sz="1300" dirty="0">
                <a:solidFill>
                  <a:schemeClr val="bg2"/>
                </a:solidFill>
                <a:latin typeface="Courier New" pitchFamily="34" charset="0"/>
                <a:ea typeface="Courier New" pitchFamily="34" charset="-122"/>
                <a:cs typeface="Courier New" pitchFamily="34" charset="-120"/>
              </a:rPr>
              <a:t>      - run: aws s3 sync ./site s3://&lt;BUCKET&gt;</a:t>
            </a:r>
            <a:endParaRPr lang="en-US" sz="13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11 : déployer sans clé depuis GitHub</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Créer le fournisseur OIDC et deux rôles, puis déployer un site statique depuis la branche main uniquement.</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avec org et dépôt</a:t>
            </a:r>
            <a:endParaRPr lang="en-US" sz="1800" dirty="0"/>
          </a:p>
          <a:p>
            <a:pPr marL="342900" indent="-342900">
              <a:spcAft>
                <a:spcPts val="800"/>
              </a:spcAft>
              <a:buSzPct val="100000"/>
              <a:buFont typeface="+mj-lt"/>
              <a:buAutoNum type="arabicPeriod" startAt="1"/>
            </a:pPr>
            <a:r>
              <a:rPr lang="en-US" sz="1800" dirty="0">
                <a:solidFill>
                  <a:schemeClr val="tx1"/>
                </a:solidFill>
              </a:rPr>
              <a:t>Copier le workflow dans un dépôt de test</a:t>
            </a:r>
            <a:endParaRPr lang="en-US" sz="1800" dirty="0"/>
          </a:p>
          <a:p>
            <a:pPr marL="342900" indent="-342900">
              <a:spcAft>
                <a:spcPts val="800"/>
              </a:spcAft>
              <a:buSzPct val="100000"/>
              <a:buFont typeface="+mj-lt"/>
              <a:buAutoNum type="arabicPeriod" startAt="1"/>
            </a:pPr>
            <a:r>
              <a:rPr lang="en-US" sz="1800" dirty="0">
                <a:solidFill>
                  <a:schemeClr val="tx1"/>
                </a:solidFill>
              </a:rPr>
              <a:t>Vérifier get-caller-identity dans le job</a:t>
            </a:r>
            <a:endParaRPr lang="en-US" sz="1800" dirty="0"/>
          </a:p>
          <a:p>
            <a:pPr marL="342900" indent="-342900">
              <a:spcAft>
                <a:spcPts val="800"/>
              </a:spcAft>
              <a:buSzPct val="100000"/>
              <a:buFont typeface="+mj-lt"/>
              <a:buAutoNum type="arabicPeriod" startAt="1"/>
            </a:pPr>
            <a:r>
              <a:rPr lang="en-US" sz="1800" dirty="0">
                <a:solidFill>
                  <a:schemeClr val="tx1"/>
                </a:solidFill>
              </a:rPr>
              <a:t>Tenter depuis feature/x : refus attendu</a:t>
            </a:r>
            <a:endParaRPr lang="en-US" sz="1800" dirty="0"/>
          </a:p>
          <a:p>
            <a:pPr marL="342900" indent="-342900">
              <a:spcAft>
                <a:spcPts val="800"/>
              </a:spcAft>
              <a:buSzPct val="100000"/>
              <a:buFont typeface="+mj-lt"/>
              <a:buAutoNum type="arabicPeriod" startAt="1"/>
            </a:pPr>
            <a:r>
              <a:rPr lang="en-US" sz="1800" dirty="0">
                <a:solidFill>
                  <a:schemeClr val="tx1"/>
                </a:solidFill>
              </a:rPr>
              <a:t>Défi : environnement production avec reviewer</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Aucun secret AWS dans le dépôt, déploiement réussi depuis main et refusé ailleurs.</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11-cicd/labs/lab-oidc</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11 · CI/CD SUR AWS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Build once, deploy many</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OIDC plutôt que clés d'accès dans la CI</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Canary ou blue/green avec rollback sur alarme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OIDC plutôt que des clés dans les secrets GitHub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fichier décrit les étapes CodeBuild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différence entre blue/green et canary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12</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Observabilité et audit</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Métriques, logs et traces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CloudWatch, CloudTrail, Config</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De l'alerte à la remédiation</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SLI, SLO et alertes utiles</a:t>
            </a:r>
            <a:endParaRPr lang="en-US" sz="18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12 · OBSERVABILITÉ ET AUDIT</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Qui répond à quelle question ?</a:t>
            </a:r>
            <a:endParaRPr lang="en-US" sz="3600" dirty="0"/>
          </a:p>
        </p:txBody>
      </p:sp>
      <p:sp>
        <p:nvSpPr>
          <p:cNvPr id="5" name="Carte CloudWatch"/>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ChartLin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ChartLine"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CloudWatch</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Comment va le système ? Métriques, logs, alarmes, tableaux de bord.</a:t>
            </a:r>
            <a:endParaRPr lang="en-US" sz="1900" dirty="0"/>
          </a:p>
        </p:txBody>
      </p:sp>
      <p:sp>
        <p:nvSpPr>
          <p:cNvPr id="10" name="Carte CloudTrail"/>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UserSecret"/>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UserSecret"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CloudTrail</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Qui a fait quoi ? Journal des appels d'API.</a:t>
            </a:r>
            <a:endParaRPr lang="en-US" sz="1900" dirty="0"/>
          </a:p>
        </p:txBody>
      </p:sp>
      <p:sp>
        <p:nvSpPr>
          <p:cNvPr id="15" name="Carte AWS Config"/>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ClipboardCheck"/>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ClipboardCheck"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AWS Config</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Quelle configuration, est-elle conforme ? Historique et règles.</a:t>
            </a:r>
            <a:endParaRPr lang="en-US" sz="1900" dirty="0"/>
          </a:p>
        </p:txBody>
      </p:sp>
      <p:sp>
        <p:nvSpPr>
          <p:cNvPr id="20" name="Carte X-Ray"/>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ProjectDiagram"/>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ProjectDiagram"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X-Ray</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Où est la lenteur ? Traces de bout en bout.</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CloudTrail = actions, Config = état, CloudWatch = performance.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12 · OBSERVABILITÉ ET AUDIT</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De l'événement à la remédiation</a:t>
            </a:r>
            <a:endParaRPr lang="en-US" sz="3600" dirty="0"/>
          </a:p>
        </p:txBody>
      </p:sp>
      <p:sp>
        <p:nvSpPr>
          <p:cNvPr id="5" name="Étape 1"/>
          <p:cNvSpPr/>
          <p:nvPr/>
        </p:nvSpPr>
        <p:spPr>
          <a:xfrm>
            <a:off x="548640" y="1600200"/>
            <a:ext cx="2499284" cy="3611880"/>
          </a:xfrm>
          <a:prstGeom prst="roundRect">
            <a:avLst>
              <a:gd name="adj" fmla="val 4390"/>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Événement</a:t>
            </a:r>
            <a:endParaRPr lang="en-US" sz="2200" dirty="0"/>
          </a:p>
        </p:txBody>
      </p:sp>
      <p:sp>
        <p:nvSpPr>
          <p:cNvPr id="9" name="Text 6"/>
          <p:cNvSpPr txBox="1"/>
          <p:nvPr/>
        </p:nvSpPr>
        <p:spPr>
          <a:xfrm>
            <a:off x="777240"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Instance arrêtée, finding GuardDuty, règle Config non conforme</a:t>
            </a:r>
            <a:endParaRPr lang="en-US" sz="1700" dirty="0"/>
          </a:p>
        </p:txBody>
      </p:sp>
      <p:sp>
        <p:nvSpPr>
          <p:cNvPr id="10" name="Flèche"/>
          <p:cNvSpPr/>
          <p:nvPr/>
        </p:nvSpPr>
        <p:spPr>
          <a:xfrm>
            <a:off x="3093644"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3413684" y="1600200"/>
            <a:ext cx="2499284" cy="3611880"/>
          </a:xfrm>
          <a:prstGeom prst="roundRect">
            <a:avLst>
              <a:gd name="adj" fmla="val 4390"/>
            </a:avLst>
          </a:prstGeom>
          <a:solidFill>
            <a:schemeClr val="bg2"/>
          </a:solidFill>
          <a:ln w="12700">
            <a:solidFill>
              <a:schemeClr val="bg2"/>
            </a:solidFill>
            <a:prstDash val="solid"/>
          </a:ln>
        </p:spPr>
      </p:sp>
      <p:sp>
        <p:nvSpPr>
          <p:cNvPr id="12" name="Shape 9"/>
          <p:cNvSpPr/>
          <p:nvPr/>
        </p:nvSpPr>
        <p:spPr>
          <a:xfrm>
            <a:off x="3642284"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642284"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642284"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EventBridge</a:t>
            </a:r>
            <a:endParaRPr lang="en-US" sz="2200" dirty="0"/>
          </a:p>
        </p:txBody>
      </p:sp>
      <p:sp>
        <p:nvSpPr>
          <p:cNvPr id="15" name="Text 12"/>
          <p:cNvSpPr txBox="1"/>
          <p:nvPr/>
        </p:nvSpPr>
        <p:spPr>
          <a:xfrm>
            <a:off x="3642284"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Règle à motif qui filtre l'événement</a:t>
            </a:r>
            <a:endParaRPr lang="en-US" sz="1700" dirty="0"/>
          </a:p>
        </p:txBody>
      </p:sp>
      <p:sp>
        <p:nvSpPr>
          <p:cNvPr id="16" name="Flèche"/>
          <p:cNvSpPr/>
          <p:nvPr/>
        </p:nvSpPr>
        <p:spPr>
          <a:xfrm>
            <a:off x="5958688"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6278728" y="1600200"/>
            <a:ext cx="2499284" cy="3611880"/>
          </a:xfrm>
          <a:prstGeom prst="roundRect">
            <a:avLst>
              <a:gd name="adj" fmla="val 4390"/>
            </a:avLst>
          </a:prstGeom>
          <a:solidFill>
            <a:schemeClr val="bg2"/>
          </a:solidFill>
          <a:ln w="12700">
            <a:solidFill>
              <a:schemeClr val="bg2"/>
            </a:solidFill>
            <a:prstDash val="solid"/>
          </a:ln>
        </p:spPr>
      </p:sp>
      <p:sp>
        <p:nvSpPr>
          <p:cNvPr id="18" name="Shape 15"/>
          <p:cNvSpPr/>
          <p:nvPr/>
        </p:nvSpPr>
        <p:spPr>
          <a:xfrm>
            <a:off x="6507328"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6507328"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6507328"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Action</a:t>
            </a:r>
            <a:endParaRPr lang="en-US" sz="2200" dirty="0"/>
          </a:p>
        </p:txBody>
      </p:sp>
      <p:sp>
        <p:nvSpPr>
          <p:cNvPr id="21" name="Text 18"/>
          <p:cNvSpPr txBox="1"/>
          <p:nvPr/>
        </p:nvSpPr>
        <p:spPr>
          <a:xfrm>
            <a:off x="6507328"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SNS, Lambda ou SSM Automation</a:t>
            </a:r>
            <a:endParaRPr lang="en-US" sz="1700" dirty="0"/>
          </a:p>
        </p:txBody>
      </p:sp>
      <p:sp>
        <p:nvSpPr>
          <p:cNvPr id="22" name="Flèche"/>
          <p:cNvSpPr/>
          <p:nvPr/>
        </p:nvSpPr>
        <p:spPr>
          <a:xfrm>
            <a:off x="8823731"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9143771" y="1600200"/>
            <a:ext cx="2499284" cy="3611880"/>
          </a:xfrm>
          <a:prstGeom prst="roundRect">
            <a:avLst>
              <a:gd name="adj" fmla="val 4390"/>
            </a:avLst>
          </a:prstGeom>
          <a:solidFill>
            <a:schemeClr val="bg2"/>
          </a:solidFill>
          <a:ln w="12700">
            <a:solidFill>
              <a:schemeClr val="bg2"/>
            </a:solidFill>
            <a:prstDash val="solid"/>
          </a:ln>
        </p:spPr>
      </p:sp>
      <p:sp>
        <p:nvSpPr>
          <p:cNvPr id="24" name="Shape 21"/>
          <p:cNvSpPr/>
          <p:nvPr/>
        </p:nvSpPr>
        <p:spPr>
          <a:xfrm>
            <a:off x="9372371"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9372371"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9372371"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Résultat</a:t>
            </a:r>
            <a:endParaRPr lang="en-US" sz="2200" dirty="0"/>
          </a:p>
        </p:txBody>
      </p:sp>
      <p:sp>
        <p:nvSpPr>
          <p:cNvPr id="27" name="Text 24"/>
          <p:cNvSpPr txBox="1"/>
          <p:nvPr/>
        </p:nvSpPr>
        <p:spPr>
          <a:xfrm>
            <a:off x="9372371"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Notification, ticket ou correction automatique</a:t>
            </a:r>
            <a:endParaRPr lang="en-US" sz="1700" dirty="0"/>
          </a:p>
        </p:txBody>
      </p:sp>
      <p:sp>
        <p:nvSpPr>
          <p:cNvPr id="28"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9"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0"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1"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Alarmes composites et seuils pertinents : une alerte doit être actionnable, avec un runbook.</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12 · OBSERVABILITÉ ET AUDIT</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SLI, SLO et quatre signaux dorés</a:t>
            </a:r>
            <a:endParaRPr lang="en-US" sz="3600" dirty="0"/>
          </a:p>
        </p:txBody>
      </p:sp>
      <p:sp>
        <p:nvSpPr>
          <p:cNvPr id="5" name="Carte Latence"/>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Stopwatch"/>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Stopwatch"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Latence</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Temps de réponse, p95 et p99 plutôt que la moyenne.</a:t>
            </a:r>
            <a:endParaRPr lang="en-US" sz="1900" dirty="0"/>
          </a:p>
        </p:txBody>
      </p:sp>
      <p:sp>
        <p:nvSpPr>
          <p:cNvPr id="10" name="Carte Trafic"/>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ExchangeAlt"/>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ExchangeAlt"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Trafic</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Volume de requêtes servies.</a:t>
            </a:r>
            <a:endParaRPr lang="en-US" sz="1900" dirty="0"/>
          </a:p>
        </p:txBody>
      </p:sp>
      <p:sp>
        <p:nvSpPr>
          <p:cNvPr id="15" name="Carte Erreurs"/>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ExclamationTriangle"/>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ExclamationTriangle"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Erreurs</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Taux de requêtes en échec, 5xx.</a:t>
            </a:r>
            <a:endParaRPr lang="en-US" sz="1900" dirty="0"/>
          </a:p>
        </p:txBody>
      </p:sp>
      <p:sp>
        <p:nvSpPr>
          <p:cNvPr id="20" name="Carte Saturation"/>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TachometerAl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TachometerAl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Saturation</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CPU, mémoire, connexions, files qui se remplissent.</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SLO = objectif, par exemple 99,9 % sur 30 jours. Le budget d'erreur guide les décisions de déploiement.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12 · OBSERVABILITÉ ET AUDIT</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12 : supervision et remédiation</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Topic SNS, alarme sur les erreurs Lambda, metric filter, trail CloudTrail, règle EventBridge sur l'arrêt d'instance, tableau de bord.</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avec votre e-mail, confirmer SNS</a:t>
            </a:r>
            <a:endParaRPr lang="en-US" sz="1800" dirty="0"/>
          </a:p>
          <a:p>
            <a:pPr marL="342900" indent="-342900">
              <a:spcAft>
                <a:spcPts val="800"/>
              </a:spcAft>
              <a:buSzPct val="100000"/>
              <a:buFont typeface="+mj-lt"/>
              <a:buAutoNum type="arabicPeriod" startAt="1"/>
            </a:pPr>
            <a:r>
              <a:rPr lang="en-US" sz="1800" dirty="0">
                <a:solidFill>
                  <a:schemeClr val="tx1"/>
                </a:solidFill>
              </a:rPr>
              <a:t>Provoquer des erreurs Lambda : recevoir l'alerte</a:t>
            </a:r>
            <a:endParaRPr lang="en-US" sz="1800" dirty="0"/>
          </a:p>
          <a:p>
            <a:pPr marL="342900" indent="-342900">
              <a:spcAft>
                <a:spcPts val="800"/>
              </a:spcAft>
              <a:buSzPct val="100000"/>
              <a:buFont typeface="+mj-lt"/>
              <a:buAutoNum type="arabicPeriod" startAt="1"/>
            </a:pPr>
            <a:r>
              <a:rPr lang="en-US" sz="1800" dirty="0">
                <a:solidFill>
                  <a:schemeClr val="tx1"/>
                </a:solidFill>
              </a:rPr>
              <a:t>Arrêter une instance : recevoir la notification</a:t>
            </a:r>
            <a:endParaRPr lang="en-US" sz="1800" dirty="0"/>
          </a:p>
          <a:p>
            <a:pPr marL="342900" indent="-342900">
              <a:spcAft>
                <a:spcPts val="800"/>
              </a:spcAft>
              <a:buSzPct val="100000"/>
              <a:buFont typeface="+mj-lt"/>
              <a:buAutoNum type="arabicPeriod" startAt="1"/>
            </a:pPr>
            <a:r>
              <a:rPr lang="en-US" sz="1800" dirty="0">
                <a:solidFill>
                  <a:schemeClr val="tx1"/>
                </a:solidFill>
              </a:rPr>
              <a:t>Requête Logs Insights sur les erreurs</a:t>
            </a:r>
            <a:endParaRPr lang="en-US" sz="1800" dirty="0"/>
          </a:p>
          <a:p>
            <a:pPr marL="342900" indent="-342900">
              <a:spcAft>
                <a:spcPts val="800"/>
              </a:spcAft>
              <a:buSzPct val="100000"/>
              <a:buFont typeface="+mj-lt"/>
              <a:buAutoNum type="arabicPeriod" startAt="1"/>
            </a:pPr>
            <a:r>
              <a:rPr lang="en-US" sz="1800" dirty="0">
                <a:solidFill>
                  <a:schemeClr val="tx1"/>
                </a:solidFill>
              </a:rPr>
              <a:t>Retrouver votre StopInstances dans CloudTrail</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Deux notifications distinctes reçues et l'événement retrouvé dans CloudTrail.</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0 à 2 €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12-observabilite/labs/lab-observability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12 · OBSERVABILITÉ ET AUDIT</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CloudTrail = qui, Config = quoi, CloudWatch = comment</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Définir des alertes sur les symptômes, avec runbook</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Rétention des logs toujours définie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service répond à : qui a supprimé ce bucket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Comment obtenir la mémoire d'une EC2 dans CloudWatch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Qu'est-ce qu'un budget d'erreur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13</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Sécurité avancée</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1,5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Chiffrement avec KMS</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Secrets et certificats</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Protection du périmètre et détection</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Réponse à incident</a:t>
            </a:r>
            <a:endParaRPr lang="en-US"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 défense en profondeur</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Identité</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IAM, MFA, SSO, moindre privilège</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Réseau</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VPC, Security Groups, WAF</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Hôte et conteneur</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Correctifs, Inspector, images saines</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Données</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KMS, chiffrement, classification</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Détection</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GuardDuty, Security Hub, CloudTrail</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Aucune couche n'est suffisante seule : si l'une cède, la suivante protège.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KMS : l'envelope encryption</a:t>
            </a:r>
            <a:endParaRPr lang="en-US" sz="3600" dirty="0"/>
          </a:p>
        </p:txBody>
      </p:sp>
      <p:sp>
        <p:nvSpPr>
          <p:cNvPr id="5" name="Étape 1"/>
          <p:cNvSpPr/>
          <p:nvPr/>
        </p:nvSpPr>
        <p:spPr>
          <a:xfrm>
            <a:off x="548640" y="1600200"/>
            <a:ext cx="2499284" cy="3611880"/>
          </a:xfrm>
          <a:prstGeom prst="roundRect">
            <a:avLst>
              <a:gd name="adj" fmla="val 4390"/>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GenerateDataKey</a:t>
            </a:r>
            <a:endParaRPr lang="en-US" sz="2200" dirty="0"/>
          </a:p>
        </p:txBody>
      </p:sp>
      <p:sp>
        <p:nvSpPr>
          <p:cNvPr id="9" name="Text 6"/>
          <p:cNvSpPr txBox="1"/>
          <p:nvPr/>
        </p:nvSpPr>
        <p:spPr>
          <a:xfrm>
            <a:off x="777240"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KMS renvoie une clé de données en clair et sa version chiffrée</a:t>
            </a:r>
            <a:endParaRPr lang="en-US" sz="1700" dirty="0"/>
          </a:p>
        </p:txBody>
      </p:sp>
      <p:sp>
        <p:nvSpPr>
          <p:cNvPr id="10" name="Flèche"/>
          <p:cNvSpPr/>
          <p:nvPr/>
        </p:nvSpPr>
        <p:spPr>
          <a:xfrm>
            <a:off x="3093644"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3413684" y="1600200"/>
            <a:ext cx="2499284" cy="3611880"/>
          </a:xfrm>
          <a:prstGeom prst="roundRect">
            <a:avLst>
              <a:gd name="adj" fmla="val 4390"/>
            </a:avLst>
          </a:prstGeom>
          <a:solidFill>
            <a:schemeClr val="bg2"/>
          </a:solidFill>
          <a:ln w="12700">
            <a:solidFill>
              <a:schemeClr val="bg2"/>
            </a:solidFill>
            <a:prstDash val="solid"/>
          </a:ln>
        </p:spPr>
      </p:sp>
      <p:sp>
        <p:nvSpPr>
          <p:cNvPr id="12" name="Shape 9"/>
          <p:cNvSpPr/>
          <p:nvPr/>
        </p:nvSpPr>
        <p:spPr>
          <a:xfrm>
            <a:off x="3642284"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642284"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642284"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Chiffrer</a:t>
            </a:r>
            <a:endParaRPr lang="en-US" sz="2200" dirty="0"/>
          </a:p>
        </p:txBody>
      </p:sp>
      <p:sp>
        <p:nvSpPr>
          <p:cNvPr id="15" name="Text 12"/>
          <p:cNvSpPr txBox="1"/>
          <p:nvPr/>
        </p:nvSpPr>
        <p:spPr>
          <a:xfrm>
            <a:off x="3642284"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Chiffrement local AES-256 avec la clé en clair</a:t>
            </a:r>
            <a:endParaRPr lang="en-US" sz="1700" dirty="0"/>
          </a:p>
        </p:txBody>
      </p:sp>
      <p:sp>
        <p:nvSpPr>
          <p:cNvPr id="16" name="Flèche"/>
          <p:cNvSpPr/>
          <p:nvPr/>
        </p:nvSpPr>
        <p:spPr>
          <a:xfrm>
            <a:off x="5958688"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6278728" y="1600200"/>
            <a:ext cx="2499284" cy="3611880"/>
          </a:xfrm>
          <a:prstGeom prst="roundRect">
            <a:avLst>
              <a:gd name="adj" fmla="val 4390"/>
            </a:avLst>
          </a:prstGeom>
          <a:solidFill>
            <a:schemeClr val="bg2"/>
          </a:solidFill>
          <a:ln w="12700">
            <a:solidFill>
              <a:schemeClr val="bg2"/>
            </a:solidFill>
            <a:prstDash val="solid"/>
          </a:ln>
        </p:spPr>
      </p:sp>
      <p:sp>
        <p:nvSpPr>
          <p:cNvPr id="18" name="Shape 15"/>
          <p:cNvSpPr/>
          <p:nvPr/>
        </p:nvSpPr>
        <p:spPr>
          <a:xfrm>
            <a:off x="6507328"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6507328"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6507328"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Jeter</a:t>
            </a:r>
            <a:endParaRPr lang="en-US" sz="2200" dirty="0"/>
          </a:p>
        </p:txBody>
      </p:sp>
      <p:sp>
        <p:nvSpPr>
          <p:cNvPr id="21" name="Text 18"/>
          <p:cNvSpPr txBox="1"/>
          <p:nvPr/>
        </p:nvSpPr>
        <p:spPr>
          <a:xfrm>
            <a:off x="6507328"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La clé en clair est effacée de la mémoire</a:t>
            </a:r>
            <a:endParaRPr lang="en-US" sz="1700" dirty="0"/>
          </a:p>
        </p:txBody>
      </p:sp>
      <p:sp>
        <p:nvSpPr>
          <p:cNvPr id="22" name="Flèche"/>
          <p:cNvSpPr/>
          <p:nvPr/>
        </p:nvSpPr>
        <p:spPr>
          <a:xfrm>
            <a:off x="8823731"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9143771" y="1600200"/>
            <a:ext cx="2499284" cy="3611880"/>
          </a:xfrm>
          <a:prstGeom prst="roundRect">
            <a:avLst>
              <a:gd name="adj" fmla="val 4390"/>
            </a:avLst>
          </a:prstGeom>
          <a:solidFill>
            <a:schemeClr val="bg2"/>
          </a:solidFill>
          <a:ln w="12700">
            <a:solidFill>
              <a:schemeClr val="bg2"/>
            </a:solidFill>
            <a:prstDash val="solid"/>
          </a:ln>
        </p:spPr>
      </p:sp>
      <p:sp>
        <p:nvSpPr>
          <p:cNvPr id="24" name="Shape 21"/>
          <p:cNvSpPr/>
          <p:nvPr/>
        </p:nvSpPr>
        <p:spPr>
          <a:xfrm>
            <a:off x="9372371"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9372371"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9372371"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Stocker</a:t>
            </a:r>
            <a:endParaRPr lang="en-US" sz="2200" dirty="0"/>
          </a:p>
        </p:txBody>
      </p:sp>
      <p:sp>
        <p:nvSpPr>
          <p:cNvPr id="27" name="Text 24"/>
          <p:cNvSpPr txBox="1"/>
          <p:nvPr/>
        </p:nvSpPr>
        <p:spPr>
          <a:xfrm>
            <a:off x="9372371"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Données chiffrées + clé de données chiffrée</a:t>
            </a:r>
            <a:endParaRPr lang="en-US" sz="1700" dirty="0"/>
          </a:p>
        </p:txBody>
      </p:sp>
      <p:sp>
        <p:nvSpPr>
          <p:cNvPr id="28"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9"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0"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1"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Pour déchiffrer : KMS Decrypt la clé de données, puis déchiffrement local. KMS chiffre directement 4 Ko au maximum.</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Secrets Manager ou Parameter Store ?</a:t>
            </a:r>
            <a:endParaRPr lang="en-US" sz="3600" dirty="0"/>
          </a:p>
        </p:txBody>
      </p:sp>
      <p:sp>
        <p:nvSpPr>
          <p:cNvPr id="5" name="En-tête Secrets Manager"/>
          <p:cNvSpPr/>
          <p:nvPr/>
        </p:nvSpPr>
        <p:spPr>
          <a:xfrm>
            <a:off x="548640" y="1600200"/>
            <a:ext cx="5394960" cy="685800"/>
          </a:xfrm>
          <a:prstGeom prst="roundRect">
            <a:avLst>
              <a:gd name="adj" fmla="val 16000"/>
            </a:avLst>
          </a:prstGeom>
          <a:solidFill>
            <a:schemeClr val="accent3"/>
          </a:solidFill>
          <a:ln w="12700">
            <a:solidFill>
              <a:schemeClr val="accent3"/>
            </a:solidFill>
            <a:prstDash val="solid"/>
          </a:ln>
        </p:spPr>
      </p:sp>
      <p:sp>
        <p:nvSpPr>
          <p:cNvPr id="6" name="Text 3"/>
          <p:cNvSpPr txBox="1"/>
          <p:nvPr/>
        </p:nvSpPr>
        <p:spPr>
          <a:xfrm>
            <a:off x="822960"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Secrets Manager</a:t>
            </a:r>
            <a:endParaRPr lang="en-US" sz="2200" dirty="0"/>
          </a:p>
        </p:txBody>
      </p:sp>
      <p:sp>
        <p:nvSpPr>
          <p:cNvPr id="7" name="Panneau Secrets Manager"/>
          <p:cNvSpPr/>
          <p:nvPr/>
        </p:nvSpPr>
        <p:spPr>
          <a:xfrm>
            <a:off x="548640" y="2423160"/>
            <a:ext cx="5394960" cy="3108960"/>
          </a:xfrm>
          <a:prstGeom prst="roundRect">
            <a:avLst>
              <a:gd name="adj" fmla="val 3529"/>
            </a:avLst>
          </a:prstGeom>
          <a:solidFill>
            <a:schemeClr val="bg2"/>
          </a:solidFill>
          <a:ln w="12700">
            <a:solidFill>
              <a:schemeClr val="bg2"/>
            </a:solidFill>
            <a:prstDash val="solid"/>
          </a:ln>
        </p:spPr>
      </p:sp>
      <p:sp>
        <p:nvSpPr>
          <p:cNvPr id="8" name="Text 5"/>
          <p:cNvSpPr txBox="1"/>
          <p:nvPr/>
        </p:nvSpPr>
        <p:spPr>
          <a:xfrm>
            <a:off x="868680"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Rotation automatique (RDS, Lambda)</a:t>
            </a:r>
            <a:endParaRPr lang="en-US" sz="2200" dirty="0"/>
          </a:p>
          <a:p>
            <a:pPr marL="342900" indent="-342900">
              <a:spcAft>
                <a:spcPts val="1400"/>
              </a:spcAft>
              <a:buSzPct val="100000"/>
              <a:buChar char="•"/>
            </a:pPr>
            <a:r>
              <a:rPr lang="en-US" sz="2200" dirty="0">
                <a:solidFill>
                  <a:schemeClr val="tx1"/>
                </a:solidFill>
              </a:rPr>
              <a:t>Réplication multi-région</a:t>
            </a:r>
            <a:endParaRPr lang="en-US" sz="2200" dirty="0"/>
          </a:p>
          <a:p>
            <a:pPr marL="342900" indent="-342900">
              <a:spcAft>
                <a:spcPts val="1400"/>
              </a:spcAft>
              <a:buSzPct val="100000"/>
              <a:buChar char="•"/>
            </a:pPr>
            <a:r>
              <a:rPr lang="en-US" sz="2200" dirty="0">
                <a:solidFill>
                  <a:schemeClr val="tx1"/>
                </a:solidFill>
              </a:rPr>
              <a:t>Environ 0,40 $ par secret et par mois</a:t>
            </a:r>
            <a:endParaRPr lang="en-US" sz="2200" dirty="0"/>
          </a:p>
          <a:p>
            <a:pPr marL="342900" indent="-342900">
              <a:spcAft>
                <a:spcPts val="1400"/>
              </a:spcAft>
              <a:buSzPct val="100000"/>
              <a:buChar char="•"/>
            </a:pPr>
            <a:r>
              <a:rPr lang="en-US" sz="2200" dirty="0">
                <a:solidFill>
                  <a:schemeClr val="tx1"/>
                </a:solidFill>
              </a:rPr>
              <a:t>Mots de passe de bases, clés d'API</a:t>
            </a:r>
            <a:endParaRPr lang="en-US" sz="2200" dirty="0"/>
          </a:p>
        </p:txBody>
      </p:sp>
      <p:sp>
        <p:nvSpPr>
          <p:cNvPr id="9" name="En-tête SSM Parameter Store"/>
          <p:cNvSpPr/>
          <p:nvPr/>
        </p:nvSpPr>
        <p:spPr>
          <a:xfrm>
            <a:off x="6248095" y="1600200"/>
            <a:ext cx="5394960" cy="685800"/>
          </a:xfrm>
          <a:prstGeom prst="roundRect">
            <a:avLst>
              <a:gd name="adj" fmla="val 16000"/>
            </a:avLst>
          </a:prstGeom>
          <a:solidFill>
            <a:schemeClr val="accent2"/>
          </a:solidFill>
          <a:ln w="12700">
            <a:solidFill>
              <a:schemeClr val="accent2"/>
            </a:solidFill>
            <a:prstDash val="solid"/>
          </a:ln>
        </p:spPr>
      </p:sp>
      <p:sp>
        <p:nvSpPr>
          <p:cNvPr id="10" name="Text 7"/>
          <p:cNvSpPr txBox="1"/>
          <p:nvPr/>
        </p:nvSpPr>
        <p:spPr>
          <a:xfrm>
            <a:off x="6522415" y="1600200"/>
            <a:ext cx="4846320" cy="685800"/>
          </a:xfrm>
          <a:prstGeom prst="rect">
            <a:avLst/>
          </a:prstGeom>
          <a:noFill/>
          <a:ln/>
        </p:spPr>
        <p:txBody>
          <a:bodyPr wrap="square" lIns="0" tIns="0" rIns="0" bIns="0" rtlCol="0" anchor="ctr"/>
          <a:lstStyle/>
          <a:p>
            <a:pPr indent="0" marL="0">
              <a:buNone/>
            </a:pPr>
            <a:r>
              <a:rPr lang="en-US" sz="2200" b="1" dirty="0">
                <a:solidFill>
                  <a:schemeClr val="bg1"/>
                </a:solidFill>
              </a:rPr>
              <a:t>SSM Parameter Store</a:t>
            </a:r>
            <a:endParaRPr lang="en-US" sz="2200" dirty="0"/>
          </a:p>
        </p:txBody>
      </p:sp>
      <p:sp>
        <p:nvSpPr>
          <p:cNvPr id="11" name="Panneau SSM Parameter Store"/>
          <p:cNvSpPr/>
          <p:nvPr/>
        </p:nvSpPr>
        <p:spPr>
          <a:xfrm>
            <a:off x="6248095" y="2423160"/>
            <a:ext cx="5394960" cy="3108960"/>
          </a:xfrm>
          <a:prstGeom prst="roundRect">
            <a:avLst>
              <a:gd name="adj" fmla="val 3529"/>
            </a:avLst>
          </a:prstGeom>
          <a:solidFill>
            <a:schemeClr val="bg2"/>
          </a:solidFill>
          <a:ln w="12700">
            <a:solidFill>
              <a:schemeClr val="bg2"/>
            </a:solidFill>
            <a:prstDash val="solid"/>
          </a:ln>
        </p:spPr>
      </p:sp>
      <p:sp>
        <p:nvSpPr>
          <p:cNvPr id="12" name="Text 9"/>
          <p:cNvSpPr txBox="1"/>
          <p:nvPr/>
        </p:nvSpPr>
        <p:spPr>
          <a:xfrm>
            <a:off x="6568135" y="2651760"/>
            <a:ext cx="4754880" cy="2743200"/>
          </a:xfrm>
          <a:prstGeom prst="rect">
            <a:avLst/>
          </a:prstGeom>
          <a:noFill/>
          <a:ln/>
        </p:spPr>
        <p:txBody>
          <a:bodyPr wrap="square" lIns="0" tIns="0" rIns="0" bIns="0" rtlCol="0" anchor="t"/>
          <a:lstStyle/>
          <a:p>
            <a:pPr marL="342900" indent="-342900">
              <a:spcAft>
                <a:spcPts val="1400"/>
              </a:spcAft>
              <a:buSzPct val="100000"/>
              <a:buChar char="•"/>
            </a:pPr>
            <a:r>
              <a:rPr lang="en-US" sz="2200" dirty="0">
                <a:solidFill>
                  <a:schemeClr val="tx1"/>
                </a:solidFill>
              </a:rPr>
              <a:t>Pas de rotation native</a:t>
            </a:r>
            <a:endParaRPr lang="en-US" sz="2200" dirty="0"/>
          </a:p>
          <a:p>
            <a:pPr marL="342900" indent="-342900">
              <a:spcAft>
                <a:spcPts val="1400"/>
              </a:spcAft>
              <a:buSzPct val="100000"/>
              <a:buChar char="•"/>
            </a:pPr>
            <a:r>
              <a:rPr lang="en-US" sz="2200" dirty="0">
                <a:solidFill>
                  <a:schemeClr val="tx1"/>
                </a:solidFill>
              </a:rPr>
              <a:t>Gratuit en version standard</a:t>
            </a:r>
            <a:endParaRPr lang="en-US" sz="2200" dirty="0"/>
          </a:p>
          <a:p>
            <a:pPr marL="342900" indent="-342900">
              <a:spcAft>
                <a:spcPts val="1400"/>
              </a:spcAft>
              <a:buSzPct val="100000"/>
              <a:buChar char="•"/>
            </a:pPr>
            <a:r>
              <a:rPr lang="en-US" sz="2200" dirty="0">
                <a:solidFill>
                  <a:schemeClr val="tx1"/>
                </a:solidFill>
              </a:rPr>
              <a:t>SecureString chiffré avec KMS</a:t>
            </a:r>
            <a:endParaRPr lang="en-US" sz="2200" dirty="0"/>
          </a:p>
          <a:p>
            <a:pPr marL="342900" indent="-342900">
              <a:spcAft>
                <a:spcPts val="1400"/>
              </a:spcAft>
              <a:buSzPct val="100000"/>
              <a:buChar char="•"/>
            </a:pPr>
            <a:r>
              <a:rPr lang="en-US" sz="2200" dirty="0">
                <a:solidFill>
                  <a:schemeClr val="tx1"/>
                </a:solidFill>
              </a:rPr>
              <a:t>Configuration et petits secrets</a:t>
            </a:r>
            <a:endParaRPr lang="en-US" sz="2200" dirty="0"/>
          </a:p>
        </p:txBody>
      </p:sp>
      <p:sp>
        <p:nvSpPr>
          <p:cNvPr id="13"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14"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15"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16"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Jamais de secret dans le code, l'image, les logs ou Git : lecture à l'exécution via le rôle IAM.</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Détecter et protéger</a:t>
            </a:r>
            <a:endParaRPr lang="en-US" sz="3600" dirty="0"/>
          </a:p>
        </p:txBody>
      </p:sp>
      <p:graphicFrame>
        <p:nvGraphicFramePr>
          <p:cNvPr id="97"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926080"/>
                <a:gridCol w="8165592"/>
              </a:tblGrid>
              <a:tr h="6400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Service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Rôle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WAF</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Pare-feu applicatif : règles OWASP, limitation de débit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Shield</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Protection DDoS (Standard gratuit)</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GuardDuty</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Détection de menaces et comportements anormaux</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Inspector</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Vulnérabilités EC2, ECR, Lambda</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Macie</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Données sensibles dans S3</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640080">
                <a:tc>
                  <a:txBody>
                    <a:bodyPr/>
                    <a:lstStyle/>
                    <a:p>
                      <a:pPr indent="0" marL="0">
                        <a:buNone/>
                      </a:pPr>
                      <a:r>
                        <a:rPr lang="en-US" sz="1700" b="1" dirty="0">
                          <a:solidFill>
                            <a:srgbClr val="17233B"/>
                          </a:solidFill>
                          <a:latin typeface="Calibri" pitchFamily="34" charset="0"/>
                          <a:ea typeface="Calibri" pitchFamily="34" charset="-122"/>
                          <a:cs typeface="Calibri" pitchFamily="34" charset="-120"/>
                        </a:rPr>
                        <a:t>Security Hub</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700" dirty="0">
                          <a:solidFill>
                            <a:srgbClr val="3A4A66"/>
                          </a:solidFill>
                          <a:latin typeface="Calibri" pitchFamily="34" charset="0"/>
                          <a:ea typeface="Calibri" pitchFamily="34" charset="-122"/>
                          <a:cs typeface="Calibri" pitchFamily="34" charset="-120"/>
                        </a:rPr>
                        <a:t>Agrégation des findings et score de conformité</a:t>
                      </a:r>
                      <a:endParaRPr lang="en-US" sz="17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Réponse à incident en cinq étapes</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Détecter</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GuardDuty ou Security Hub vers EventBridge</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Contenir</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Isoler l'instance, révoquer les sessions</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Préserver</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Snapshot EBS, copie des logs</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Éradiquer</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Reconstruire depuis l'IaC, tourner les secrets</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Apprendre</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Post-mortem sans blâme</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Contenir avant d'éradiquer, et préserver les preuves avant de reconstruire.</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13 : durcir un environnement</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Socle de sécurité : CMK avec rotation, secret chiffré, EBS chiffré par défaut, Block Public Access, GuardDuty, WAF, règle Config.</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a:t>
            </a:r>
            <a:endParaRPr lang="en-US" sz="1800" dirty="0"/>
          </a:p>
          <a:p>
            <a:pPr marL="342900" indent="-342900">
              <a:spcAft>
                <a:spcPts val="800"/>
              </a:spcAft>
              <a:buSzPct val="100000"/>
              <a:buFont typeface="+mj-lt"/>
              <a:buAutoNum type="arabicPeriod" startAt="1"/>
            </a:pPr>
            <a:r>
              <a:rPr lang="en-US" sz="1800" dirty="0">
                <a:solidFill>
                  <a:schemeClr val="tx1"/>
                </a:solidFill>
              </a:rPr>
              <a:t>Lire le secret sans kms:Decrypt : refus</a:t>
            </a:r>
            <a:endParaRPr lang="en-US" sz="1800" dirty="0"/>
          </a:p>
          <a:p>
            <a:pPr marL="342900" indent="-342900">
              <a:spcAft>
                <a:spcPts val="800"/>
              </a:spcAft>
              <a:buSzPct val="100000"/>
              <a:buFont typeface="+mj-lt"/>
              <a:buAutoNum type="arabicPeriod" startAt="1"/>
            </a:pPr>
            <a:r>
              <a:rPr lang="en-US" sz="1800" dirty="0">
                <a:solidFill>
                  <a:schemeClr val="tx1"/>
                </a:solidFill>
              </a:rPr>
              <a:t>Créer un SG ouvert sur 22 : voir la non-conformité</a:t>
            </a:r>
            <a:endParaRPr lang="en-US" sz="1800" dirty="0"/>
          </a:p>
          <a:p>
            <a:pPr marL="342900" indent="-342900">
              <a:spcAft>
                <a:spcPts val="800"/>
              </a:spcAft>
              <a:buSzPct val="100000"/>
              <a:buFont typeface="+mj-lt"/>
              <a:buAutoNum type="arabicPeriod" startAt="1"/>
            </a:pPr>
            <a:r>
              <a:rPr lang="en-US" sz="1800" dirty="0">
                <a:solidFill>
                  <a:schemeClr val="tx1"/>
                </a:solidFill>
              </a:rPr>
              <a:t>Générer des sample findings GuardDuty</a:t>
            </a:r>
            <a:endParaRPr lang="en-US" sz="1800" dirty="0"/>
          </a:p>
          <a:p>
            <a:pPr marL="342900" indent="-342900">
              <a:spcAft>
                <a:spcPts val="800"/>
              </a:spcAft>
              <a:buSzPct val="100000"/>
              <a:buFont typeface="+mj-lt"/>
              <a:buAutoNum type="arabicPeriod" startAt="1"/>
            </a:pPr>
            <a:r>
              <a:rPr lang="en-US" sz="1800" dirty="0">
                <a:solidFill>
                  <a:schemeClr val="tx1"/>
                </a:solidFill>
              </a:rPr>
              <a:t>Scanner avec checkov et corriger 3 alertes</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Vous démontrez trois couches de blocage : IAM, KMS, réseau.</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1 à 3 €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13-securite/labs/lab-security</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13 · SÉCURITÉ AVANCÉE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Chiffrer partout : KMS, TLS, EBS, S3, RDS</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Secrets dans Secrets Manager avec rotation</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Détecter, contenir, préserver, éradiquer, apprendre</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l'envelope encryption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Différence Secrets Manager et Parameter Store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Contenir ou éradiquer en premier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14</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Architecture et FinOps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Les 6 piliers Well-Architected</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Résilience et reprise après sinistre</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un patron d'architecture</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Maîtriser les coûts</a:t>
            </a:r>
            <a:endParaRPr lang="en-US" sz="18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14 · ARCHITECTURE ET FINOPS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six piliers du Well-Architected</a:t>
            </a:r>
            <a:endParaRPr lang="en-US" sz="3600" dirty="0"/>
          </a:p>
        </p:txBody>
      </p:sp>
      <p:sp>
        <p:nvSpPr>
          <p:cNvPr id="5" name="Carte Excellence opérationnelle"/>
          <p:cNvSpPr/>
          <p:nvPr/>
        </p:nvSpPr>
        <p:spPr>
          <a:xfrm>
            <a:off x="548640" y="1554480"/>
            <a:ext cx="3515258" cy="2194560"/>
          </a:xfrm>
          <a:prstGeom prst="roundRect">
            <a:avLst>
              <a:gd name="adj" fmla="val 5000"/>
            </a:avLst>
          </a:prstGeom>
          <a:solidFill>
            <a:schemeClr val="bg2"/>
          </a:solidFill>
          <a:ln w="12700">
            <a:solidFill>
              <a:schemeClr val="bg2"/>
            </a:solidFill>
            <a:prstDash val="solid"/>
          </a:ln>
        </p:spPr>
      </p:sp>
      <p:sp>
        <p:nvSpPr>
          <p:cNvPr id="6" name="Pastille FaCogs"/>
          <p:cNvSpPr/>
          <p:nvPr/>
        </p:nvSpPr>
        <p:spPr>
          <a:xfrm>
            <a:off x="777240" y="1755648"/>
            <a:ext cx="566928" cy="566928"/>
          </a:xfrm>
          <a:prstGeom prst="ellipse">
            <a:avLst/>
          </a:prstGeom>
          <a:solidFill>
            <a:schemeClr val="accent1"/>
          </a:solidFill>
          <a:ln w="12700">
            <a:solidFill>
              <a:schemeClr val="accent1"/>
            </a:solidFill>
            <a:prstDash val="solid"/>
          </a:ln>
        </p:spPr>
      </p:sp>
      <p:pic>
        <p:nvPicPr>
          <p:cNvPr id="7" name="Icône FaCogs" descr="icône">    </p:cNvPr>
          <p:cNvPicPr>
            <a:picLocks noChangeAspect="1"/>
          </p:cNvPicPr>
          <p:nvPr/>
        </p:nvPicPr>
        <p:blipFill>
          <a:blip r:embed="rId1"/>
          <a:stretch>
            <a:fillRect/>
          </a:stretch>
        </p:blipFill>
        <p:spPr>
          <a:xfrm>
            <a:off x="924641" y="1903049"/>
            <a:ext cx="272125" cy="272125"/>
          </a:xfrm>
          <a:prstGeom prst="rect">
            <a:avLst/>
          </a:prstGeom>
        </p:spPr>
      </p:pic>
      <p:sp>
        <p:nvSpPr>
          <p:cNvPr id="8" name="Text 4"/>
          <p:cNvSpPr txBox="1"/>
          <p:nvPr/>
        </p:nvSpPr>
        <p:spPr>
          <a:xfrm>
            <a:off x="1508760"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Excellence opérationnelle</a:t>
            </a:r>
            <a:endParaRPr lang="en-US" sz="1900" dirty="0"/>
          </a:p>
        </p:txBody>
      </p:sp>
      <p:sp>
        <p:nvSpPr>
          <p:cNvPr id="9" name="Text 5"/>
          <p:cNvSpPr txBox="1"/>
          <p:nvPr/>
        </p:nvSpPr>
        <p:spPr>
          <a:xfrm>
            <a:off x="777240"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IaC, CI/CD, runbooks, post-mortems.</a:t>
            </a:r>
            <a:endParaRPr lang="en-US" sz="1600" dirty="0"/>
          </a:p>
        </p:txBody>
      </p:sp>
      <p:sp>
        <p:nvSpPr>
          <p:cNvPr id="10" name="Carte Sécurité"/>
          <p:cNvSpPr/>
          <p:nvPr/>
        </p:nvSpPr>
        <p:spPr>
          <a:xfrm>
            <a:off x="4338218" y="1554480"/>
            <a:ext cx="3515258" cy="2194560"/>
          </a:xfrm>
          <a:prstGeom prst="roundRect">
            <a:avLst>
              <a:gd name="adj" fmla="val 5000"/>
            </a:avLst>
          </a:prstGeom>
          <a:solidFill>
            <a:schemeClr val="bg2"/>
          </a:solidFill>
          <a:ln w="12700">
            <a:solidFill>
              <a:schemeClr val="bg2"/>
            </a:solidFill>
            <a:prstDash val="solid"/>
          </a:ln>
        </p:spPr>
      </p:sp>
      <p:sp>
        <p:nvSpPr>
          <p:cNvPr id="11" name="Pastille FaShieldAlt"/>
          <p:cNvSpPr/>
          <p:nvPr/>
        </p:nvSpPr>
        <p:spPr>
          <a:xfrm>
            <a:off x="4566818" y="1755648"/>
            <a:ext cx="566928" cy="566928"/>
          </a:xfrm>
          <a:prstGeom prst="ellipse">
            <a:avLst/>
          </a:prstGeom>
          <a:solidFill>
            <a:schemeClr val="accent3"/>
          </a:solidFill>
          <a:ln w="12700">
            <a:solidFill>
              <a:schemeClr val="accent3"/>
            </a:solidFill>
            <a:prstDash val="solid"/>
          </a:ln>
        </p:spPr>
      </p:sp>
      <p:pic>
        <p:nvPicPr>
          <p:cNvPr id="12" name="Icône FaShieldAlt" descr="icône">    </p:cNvPr>
          <p:cNvPicPr>
            <a:picLocks noChangeAspect="1"/>
          </p:cNvPicPr>
          <p:nvPr/>
        </p:nvPicPr>
        <p:blipFill>
          <a:blip r:embed="rId2"/>
          <a:stretch>
            <a:fillRect/>
          </a:stretch>
        </p:blipFill>
        <p:spPr>
          <a:xfrm>
            <a:off x="4714220" y="1903049"/>
            <a:ext cx="272125" cy="272125"/>
          </a:xfrm>
          <a:prstGeom prst="rect">
            <a:avLst/>
          </a:prstGeom>
        </p:spPr>
      </p:pic>
      <p:sp>
        <p:nvSpPr>
          <p:cNvPr id="13" name="Text 8"/>
          <p:cNvSpPr txBox="1"/>
          <p:nvPr/>
        </p:nvSpPr>
        <p:spPr>
          <a:xfrm>
            <a:off x="5298338"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Sécurité</a:t>
            </a:r>
            <a:endParaRPr lang="en-US" sz="1900" dirty="0"/>
          </a:p>
        </p:txBody>
      </p:sp>
      <p:sp>
        <p:nvSpPr>
          <p:cNvPr id="14" name="Text 9"/>
          <p:cNvSpPr txBox="1"/>
          <p:nvPr/>
        </p:nvSpPr>
        <p:spPr>
          <a:xfrm>
            <a:off x="4566818"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IAM, chiffrement, détection, réponse.</a:t>
            </a:r>
            <a:endParaRPr lang="en-US" sz="1600" dirty="0"/>
          </a:p>
        </p:txBody>
      </p:sp>
      <p:sp>
        <p:nvSpPr>
          <p:cNvPr id="15" name="Carte Fiabilité"/>
          <p:cNvSpPr/>
          <p:nvPr/>
        </p:nvSpPr>
        <p:spPr>
          <a:xfrm>
            <a:off x="8127797" y="1554480"/>
            <a:ext cx="3515258" cy="2194560"/>
          </a:xfrm>
          <a:prstGeom prst="roundRect">
            <a:avLst>
              <a:gd name="adj" fmla="val 5000"/>
            </a:avLst>
          </a:prstGeom>
          <a:solidFill>
            <a:schemeClr val="bg2"/>
          </a:solidFill>
          <a:ln w="12700">
            <a:solidFill>
              <a:schemeClr val="bg2"/>
            </a:solidFill>
            <a:prstDash val="solid"/>
          </a:ln>
        </p:spPr>
      </p:sp>
      <p:sp>
        <p:nvSpPr>
          <p:cNvPr id="16" name="Pastille FaHeartbeat"/>
          <p:cNvSpPr/>
          <p:nvPr/>
        </p:nvSpPr>
        <p:spPr>
          <a:xfrm>
            <a:off x="8356397" y="1755648"/>
            <a:ext cx="566928" cy="566928"/>
          </a:xfrm>
          <a:prstGeom prst="ellipse">
            <a:avLst/>
          </a:prstGeom>
          <a:solidFill>
            <a:schemeClr val="accent2"/>
          </a:solidFill>
          <a:ln w="12700">
            <a:solidFill>
              <a:schemeClr val="accent2"/>
            </a:solidFill>
            <a:prstDash val="solid"/>
          </a:ln>
        </p:spPr>
      </p:sp>
      <p:pic>
        <p:nvPicPr>
          <p:cNvPr id="17" name="Icône FaHeartbeat" descr="icône">    </p:cNvPr>
          <p:cNvPicPr>
            <a:picLocks noChangeAspect="1"/>
          </p:cNvPicPr>
          <p:nvPr/>
        </p:nvPicPr>
        <p:blipFill>
          <a:blip r:embed="rId3"/>
          <a:stretch>
            <a:fillRect/>
          </a:stretch>
        </p:blipFill>
        <p:spPr>
          <a:xfrm>
            <a:off x="8503798" y="1903049"/>
            <a:ext cx="272125" cy="272125"/>
          </a:xfrm>
          <a:prstGeom prst="rect">
            <a:avLst/>
          </a:prstGeom>
        </p:spPr>
      </p:pic>
      <p:sp>
        <p:nvSpPr>
          <p:cNvPr id="18" name="Text 12"/>
          <p:cNvSpPr txBox="1"/>
          <p:nvPr/>
        </p:nvSpPr>
        <p:spPr>
          <a:xfrm>
            <a:off x="9087917"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Fiabilité</a:t>
            </a:r>
            <a:endParaRPr lang="en-US" sz="1900" dirty="0"/>
          </a:p>
        </p:txBody>
      </p:sp>
      <p:sp>
        <p:nvSpPr>
          <p:cNvPr id="19" name="Text 13"/>
          <p:cNvSpPr txBox="1"/>
          <p:nvPr/>
        </p:nvSpPr>
        <p:spPr>
          <a:xfrm>
            <a:off x="8356397"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Multi-AZ, auto-récupération, tests de panne.</a:t>
            </a:r>
            <a:endParaRPr lang="en-US" sz="1600" dirty="0"/>
          </a:p>
        </p:txBody>
      </p:sp>
      <p:sp>
        <p:nvSpPr>
          <p:cNvPr id="20" name="Carte Performance"/>
          <p:cNvSpPr/>
          <p:nvPr/>
        </p:nvSpPr>
        <p:spPr>
          <a:xfrm>
            <a:off x="548640" y="3950208"/>
            <a:ext cx="3515258" cy="2194560"/>
          </a:xfrm>
          <a:prstGeom prst="roundRect">
            <a:avLst>
              <a:gd name="adj" fmla="val 5000"/>
            </a:avLst>
          </a:prstGeom>
          <a:solidFill>
            <a:schemeClr val="bg2"/>
          </a:solidFill>
          <a:ln w="12700">
            <a:solidFill>
              <a:schemeClr val="bg2"/>
            </a:solidFill>
            <a:prstDash val="solid"/>
          </a:ln>
        </p:spPr>
      </p:sp>
      <p:sp>
        <p:nvSpPr>
          <p:cNvPr id="21" name="Pastille FaTachometerAlt"/>
          <p:cNvSpPr/>
          <p:nvPr/>
        </p:nvSpPr>
        <p:spPr>
          <a:xfrm>
            <a:off x="777240" y="4151376"/>
            <a:ext cx="566928" cy="566928"/>
          </a:xfrm>
          <a:prstGeom prst="ellipse">
            <a:avLst/>
          </a:prstGeom>
          <a:solidFill>
            <a:schemeClr val="accent4"/>
          </a:solidFill>
          <a:ln w="12700">
            <a:solidFill>
              <a:schemeClr val="accent4"/>
            </a:solidFill>
            <a:prstDash val="solid"/>
          </a:ln>
        </p:spPr>
      </p:sp>
      <p:pic>
        <p:nvPicPr>
          <p:cNvPr id="22" name="Icône FaTachometerAlt" descr="icône">    </p:cNvPr>
          <p:cNvPicPr>
            <a:picLocks noChangeAspect="1"/>
          </p:cNvPicPr>
          <p:nvPr/>
        </p:nvPicPr>
        <p:blipFill>
          <a:blip r:embed="rId4"/>
          <a:stretch>
            <a:fillRect/>
          </a:stretch>
        </p:blipFill>
        <p:spPr>
          <a:xfrm>
            <a:off x="924641" y="4298777"/>
            <a:ext cx="272125" cy="272125"/>
          </a:xfrm>
          <a:prstGeom prst="rect">
            <a:avLst/>
          </a:prstGeom>
        </p:spPr>
      </p:pic>
      <p:sp>
        <p:nvSpPr>
          <p:cNvPr id="23" name="Text 16"/>
          <p:cNvSpPr txBox="1"/>
          <p:nvPr/>
        </p:nvSpPr>
        <p:spPr>
          <a:xfrm>
            <a:off x="1508760"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Performance</a:t>
            </a:r>
            <a:endParaRPr lang="en-US" sz="1900" dirty="0"/>
          </a:p>
        </p:txBody>
      </p:sp>
      <p:sp>
        <p:nvSpPr>
          <p:cNvPr id="24" name="Text 17"/>
          <p:cNvSpPr txBox="1"/>
          <p:nvPr/>
        </p:nvSpPr>
        <p:spPr>
          <a:xfrm>
            <a:off x="777240"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Bon type, cache, CDN, serverless.</a:t>
            </a:r>
            <a:endParaRPr lang="en-US" sz="1600" dirty="0"/>
          </a:p>
        </p:txBody>
      </p:sp>
      <p:sp>
        <p:nvSpPr>
          <p:cNvPr id="25" name="Carte Coûts"/>
          <p:cNvSpPr/>
          <p:nvPr/>
        </p:nvSpPr>
        <p:spPr>
          <a:xfrm>
            <a:off x="4338218" y="3950208"/>
            <a:ext cx="3515258" cy="2194560"/>
          </a:xfrm>
          <a:prstGeom prst="roundRect">
            <a:avLst>
              <a:gd name="adj" fmla="val 5000"/>
            </a:avLst>
          </a:prstGeom>
          <a:solidFill>
            <a:schemeClr val="bg2"/>
          </a:solidFill>
          <a:ln w="12700">
            <a:solidFill>
              <a:schemeClr val="bg2"/>
            </a:solidFill>
            <a:prstDash val="solid"/>
          </a:ln>
        </p:spPr>
      </p:sp>
      <p:sp>
        <p:nvSpPr>
          <p:cNvPr id="26" name="Pastille FaCoins"/>
          <p:cNvSpPr/>
          <p:nvPr/>
        </p:nvSpPr>
        <p:spPr>
          <a:xfrm>
            <a:off x="4566818" y="4151376"/>
            <a:ext cx="566928" cy="566928"/>
          </a:xfrm>
          <a:prstGeom prst="ellipse">
            <a:avLst/>
          </a:prstGeom>
          <a:solidFill>
            <a:schemeClr val="accent1"/>
          </a:solidFill>
          <a:ln w="12700">
            <a:solidFill>
              <a:schemeClr val="accent1"/>
            </a:solidFill>
            <a:prstDash val="solid"/>
          </a:ln>
        </p:spPr>
      </p:sp>
      <p:pic>
        <p:nvPicPr>
          <p:cNvPr id="27" name="Icône FaCoins" descr="icône">    </p:cNvPr>
          <p:cNvPicPr>
            <a:picLocks noChangeAspect="1"/>
          </p:cNvPicPr>
          <p:nvPr/>
        </p:nvPicPr>
        <p:blipFill>
          <a:blip r:embed="rId5"/>
          <a:stretch>
            <a:fillRect/>
          </a:stretch>
        </p:blipFill>
        <p:spPr>
          <a:xfrm>
            <a:off x="4714220" y="4298777"/>
            <a:ext cx="272125" cy="272125"/>
          </a:xfrm>
          <a:prstGeom prst="rect">
            <a:avLst/>
          </a:prstGeom>
        </p:spPr>
      </p:pic>
      <p:sp>
        <p:nvSpPr>
          <p:cNvPr id="28" name="Text 20"/>
          <p:cNvSpPr txBox="1"/>
          <p:nvPr/>
        </p:nvSpPr>
        <p:spPr>
          <a:xfrm>
            <a:off x="5298338"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Coûts</a:t>
            </a:r>
            <a:endParaRPr lang="en-US" sz="1900" dirty="0"/>
          </a:p>
        </p:txBody>
      </p:sp>
      <p:sp>
        <p:nvSpPr>
          <p:cNvPr id="29" name="Text 21"/>
          <p:cNvSpPr txBox="1"/>
          <p:nvPr/>
        </p:nvSpPr>
        <p:spPr>
          <a:xfrm>
            <a:off x="4566818"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Right-sizing, Savings Plans, Spot, tags.</a:t>
            </a:r>
            <a:endParaRPr lang="en-US" sz="1600" dirty="0"/>
          </a:p>
        </p:txBody>
      </p:sp>
      <p:sp>
        <p:nvSpPr>
          <p:cNvPr id="30" name="Carte Durabilité"/>
          <p:cNvSpPr/>
          <p:nvPr/>
        </p:nvSpPr>
        <p:spPr>
          <a:xfrm>
            <a:off x="8127797" y="3950208"/>
            <a:ext cx="3515258" cy="2194560"/>
          </a:xfrm>
          <a:prstGeom prst="roundRect">
            <a:avLst>
              <a:gd name="adj" fmla="val 5000"/>
            </a:avLst>
          </a:prstGeom>
          <a:solidFill>
            <a:schemeClr val="bg2"/>
          </a:solidFill>
          <a:ln w="12700">
            <a:solidFill>
              <a:schemeClr val="bg2"/>
            </a:solidFill>
            <a:prstDash val="solid"/>
          </a:ln>
        </p:spPr>
      </p:sp>
      <p:sp>
        <p:nvSpPr>
          <p:cNvPr id="31" name="Pastille FaLeaf"/>
          <p:cNvSpPr/>
          <p:nvPr/>
        </p:nvSpPr>
        <p:spPr>
          <a:xfrm>
            <a:off x="8356397" y="4151376"/>
            <a:ext cx="566928" cy="566928"/>
          </a:xfrm>
          <a:prstGeom prst="ellipse">
            <a:avLst/>
          </a:prstGeom>
          <a:solidFill>
            <a:schemeClr val="accent3"/>
          </a:solidFill>
          <a:ln w="12700">
            <a:solidFill>
              <a:schemeClr val="accent3"/>
            </a:solidFill>
            <a:prstDash val="solid"/>
          </a:ln>
        </p:spPr>
      </p:sp>
      <p:pic>
        <p:nvPicPr>
          <p:cNvPr id="32" name="Icône FaLeaf" descr="icône">    </p:cNvPr>
          <p:cNvPicPr>
            <a:picLocks noChangeAspect="1"/>
          </p:cNvPicPr>
          <p:nvPr/>
        </p:nvPicPr>
        <p:blipFill>
          <a:blip r:embed="rId6"/>
          <a:stretch>
            <a:fillRect/>
          </a:stretch>
        </p:blipFill>
        <p:spPr>
          <a:xfrm>
            <a:off x="8503798" y="4298777"/>
            <a:ext cx="272125" cy="272125"/>
          </a:xfrm>
          <a:prstGeom prst="rect">
            <a:avLst/>
          </a:prstGeom>
        </p:spPr>
      </p:pic>
      <p:sp>
        <p:nvSpPr>
          <p:cNvPr id="33" name="Text 24"/>
          <p:cNvSpPr txBox="1"/>
          <p:nvPr/>
        </p:nvSpPr>
        <p:spPr>
          <a:xfrm>
            <a:off x="9087917"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Durabilité</a:t>
            </a:r>
            <a:endParaRPr lang="en-US" sz="1900" dirty="0"/>
          </a:p>
        </p:txBody>
      </p:sp>
      <p:sp>
        <p:nvSpPr>
          <p:cNvPr id="34" name="Text 25"/>
          <p:cNvSpPr txBox="1"/>
          <p:nvPr/>
        </p:nvSpPr>
        <p:spPr>
          <a:xfrm>
            <a:off x="8356397"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Graviton, forte utilisation, cycle de vie des données.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14 · ARCHITECTURE ET FINOPS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Reprise après sinistre : quatre stratégies</a:t>
            </a:r>
            <a:endParaRPr lang="en-US" sz="3600" dirty="0"/>
          </a:p>
        </p:txBody>
      </p:sp>
      <p:graphicFrame>
        <p:nvGraphicFramePr>
          <p:cNvPr id="103"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743200"/>
                <a:gridCol w="2560320"/>
                <a:gridCol w="1371600"/>
                <a:gridCol w="4416552"/>
              </a:tblGrid>
              <a:tr h="758952">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Stratégie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RTO / RPO</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Coût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Principe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Backup &amp; Restore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Heures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Sauvegardes copiées dans une autre région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Pilot Light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Dizaines de minutes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Données répliquées, le reste éteint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Warm Standby</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Minutes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Version réduite toujours active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Actif-actif</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Proche de 0</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Deux régions servent le trafic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RPO = perte de données tolérée. RTO = durée d'indisponibilité tolérée. Un DR non testé n'existe pas.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14 · ARCHITECTURE ET FINOPS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FinOps : les leviers qui comptent</a:t>
            </a:r>
            <a:endParaRPr lang="en-US" sz="3600" dirty="0"/>
          </a:p>
        </p:txBody>
      </p:sp>
      <p:sp>
        <p:nvSpPr>
          <p:cNvPr id="5" name="Carte Visibilité"/>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Eye"/>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Eye"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Visibilité</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Tags de coût, Cost Explorer, budgets, détection d'anomalies.</a:t>
            </a:r>
            <a:endParaRPr lang="en-US" sz="1900" dirty="0"/>
          </a:p>
        </p:txBody>
      </p:sp>
      <p:sp>
        <p:nvSpPr>
          <p:cNvPr id="10" name="Carte Éteindre l'inutile"/>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PowerOff"/>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PowerOff"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Éteindre l'inutile</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Dev la nuit, volumes et IP orphelins, snapshots anciens.</a:t>
            </a:r>
            <a:endParaRPr lang="en-US" sz="1900" dirty="0"/>
          </a:p>
        </p:txBody>
      </p:sp>
      <p:sp>
        <p:nvSpPr>
          <p:cNvPr id="15" name="Carte Right-sizing"/>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RulerCombined"/>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RulerCombined"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Right-sizing</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Compute Optimizer : de 20 à 40 % d'économie.</a:t>
            </a:r>
            <a:endParaRPr lang="en-US" sz="1900" dirty="0"/>
          </a:p>
        </p:txBody>
      </p:sp>
      <p:sp>
        <p:nvSpPr>
          <p:cNvPr id="20" name="Carte Engagements"/>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Percen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Percen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Engagements</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Savings Plans jusqu'à 70 %, Spot jusqu'à 90 %.</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Pièges fréquents : NAT Gateway, transferts inter-zones, logs sans rétention, clusters oubliés.</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14 · ARCHITECTURE ET FINOPS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14 : étude de cas ShopFlow</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E-commerce de 200 000 visiteurs par jour, pics ×5 aux soldes, RGPD, RTO 1 h, RPO 5 min, budget 6 000 € par mois.</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Dessiner l'architecture et justifier chaque service</a:t>
            </a:r>
            <a:endParaRPr lang="en-US" sz="1800" dirty="0"/>
          </a:p>
          <a:p>
            <a:pPr marL="342900" indent="-342900">
              <a:spcAft>
                <a:spcPts val="800"/>
              </a:spcAft>
              <a:buSzPct val="100000"/>
              <a:buFont typeface="+mj-lt"/>
              <a:buAutoNum type="arabicPeriod" startAt="1"/>
            </a:pPr>
            <a:r>
              <a:rPr lang="en-US" sz="1800" dirty="0">
                <a:solidFill>
                  <a:schemeClr val="tx1"/>
                </a:solidFill>
              </a:rPr>
              <a:t>Choisir et argumenter la stratégie de DR</a:t>
            </a:r>
            <a:endParaRPr lang="en-US" sz="1800" dirty="0"/>
          </a:p>
          <a:p>
            <a:pPr marL="342900" indent="-342900">
              <a:spcAft>
                <a:spcPts val="800"/>
              </a:spcAft>
              <a:buSzPct val="100000"/>
              <a:buFont typeface="+mj-lt"/>
              <a:buAutoNum type="arabicPeriod" startAt="1"/>
            </a:pPr>
            <a:r>
              <a:rPr lang="en-US" sz="1800" dirty="0">
                <a:solidFill>
                  <a:schemeClr val="tx1"/>
                </a:solidFill>
              </a:rPr>
              <a:t>Estimer le coût au Pricing Calculator</a:t>
            </a:r>
            <a:endParaRPr lang="en-US" sz="1800" dirty="0"/>
          </a:p>
          <a:p>
            <a:pPr marL="342900" indent="-342900">
              <a:spcAft>
                <a:spcPts val="800"/>
              </a:spcAft>
              <a:buSzPct val="100000"/>
              <a:buFont typeface="+mj-lt"/>
              <a:buAutoNum type="arabicPeriod" startAt="1"/>
            </a:pPr>
            <a:r>
              <a:rPr lang="en-US" sz="1800" dirty="0">
                <a:solidFill>
                  <a:schemeClr val="tx1"/>
                </a:solidFill>
              </a:rPr>
              <a:t>Chiffrer 5 leviers d'optimisation</a:t>
            </a:r>
            <a:endParaRPr lang="en-US" sz="1800" dirty="0"/>
          </a:p>
          <a:p>
            <a:pPr marL="342900" indent="-342900">
              <a:spcAft>
                <a:spcPts val="800"/>
              </a:spcAft>
              <a:buSzPct val="100000"/>
              <a:buFont typeface="+mj-lt"/>
              <a:buAutoNum type="arabicPeriod" startAt="1"/>
            </a:pPr>
            <a:r>
              <a:rPr lang="en-US" sz="1800" dirty="0">
                <a:solidFill>
                  <a:schemeClr val="tx1"/>
                </a:solidFill>
              </a:rPr>
              <a:t>Soutenance de 10 minutes</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Grille de 100 points : adéquation, sécurité, coût, exploitabilité, clarté.</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14-architecture-finops/labs/lab-etude-de-cas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14 · ARCHITECTURE ET FINOPS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Les exigences (RTO, RPO, SLA) pilotent l'architecture</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Multi-AZ n'est pas multi-région</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Mesurer avant d'optimiser, taguer pour attribuer</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Quelle caractéristique implique un RPO de 5 minutes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Pilot Light ou Warm Standby : quelle différence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outil recommande des tailles d'instances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15</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Multi-comptes et gouvernance</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1 jour</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Un compte = une frontière</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Organizations, OU et SCP</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Control Tower et landing zone</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Services partagés</a:t>
            </a:r>
            <a:endParaRPr lang="en-US" sz="18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15 · MULTI-COMPTES ET GOUVERNANCE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Une organisation bien structurée</a:t>
            </a:r>
            <a:endParaRPr lang="en-US" sz="3600" dirty="0"/>
          </a:p>
        </p:txBody>
      </p:sp>
      <p:sp>
        <p:nvSpPr>
          <p:cNvPr id="5" name="Shape 2"/>
          <p:cNvSpPr/>
          <p:nvPr/>
        </p:nvSpPr>
        <p:spPr>
          <a:xfrm>
            <a:off x="4727448" y="1554480"/>
            <a:ext cx="2743200" cy="594360"/>
          </a:xfrm>
          <a:prstGeom prst="roundRect">
            <a:avLst>
              <a:gd name="adj" fmla="val 15385"/>
            </a:avLst>
          </a:prstGeom>
          <a:solidFill>
            <a:schemeClr val="tx1"/>
          </a:solidFill>
          <a:ln w="12700">
            <a:solidFill>
              <a:schemeClr val="tx1"/>
            </a:solidFill>
            <a:prstDash val="solid"/>
          </a:ln>
        </p:spPr>
      </p:sp>
      <p:sp>
        <p:nvSpPr>
          <p:cNvPr id="6" name="Text 3"/>
          <p:cNvSpPr txBox="1"/>
          <p:nvPr/>
        </p:nvSpPr>
        <p:spPr>
          <a:xfrm>
            <a:off x="4727448" y="1554480"/>
            <a:ext cx="2743200" cy="594360"/>
          </a:xfrm>
          <a:prstGeom prst="rect">
            <a:avLst/>
          </a:prstGeom>
          <a:noFill/>
          <a:ln/>
        </p:spPr>
        <p:txBody>
          <a:bodyPr wrap="square" lIns="0" tIns="0" rIns="0" bIns="0" rtlCol="0" anchor="ctr"/>
          <a:lstStyle/>
          <a:p>
            <a:pPr algn="ctr" indent="0" marL="0">
              <a:buNone/>
            </a:pPr>
            <a:r>
              <a:rPr lang="en-US" sz="1500" b="1" dirty="0">
                <a:solidFill>
                  <a:schemeClr val="bg1"/>
                </a:solidFill>
              </a:rPr>
              <a:t>Root · compte de gestion</a:t>
            </a:r>
            <a:endParaRPr lang="en-US" sz="1500" dirty="0"/>
          </a:p>
        </p:txBody>
      </p:sp>
      <p:sp>
        <p:nvSpPr>
          <p:cNvPr id="7" name="Shape 4"/>
          <p:cNvSpPr/>
          <p:nvPr/>
        </p:nvSpPr>
        <p:spPr>
          <a:xfrm>
            <a:off x="6099048" y="2148840"/>
            <a:ext cx="0" cy="320040"/>
          </a:xfrm>
          <a:prstGeom prst="line">
            <a:avLst/>
          </a:prstGeom>
          <a:noFill/>
          <a:ln w="25400">
            <a:solidFill>
              <a:schemeClr val="accent5"/>
            </a:solidFill>
            <a:prstDash val="solid"/>
          </a:ln>
        </p:spPr>
      </p:sp>
      <p:sp>
        <p:nvSpPr>
          <p:cNvPr id="8" name="Shape 5"/>
          <p:cNvSpPr/>
          <p:nvPr/>
        </p:nvSpPr>
        <p:spPr>
          <a:xfrm>
            <a:off x="1773936" y="2468880"/>
            <a:ext cx="8643823" cy="0"/>
          </a:xfrm>
          <a:prstGeom prst="line">
            <a:avLst/>
          </a:prstGeom>
          <a:noFill/>
          <a:ln w="25400">
            <a:solidFill>
              <a:schemeClr val="accent5"/>
            </a:solidFill>
            <a:prstDash val="solid"/>
          </a:ln>
        </p:spPr>
      </p:sp>
      <p:sp>
        <p:nvSpPr>
          <p:cNvPr id="9" name="Shape 6"/>
          <p:cNvSpPr/>
          <p:nvPr/>
        </p:nvSpPr>
        <p:spPr>
          <a:xfrm>
            <a:off x="1773936" y="2468880"/>
            <a:ext cx="0" cy="274320"/>
          </a:xfrm>
          <a:prstGeom prst="line">
            <a:avLst/>
          </a:prstGeom>
          <a:noFill/>
          <a:ln w="25400">
            <a:solidFill>
              <a:schemeClr val="accent5"/>
            </a:solidFill>
            <a:prstDash val="solid"/>
          </a:ln>
        </p:spPr>
      </p:sp>
      <p:sp>
        <p:nvSpPr>
          <p:cNvPr id="10" name="Shape 7"/>
          <p:cNvSpPr/>
          <p:nvPr/>
        </p:nvSpPr>
        <p:spPr>
          <a:xfrm>
            <a:off x="548640" y="2743200"/>
            <a:ext cx="2450592" cy="594360"/>
          </a:xfrm>
          <a:prstGeom prst="roundRect">
            <a:avLst>
              <a:gd name="adj" fmla="val 15385"/>
            </a:avLst>
          </a:prstGeom>
          <a:solidFill>
            <a:schemeClr val="accent1">
              <a:alpha val="28000"/>
            </a:schemeClr>
          </a:solidFill>
          <a:ln w="19050">
            <a:solidFill>
              <a:schemeClr val="accent1"/>
            </a:solidFill>
            <a:prstDash val="solid"/>
          </a:ln>
        </p:spPr>
      </p:sp>
      <p:sp>
        <p:nvSpPr>
          <p:cNvPr id="11" name="Text 8"/>
          <p:cNvSpPr txBox="1"/>
          <p:nvPr/>
        </p:nvSpPr>
        <p:spPr>
          <a:xfrm>
            <a:off x="548640" y="2743200"/>
            <a:ext cx="2450592" cy="594360"/>
          </a:xfrm>
          <a:prstGeom prst="rect">
            <a:avLst/>
          </a:prstGeom>
          <a:noFill/>
          <a:ln/>
        </p:spPr>
        <p:txBody>
          <a:bodyPr wrap="square" lIns="0" tIns="0" rIns="0" bIns="0" rtlCol="0" anchor="ctr"/>
          <a:lstStyle/>
          <a:p>
            <a:pPr algn="ctr" indent="0" marL="0">
              <a:buNone/>
            </a:pPr>
            <a:r>
              <a:rPr lang="en-US" sz="1600" b="1" dirty="0">
                <a:solidFill>
                  <a:schemeClr val="tx1"/>
                </a:solidFill>
              </a:rPr>
              <a:t>OU Security</a:t>
            </a:r>
            <a:endParaRPr lang="en-US" sz="1600" dirty="0"/>
          </a:p>
        </p:txBody>
      </p:sp>
      <p:sp>
        <p:nvSpPr>
          <p:cNvPr id="12" name="Shape 9"/>
          <p:cNvSpPr/>
          <p:nvPr/>
        </p:nvSpPr>
        <p:spPr>
          <a:xfrm>
            <a:off x="731520" y="3566160"/>
            <a:ext cx="2084832" cy="502920"/>
          </a:xfrm>
          <a:prstGeom prst="roundRect">
            <a:avLst>
              <a:gd name="adj" fmla="val 14545"/>
            </a:avLst>
          </a:prstGeom>
          <a:solidFill>
            <a:schemeClr val="bg2"/>
          </a:solidFill>
          <a:ln w="12700">
            <a:solidFill>
              <a:schemeClr val="bg2"/>
            </a:solidFill>
            <a:prstDash val="solid"/>
          </a:ln>
        </p:spPr>
      </p:sp>
      <p:sp>
        <p:nvSpPr>
          <p:cNvPr id="13" name="Text 10"/>
          <p:cNvSpPr txBox="1"/>
          <p:nvPr/>
        </p:nvSpPr>
        <p:spPr>
          <a:xfrm>
            <a:off x="731520" y="356616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log-archive</a:t>
            </a:r>
            <a:endParaRPr lang="en-US" sz="1600" dirty="0"/>
          </a:p>
        </p:txBody>
      </p:sp>
      <p:sp>
        <p:nvSpPr>
          <p:cNvPr id="14" name="Shape 11"/>
          <p:cNvSpPr/>
          <p:nvPr/>
        </p:nvSpPr>
        <p:spPr>
          <a:xfrm>
            <a:off x="731520" y="4206240"/>
            <a:ext cx="2084832" cy="502920"/>
          </a:xfrm>
          <a:prstGeom prst="roundRect">
            <a:avLst>
              <a:gd name="adj" fmla="val 14545"/>
            </a:avLst>
          </a:prstGeom>
          <a:solidFill>
            <a:schemeClr val="bg2"/>
          </a:solidFill>
          <a:ln w="12700">
            <a:solidFill>
              <a:schemeClr val="bg2"/>
            </a:solidFill>
            <a:prstDash val="solid"/>
          </a:ln>
        </p:spPr>
      </p:sp>
      <p:sp>
        <p:nvSpPr>
          <p:cNvPr id="15" name="Text 12"/>
          <p:cNvSpPr txBox="1"/>
          <p:nvPr/>
        </p:nvSpPr>
        <p:spPr>
          <a:xfrm>
            <a:off x="731520" y="420624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audit</a:t>
            </a:r>
            <a:endParaRPr lang="en-US" sz="1600" dirty="0"/>
          </a:p>
        </p:txBody>
      </p:sp>
      <p:sp>
        <p:nvSpPr>
          <p:cNvPr id="16" name="Shape 13"/>
          <p:cNvSpPr/>
          <p:nvPr/>
        </p:nvSpPr>
        <p:spPr>
          <a:xfrm>
            <a:off x="4655210" y="2468880"/>
            <a:ext cx="0" cy="274320"/>
          </a:xfrm>
          <a:prstGeom prst="line">
            <a:avLst/>
          </a:prstGeom>
          <a:noFill/>
          <a:ln w="25400">
            <a:solidFill>
              <a:schemeClr val="accent5"/>
            </a:solidFill>
            <a:prstDash val="solid"/>
          </a:ln>
        </p:spPr>
      </p:sp>
      <p:sp>
        <p:nvSpPr>
          <p:cNvPr id="17" name="Shape 14"/>
          <p:cNvSpPr/>
          <p:nvPr/>
        </p:nvSpPr>
        <p:spPr>
          <a:xfrm>
            <a:off x="3429914" y="2743200"/>
            <a:ext cx="2450592" cy="594360"/>
          </a:xfrm>
          <a:prstGeom prst="roundRect">
            <a:avLst>
              <a:gd name="adj" fmla="val 15385"/>
            </a:avLst>
          </a:prstGeom>
          <a:solidFill>
            <a:schemeClr val="accent3">
              <a:alpha val="28000"/>
            </a:schemeClr>
          </a:solidFill>
          <a:ln w="19050">
            <a:solidFill>
              <a:schemeClr val="accent3"/>
            </a:solidFill>
            <a:prstDash val="solid"/>
          </a:ln>
        </p:spPr>
      </p:sp>
      <p:sp>
        <p:nvSpPr>
          <p:cNvPr id="18" name="Text 15"/>
          <p:cNvSpPr txBox="1"/>
          <p:nvPr/>
        </p:nvSpPr>
        <p:spPr>
          <a:xfrm>
            <a:off x="3429914" y="2743200"/>
            <a:ext cx="2450592" cy="594360"/>
          </a:xfrm>
          <a:prstGeom prst="rect">
            <a:avLst/>
          </a:prstGeom>
          <a:noFill/>
          <a:ln/>
        </p:spPr>
        <p:txBody>
          <a:bodyPr wrap="square" lIns="0" tIns="0" rIns="0" bIns="0" rtlCol="0" anchor="ctr"/>
          <a:lstStyle/>
          <a:p>
            <a:pPr algn="ctr" indent="0" marL="0">
              <a:buNone/>
            </a:pPr>
            <a:r>
              <a:rPr lang="en-US" sz="1600" b="1" dirty="0">
                <a:solidFill>
                  <a:schemeClr val="tx1"/>
                </a:solidFill>
              </a:rPr>
              <a:t>OU Infrastructure</a:t>
            </a:r>
            <a:endParaRPr lang="en-US" sz="1600" dirty="0"/>
          </a:p>
        </p:txBody>
      </p:sp>
      <p:sp>
        <p:nvSpPr>
          <p:cNvPr id="19" name="Shape 16"/>
          <p:cNvSpPr/>
          <p:nvPr/>
        </p:nvSpPr>
        <p:spPr>
          <a:xfrm>
            <a:off x="3612794" y="3566160"/>
            <a:ext cx="2084832" cy="502920"/>
          </a:xfrm>
          <a:prstGeom prst="roundRect">
            <a:avLst>
              <a:gd name="adj" fmla="val 14545"/>
            </a:avLst>
          </a:prstGeom>
          <a:solidFill>
            <a:schemeClr val="bg2"/>
          </a:solidFill>
          <a:ln w="12700">
            <a:solidFill>
              <a:schemeClr val="bg2"/>
            </a:solidFill>
            <a:prstDash val="solid"/>
          </a:ln>
        </p:spPr>
      </p:sp>
      <p:sp>
        <p:nvSpPr>
          <p:cNvPr id="20" name="Text 17"/>
          <p:cNvSpPr txBox="1"/>
          <p:nvPr/>
        </p:nvSpPr>
        <p:spPr>
          <a:xfrm>
            <a:off x="3612794" y="356616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network</a:t>
            </a:r>
            <a:endParaRPr lang="en-US" sz="1600" dirty="0"/>
          </a:p>
        </p:txBody>
      </p:sp>
      <p:sp>
        <p:nvSpPr>
          <p:cNvPr id="21" name="Shape 18"/>
          <p:cNvSpPr/>
          <p:nvPr/>
        </p:nvSpPr>
        <p:spPr>
          <a:xfrm>
            <a:off x="3612794" y="4206240"/>
            <a:ext cx="2084832" cy="502920"/>
          </a:xfrm>
          <a:prstGeom prst="roundRect">
            <a:avLst>
              <a:gd name="adj" fmla="val 14545"/>
            </a:avLst>
          </a:prstGeom>
          <a:solidFill>
            <a:schemeClr val="bg2"/>
          </a:solidFill>
          <a:ln w="12700">
            <a:solidFill>
              <a:schemeClr val="bg2"/>
            </a:solidFill>
            <a:prstDash val="solid"/>
          </a:ln>
        </p:spPr>
      </p:sp>
      <p:sp>
        <p:nvSpPr>
          <p:cNvPr id="22" name="Text 19"/>
          <p:cNvSpPr txBox="1"/>
          <p:nvPr/>
        </p:nvSpPr>
        <p:spPr>
          <a:xfrm>
            <a:off x="3612794" y="420624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shared-services</a:t>
            </a:r>
            <a:endParaRPr lang="en-US" sz="1600" dirty="0"/>
          </a:p>
        </p:txBody>
      </p:sp>
      <p:sp>
        <p:nvSpPr>
          <p:cNvPr id="23" name="Shape 20"/>
          <p:cNvSpPr/>
          <p:nvPr/>
        </p:nvSpPr>
        <p:spPr>
          <a:xfrm>
            <a:off x="7536485" y="2468880"/>
            <a:ext cx="0" cy="274320"/>
          </a:xfrm>
          <a:prstGeom prst="line">
            <a:avLst/>
          </a:prstGeom>
          <a:noFill/>
          <a:ln w="25400">
            <a:solidFill>
              <a:schemeClr val="accent5"/>
            </a:solidFill>
            <a:prstDash val="solid"/>
          </a:ln>
        </p:spPr>
      </p:sp>
      <p:sp>
        <p:nvSpPr>
          <p:cNvPr id="24" name="Shape 21"/>
          <p:cNvSpPr/>
          <p:nvPr/>
        </p:nvSpPr>
        <p:spPr>
          <a:xfrm>
            <a:off x="6311189" y="2743200"/>
            <a:ext cx="2450592" cy="594360"/>
          </a:xfrm>
          <a:prstGeom prst="roundRect">
            <a:avLst>
              <a:gd name="adj" fmla="val 15385"/>
            </a:avLst>
          </a:prstGeom>
          <a:solidFill>
            <a:schemeClr val="accent2">
              <a:alpha val="28000"/>
            </a:schemeClr>
          </a:solidFill>
          <a:ln w="19050">
            <a:solidFill>
              <a:schemeClr val="accent2"/>
            </a:solidFill>
            <a:prstDash val="solid"/>
          </a:ln>
        </p:spPr>
      </p:sp>
      <p:sp>
        <p:nvSpPr>
          <p:cNvPr id="25" name="Text 22"/>
          <p:cNvSpPr txBox="1"/>
          <p:nvPr/>
        </p:nvSpPr>
        <p:spPr>
          <a:xfrm>
            <a:off x="6311189" y="2743200"/>
            <a:ext cx="2450592" cy="594360"/>
          </a:xfrm>
          <a:prstGeom prst="rect">
            <a:avLst/>
          </a:prstGeom>
          <a:noFill/>
          <a:ln/>
        </p:spPr>
        <p:txBody>
          <a:bodyPr wrap="square" lIns="0" tIns="0" rIns="0" bIns="0" rtlCol="0" anchor="ctr"/>
          <a:lstStyle/>
          <a:p>
            <a:pPr algn="ctr" indent="0" marL="0">
              <a:buNone/>
            </a:pPr>
            <a:r>
              <a:rPr lang="en-US" sz="1600" b="1" dirty="0">
                <a:solidFill>
                  <a:schemeClr val="tx1"/>
                </a:solidFill>
              </a:rPr>
              <a:t>OU Workloads</a:t>
            </a:r>
            <a:endParaRPr lang="en-US" sz="1600" dirty="0"/>
          </a:p>
        </p:txBody>
      </p:sp>
      <p:sp>
        <p:nvSpPr>
          <p:cNvPr id="26" name="Shape 23"/>
          <p:cNvSpPr/>
          <p:nvPr/>
        </p:nvSpPr>
        <p:spPr>
          <a:xfrm>
            <a:off x="6494069" y="3566160"/>
            <a:ext cx="2084832" cy="502920"/>
          </a:xfrm>
          <a:prstGeom prst="roundRect">
            <a:avLst>
              <a:gd name="adj" fmla="val 14545"/>
            </a:avLst>
          </a:prstGeom>
          <a:solidFill>
            <a:schemeClr val="bg2"/>
          </a:solidFill>
          <a:ln w="12700">
            <a:solidFill>
              <a:schemeClr val="bg2"/>
            </a:solidFill>
            <a:prstDash val="solid"/>
          </a:ln>
        </p:spPr>
      </p:sp>
      <p:sp>
        <p:nvSpPr>
          <p:cNvPr id="27" name="Text 24"/>
          <p:cNvSpPr txBox="1"/>
          <p:nvPr/>
        </p:nvSpPr>
        <p:spPr>
          <a:xfrm>
            <a:off x="6494069" y="356616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app-prod</a:t>
            </a:r>
            <a:endParaRPr lang="en-US" sz="1600" dirty="0"/>
          </a:p>
        </p:txBody>
      </p:sp>
      <p:sp>
        <p:nvSpPr>
          <p:cNvPr id="28" name="Shape 25"/>
          <p:cNvSpPr/>
          <p:nvPr/>
        </p:nvSpPr>
        <p:spPr>
          <a:xfrm>
            <a:off x="6494069" y="4206240"/>
            <a:ext cx="2084832" cy="502920"/>
          </a:xfrm>
          <a:prstGeom prst="roundRect">
            <a:avLst>
              <a:gd name="adj" fmla="val 14545"/>
            </a:avLst>
          </a:prstGeom>
          <a:solidFill>
            <a:schemeClr val="bg2"/>
          </a:solidFill>
          <a:ln w="12700">
            <a:solidFill>
              <a:schemeClr val="bg2"/>
            </a:solidFill>
            <a:prstDash val="solid"/>
          </a:ln>
        </p:spPr>
      </p:sp>
      <p:sp>
        <p:nvSpPr>
          <p:cNvPr id="29" name="Text 26"/>
          <p:cNvSpPr txBox="1"/>
          <p:nvPr/>
        </p:nvSpPr>
        <p:spPr>
          <a:xfrm>
            <a:off x="6494069" y="420624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app-dev / staging</a:t>
            </a:r>
            <a:endParaRPr lang="en-US" sz="1600" dirty="0"/>
          </a:p>
        </p:txBody>
      </p:sp>
      <p:sp>
        <p:nvSpPr>
          <p:cNvPr id="30" name="Shape 27"/>
          <p:cNvSpPr/>
          <p:nvPr/>
        </p:nvSpPr>
        <p:spPr>
          <a:xfrm>
            <a:off x="10417759" y="2468880"/>
            <a:ext cx="0" cy="274320"/>
          </a:xfrm>
          <a:prstGeom prst="line">
            <a:avLst/>
          </a:prstGeom>
          <a:noFill/>
          <a:ln w="25400">
            <a:solidFill>
              <a:schemeClr val="accent5"/>
            </a:solidFill>
            <a:prstDash val="solid"/>
          </a:ln>
        </p:spPr>
      </p:sp>
      <p:sp>
        <p:nvSpPr>
          <p:cNvPr id="31" name="Shape 28"/>
          <p:cNvSpPr/>
          <p:nvPr/>
        </p:nvSpPr>
        <p:spPr>
          <a:xfrm>
            <a:off x="9192463" y="2743200"/>
            <a:ext cx="2450592" cy="594360"/>
          </a:xfrm>
          <a:prstGeom prst="roundRect">
            <a:avLst>
              <a:gd name="adj" fmla="val 15385"/>
            </a:avLst>
          </a:prstGeom>
          <a:solidFill>
            <a:schemeClr val="accent4">
              <a:alpha val="28000"/>
            </a:schemeClr>
          </a:solidFill>
          <a:ln w="19050">
            <a:solidFill>
              <a:schemeClr val="accent4"/>
            </a:solidFill>
            <a:prstDash val="solid"/>
          </a:ln>
        </p:spPr>
      </p:sp>
      <p:sp>
        <p:nvSpPr>
          <p:cNvPr id="32" name="Text 29"/>
          <p:cNvSpPr txBox="1"/>
          <p:nvPr/>
        </p:nvSpPr>
        <p:spPr>
          <a:xfrm>
            <a:off x="9192463" y="2743200"/>
            <a:ext cx="2450592" cy="594360"/>
          </a:xfrm>
          <a:prstGeom prst="rect">
            <a:avLst/>
          </a:prstGeom>
          <a:noFill/>
          <a:ln/>
        </p:spPr>
        <p:txBody>
          <a:bodyPr wrap="square" lIns="0" tIns="0" rIns="0" bIns="0" rtlCol="0" anchor="ctr"/>
          <a:lstStyle/>
          <a:p>
            <a:pPr algn="ctr" indent="0" marL="0">
              <a:buNone/>
            </a:pPr>
            <a:r>
              <a:rPr lang="en-US" sz="1600" b="1" dirty="0">
                <a:solidFill>
                  <a:schemeClr val="tx1"/>
                </a:solidFill>
              </a:rPr>
              <a:t>OU Sandbox</a:t>
            </a:r>
            <a:endParaRPr lang="en-US" sz="1600" dirty="0"/>
          </a:p>
        </p:txBody>
      </p:sp>
      <p:sp>
        <p:nvSpPr>
          <p:cNvPr id="33" name="Shape 30"/>
          <p:cNvSpPr/>
          <p:nvPr/>
        </p:nvSpPr>
        <p:spPr>
          <a:xfrm>
            <a:off x="9375343" y="3566160"/>
            <a:ext cx="2084832" cy="502920"/>
          </a:xfrm>
          <a:prstGeom prst="roundRect">
            <a:avLst>
              <a:gd name="adj" fmla="val 14545"/>
            </a:avLst>
          </a:prstGeom>
          <a:solidFill>
            <a:schemeClr val="bg2"/>
          </a:solidFill>
          <a:ln w="12700">
            <a:solidFill>
              <a:schemeClr val="bg2"/>
            </a:solidFill>
            <a:prstDash val="solid"/>
          </a:ln>
        </p:spPr>
      </p:sp>
      <p:sp>
        <p:nvSpPr>
          <p:cNvPr id="34" name="Text 31"/>
          <p:cNvSpPr txBox="1"/>
          <p:nvPr/>
        </p:nvSpPr>
        <p:spPr>
          <a:xfrm>
            <a:off x="9375343" y="3566160"/>
            <a:ext cx="2084832" cy="502920"/>
          </a:xfrm>
          <a:prstGeom prst="rect">
            <a:avLst/>
          </a:prstGeom>
          <a:noFill/>
          <a:ln/>
        </p:spPr>
        <p:txBody>
          <a:bodyPr wrap="square" lIns="0" tIns="0" rIns="0" bIns="0" rtlCol="0" anchor="ctr"/>
          <a:lstStyle/>
          <a:p>
            <a:pPr algn="ctr" indent="0" marL="0">
              <a:buNone/>
            </a:pPr>
            <a:r>
              <a:rPr lang="en-US" sz="1600" dirty="0">
                <a:solidFill>
                  <a:schemeClr val="tx2"/>
                </a:solidFill>
              </a:rPr>
              <a:t>comptes de formation</a:t>
            </a:r>
            <a:endParaRPr lang="en-US" sz="1600" dirty="0"/>
          </a:p>
        </p:txBody>
      </p:sp>
      <p:sp>
        <p:nvSpPr>
          <p:cNvPr id="35" name="Shape 32"/>
          <p:cNvSpPr/>
          <p:nvPr/>
        </p:nvSpPr>
        <p:spPr>
          <a:xfrm>
            <a:off x="548640" y="5074920"/>
            <a:ext cx="5394960" cy="1005840"/>
          </a:xfrm>
          <a:prstGeom prst="roundRect">
            <a:avLst>
              <a:gd name="adj" fmla="val 10909"/>
            </a:avLst>
          </a:prstGeom>
          <a:solidFill>
            <a:schemeClr val="tx1"/>
          </a:solidFill>
          <a:ln w="12700">
            <a:solidFill>
              <a:schemeClr val="tx1"/>
            </a:solidFill>
            <a:prstDash val="solid"/>
          </a:ln>
        </p:spPr>
      </p:sp>
      <p:sp>
        <p:nvSpPr>
          <p:cNvPr id="36" name="Text 33"/>
          <p:cNvSpPr txBox="1"/>
          <p:nvPr/>
        </p:nvSpPr>
        <p:spPr>
          <a:xfrm>
            <a:off x="822960" y="5074920"/>
            <a:ext cx="4846320" cy="1005840"/>
          </a:xfrm>
          <a:prstGeom prst="rect">
            <a:avLst/>
          </a:prstGeom>
          <a:noFill/>
          <a:ln/>
        </p:spPr>
        <p:txBody>
          <a:bodyPr wrap="square" lIns="0" tIns="0" rIns="0" bIns="0" rtlCol="0" anchor="ctr"/>
          <a:lstStyle/>
          <a:p>
            <a:pPr indent="0" marL="0">
              <a:buNone/>
            </a:pPr>
            <a:r>
              <a:rPr lang="en-US" sz="1800" dirty="0">
                <a:solidFill>
                  <a:schemeClr val="bg1"/>
                </a:solidFill>
              </a:rPr>
              <a:t>SCP : plafond de permissions hérité de Root vers OU puis compte</a:t>
            </a:r>
            <a:endParaRPr lang="en-US" sz="1800" dirty="0"/>
          </a:p>
        </p:txBody>
      </p:sp>
      <p:sp>
        <p:nvSpPr>
          <p:cNvPr id="37" name="Shape 34"/>
          <p:cNvSpPr/>
          <p:nvPr/>
        </p:nvSpPr>
        <p:spPr>
          <a:xfrm>
            <a:off x="6245352" y="5074920"/>
            <a:ext cx="5394960" cy="1005840"/>
          </a:xfrm>
          <a:prstGeom prst="roundRect">
            <a:avLst>
              <a:gd name="adj" fmla="val 10909"/>
            </a:avLst>
          </a:prstGeom>
          <a:solidFill>
            <a:schemeClr val="tx1"/>
          </a:solidFill>
          <a:ln w="12700">
            <a:solidFill>
              <a:schemeClr val="tx1"/>
            </a:solidFill>
            <a:prstDash val="solid"/>
          </a:ln>
        </p:spPr>
      </p:sp>
      <p:sp>
        <p:nvSpPr>
          <p:cNvPr id="38" name="Text 35"/>
          <p:cNvSpPr txBox="1"/>
          <p:nvPr/>
        </p:nvSpPr>
        <p:spPr>
          <a:xfrm>
            <a:off x="6519672" y="5074920"/>
            <a:ext cx="4846320" cy="1005840"/>
          </a:xfrm>
          <a:prstGeom prst="rect">
            <a:avLst/>
          </a:prstGeom>
          <a:noFill/>
          <a:ln/>
        </p:spPr>
        <p:txBody>
          <a:bodyPr wrap="square" lIns="0" tIns="0" rIns="0" bIns="0" rtlCol="0" anchor="ctr"/>
          <a:lstStyle/>
          <a:p>
            <a:pPr indent="0" marL="0">
              <a:buNone/>
            </a:pPr>
            <a:r>
              <a:rPr lang="en-US" sz="1800" dirty="0">
                <a:solidFill>
                  <a:schemeClr val="bg1"/>
                </a:solidFill>
              </a:rPr>
              <a:t>Compte de gestion : uniquement la facturation et Organizations</a:t>
            </a:r>
            <a:endParaRPr lang="en-US" sz="18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15 · MULTI-COMPTES ET GOUVERNANCE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Une SCP : un garde-fou, pas un droit</a:t>
            </a:r>
            <a:endParaRPr lang="en-US" sz="3600" dirty="0"/>
          </a:p>
        </p:txBody>
      </p:sp>
      <p:sp>
        <p:nvSpPr>
          <p:cNvPr id="5" name="Points clés"/>
          <p:cNvSpPr txBox="1"/>
          <p:nvPr/>
        </p:nvSpPr>
        <p:spPr>
          <a:xfrm>
            <a:off x="548640" y="1691640"/>
            <a:ext cx="4572000" cy="4206240"/>
          </a:xfrm>
          <a:prstGeom prst="rect">
            <a:avLst/>
          </a:prstGeom>
          <a:noFill/>
          <a:ln/>
        </p:spPr>
        <p:txBody>
          <a:bodyPr wrap="square" lIns="0" tIns="0" rIns="0" bIns="0" rtlCol="0" anchor="t"/>
          <a:lstStyle/>
          <a:p>
            <a:pPr marL="342900" indent="-342900">
              <a:spcAft>
                <a:spcPts val="1600"/>
              </a:spcAft>
              <a:buSzPct val="100000"/>
              <a:buChar char="•"/>
            </a:pPr>
            <a:r>
              <a:rPr lang="en-US" sz="2000" dirty="0">
                <a:solidFill>
                  <a:schemeClr val="tx1"/>
                </a:solidFill>
              </a:rPr>
              <a:t>Plafonne tous les principaux d'un compte</a:t>
            </a:r>
            <a:endParaRPr lang="en-US" sz="2000" dirty="0"/>
          </a:p>
          <a:p>
            <a:pPr marL="342900" indent="-342900">
              <a:spcAft>
                <a:spcPts val="1600"/>
              </a:spcAft>
              <a:buSzPct val="100000"/>
              <a:buChar char="•"/>
            </a:pPr>
            <a:r>
              <a:rPr lang="en-US" sz="2000" dirty="0">
                <a:solidFill>
                  <a:schemeClr val="tx1"/>
                </a:solidFill>
              </a:rPr>
              <a:t>Hérite de l'OU vers le compte</a:t>
            </a:r>
            <a:endParaRPr lang="en-US" sz="2000" dirty="0"/>
          </a:p>
          <a:p>
            <a:pPr marL="342900" indent="-342900">
              <a:spcAft>
                <a:spcPts val="1600"/>
              </a:spcAft>
              <a:buSzPct val="100000"/>
              <a:buChar char="•"/>
            </a:pPr>
            <a:r>
              <a:rPr lang="en-US" sz="2000" dirty="0">
                <a:solidFill>
                  <a:schemeClr val="tx1"/>
                </a:solidFill>
              </a:rPr>
              <a:t>Ne s'applique pas au compte de gestion</a:t>
            </a:r>
            <a:endParaRPr lang="en-US" sz="2000" dirty="0"/>
          </a:p>
          <a:p>
            <a:pPr marL="342900" indent="-342900">
              <a:spcAft>
                <a:spcPts val="1600"/>
              </a:spcAft>
              <a:buSzPct val="100000"/>
              <a:buChar char="•"/>
            </a:pPr>
            <a:r>
              <a:rPr lang="en-US" sz="2000" dirty="0">
                <a:solidFill>
                  <a:schemeClr val="tx1"/>
                </a:solidFill>
              </a:rPr>
              <a:t>À tester en sandbox d'abord</a:t>
            </a:r>
            <a:endParaRPr lang="en-US" sz="2000" dirty="0"/>
          </a:p>
        </p:txBody>
      </p:sp>
      <p:sp>
        <p:nvSpPr>
          <p:cNvPr id="6" name="Bloc de code"/>
          <p:cNvSpPr/>
          <p:nvPr/>
        </p:nvSpPr>
        <p:spPr>
          <a:xfrm>
            <a:off x="5440680" y="1554480"/>
            <a:ext cx="6199632" cy="4572000"/>
          </a:xfrm>
          <a:prstGeom prst="roundRect">
            <a:avLst>
              <a:gd name="adj" fmla="val 2400"/>
            </a:avLst>
          </a:prstGeom>
          <a:solidFill>
            <a:schemeClr val="tx1"/>
          </a:solidFill>
          <a:ln w="12700">
            <a:solidFill>
              <a:schemeClr val="tx1"/>
            </a:solidFill>
            <a:prstDash val="solid"/>
          </a:ln>
        </p:spPr>
      </p:sp>
      <p:sp>
        <p:nvSpPr>
          <p:cNvPr id="7" name="Text 4"/>
          <p:cNvSpPr txBox="1"/>
          <p:nvPr/>
        </p:nvSpPr>
        <p:spPr>
          <a:xfrm>
            <a:off x="5715000" y="169164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JSON</a:t>
            </a:r>
            <a:endParaRPr lang="en-US" sz="1200" dirty="0"/>
          </a:p>
        </p:txBody>
      </p:sp>
      <p:sp>
        <p:nvSpPr>
          <p:cNvPr id="8" name="Code"/>
          <p:cNvSpPr txBox="1"/>
          <p:nvPr/>
        </p:nvSpPr>
        <p:spPr>
          <a:xfrm>
            <a:off x="5715000" y="2057400"/>
            <a:ext cx="5760720" cy="3931920"/>
          </a:xfrm>
          <a:prstGeom prst="rect">
            <a:avLst/>
          </a:prstGeom>
          <a:noFill/>
          <a:ln/>
        </p:spPr>
        <p:txBody>
          <a:bodyPr wrap="square" lIns="0" tIns="0" rIns="0" bIns="0" rtlCol="0" anchor="t"/>
          <a:lstStyle/>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"Sid": "DenyOutsideEU",</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"Effect": "Deny",</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"NotAction": ["iam:*", "organizations:*",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"route53:*", "cloudfront:*",</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"support:*", "sts:*"],</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"Resource":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"Condition":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"StringNotEquals":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"aws:RequestedRegion":</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["eu-west-3", "eu-west-1", "eu-central-1"]</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2"/>
                </a:solidFill>
                <a:latin typeface="Courier New" pitchFamily="34" charset="0"/>
                <a:ea typeface="Courier New" pitchFamily="34" charset="-122"/>
                <a:cs typeface="Courier New" pitchFamily="34" charset="-120"/>
              </a:rPr>
              <a:t>}</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15 · MULTI-COMPTES ET GOUVERNANCE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Industrialiser avec Control Tower</a:t>
            </a:r>
            <a:endParaRPr lang="en-US" sz="3600" dirty="0"/>
          </a:p>
        </p:txBody>
      </p:sp>
      <p:sp>
        <p:nvSpPr>
          <p:cNvPr id="5" name="Carte Landing zone"/>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LayerGroup"/>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LayerGroup"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Landing zone</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OU, comptes log archive et audit, CloudTrail et Config organisationnels.</a:t>
            </a:r>
            <a:endParaRPr lang="en-US" sz="1900" dirty="0"/>
          </a:p>
        </p:txBody>
      </p:sp>
      <p:sp>
        <p:nvSpPr>
          <p:cNvPr id="10" name="Carte Contrôles"/>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ShieldAlt"/>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ShieldAlt"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Contrôles</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Garde-fous préventifs (SCP) et détectifs (Config).</a:t>
            </a:r>
            <a:endParaRPr lang="en-US" sz="1900" dirty="0"/>
          </a:p>
        </p:txBody>
      </p:sp>
      <p:sp>
        <p:nvSpPr>
          <p:cNvPr id="15" name="Carte Account Factory"/>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Industry"/>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Industry"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Account Factory</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Créer des comptes standardisés en libre-service, avec AFT pour Terraform.</a:t>
            </a:r>
            <a:endParaRPr lang="en-US" sz="1900" dirty="0"/>
          </a:p>
        </p:txBody>
      </p:sp>
      <p:sp>
        <p:nvSpPr>
          <p:cNvPr id="20" name="Carte Services partagés"/>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ShareAlt"/>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ShareAlt"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Services partagés</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RAM, Transit Gateway, logs et sécurité centralisés.</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15 · MULTI-COMPTES ET GOUVERNANCE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Labo 15 : gouverner par SCP</a:t>
            </a:r>
            <a:endParaRPr lang="en-US" sz="3600" dirty="0"/>
          </a:p>
        </p:txBody>
      </p:sp>
      <p:sp>
        <p:nvSpPr>
          <p:cNvPr id="5" name="Shape 2"/>
          <p:cNvSpPr/>
          <p:nvPr/>
        </p:nvSpPr>
        <p:spPr>
          <a:xfrm>
            <a:off x="10451592" y="246888"/>
            <a:ext cx="1188720" cy="329184"/>
          </a:xfrm>
          <a:prstGeom prst="roundRect">
            <a:avLst>
              <a:gd name="adj" fmla="val 50000"/>
            </a:avLst>
          </a:prstGeom>
          <a:solidFill>
            <a:schemeClr val="accent1"/>
          </a:solidFill>
          <a:ln w="12700">
            <a:solidFill>
              <a:schemeClr val="accent1"/>
            </a:solidFill>
            <a:prstDash val="solid"/>
          </a:ln>
        </p:spPr>
      </p:sp>
      <p:sp>
        <p:nvSpPr>
          <p:cNvPr id="6" name="Text 3"/>
          <p:cNvSpPr txBox="1"/>
          <p:nvPr/>
        </p:nvSpPr>
        <p:spPr>
          <a:xfrm>
            <a:off x="10451592" y="246888"/>
            <a:ext cx="1188720" cy="329184"/>
          </a:xfrm>
          <a:prstGeom prst="rect">
            <a:avLst/>
          </a:prstGeom>
          <a:noFill/>
          <a:ln/>
        </p:spPr>
        <p:txBody>
          <a:bodyPr wrap="square" lIns="0" tIns="0" rIns="0" bIns="0" rtlCol="0" anchor="ctr"/>
          <a:lstStyle/>
          <a:p>
            <a:pPr algn="ctr" indent="0" marL="0">
              <a:buNone/>
            </a:pPr>
            <a:r>
              <a:rPr lang="en-US" sz="1300" b="1" spc="300" kern="0" dirty="0">
                <a:solidFill>
                  <a:schemeClr val="tx1"/>
                </a:solidFill>
              </a:rPr>
              <a:t>LABO</a:t>
            </a:r>
            <a:endParaRPr lang="en-US" sz="1300" dirty="0"/>
          </a:p>
        </p:txBody>
      </p:sp>
      <p:sp>
        <p:nvSpPr>
          <p:cNvPr id="7" name="Scénario"/>
          <p:cNvSpPr/>
          <p:nvPr/>
        </p:nvSpPr>
        <p:spPr>
          <a:xfrm>
            <a:off x="548640" y="1554480"/>
            <a:ext cx="667512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822960" y="1554480"/>
            <a:ext cx="6126480" cy="1143000"/>
          </a:xfrm>
          <a:prstGeom prst="rect">
            <a:avLst/>
          </a:prstGeom>
          <a:noFill/>
          <a:ln/>
        </p:spPr>
        <p:txBody>
          <a:bodyPr wrap="square" lIns="0" tIns="0" rIns="0" bIns="0" rtlCol="0" anchor="ctr"/>
          <a:lstStyle/>
          <a:p>
            <a:pPr indent="0" marL="0">
              <a:buNone/>
            </a:pPr>
            <a:r>
              <a:rPr lang="en-US" sz="1800" dirty="0">
                <a:solidFill>
                  <a:schemeClr val="tx1"/>
                </a:solidFill>
              </a:rPr>
              <a:t>Créer une OU Sandbox et rattacher trois SCP : régions autorisées, protection des services de sécurité, interdiction de quitter l'organisation.</a:t>
            </a:r>
            <a:endParaRPr lang="en-US" sz="1800" dirty="0"/>
          </a:p>
        </p:txBody>
      </p:sp>
      <p:sp>
        <p:nvSpPr>
          <p:cNvPr id="9" name="Text 6"/>
          <p:cNvSpPr txBox="1"/>
          <p:nvPr/>
        </p:nvSpPr>
        <p:spPr>
          <a:xfrm>
            <a:off x="548640" y="2880360"/>
            <a:ext cx="3657600"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ÉTAPES</a:t>
            </a:r>
            <a:endParaRPr lang="en-US" sz="1300" dirty="0"/>
          </a:p>
        </p:txBody>
      </p:sp>
      <p:sp>
        <p:nvSpPr>
          <p:cNvPr id="10" name="Étapes du labo"/>
          <p:cNvSpPr txBox="1"/>
          <p:nvPr/>
        </p:nvSpPr>
        <p:spPr>
          <a:xfrm>
            <a:off x="548640" y="3246120"/>
            <a:ext cx="6675120" cy="292608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800" dirty="0">
                <a:solidFill>
                  <a:schemeClr val="tx1"/>
                </a:solidFill>
              </a:rPr>
              <a:t>terraform apply depuis le compte de gestion</a:t>
            </a:r>
            <a:endParaRPr lang="en-US" sz="1800" dirty="0"/>
          </a:p>
          <a:p>
            <a:pPr marL="342900" indent="-342900">
              <a:spcAft>
                <a:spcPts val="800"/>
              </a:spcAft>
              <a:buSzPct val="100000"/>
              <a:buFont typeface="+mj-lt"/>
              <a:buAutoNum type="arabicPeriod" startAt="1"/>
            </a:pPr>
            <a:r>
              <a:rPr lang="en-US" sz="1800" dirty="0">
                <a:solidFill>
                  <a:schemeClr val="tx1"/>
                </a:solidFill>
              </a:rPr>
              <a:t>Déplacer un compte de test dans l'OU</a:t>
            </a:r>
            <a:endParaRPr lang="en-US" sz="1800" dirty="0"/>
          </a:p>
          <a:p>
            <a:pPr marL="342900" indent="-342900">
              <a:spcAft>
                <a:spcPts val="800"/>
              </a:spcAft>
              <a:buSzPct val="100000"/>
              <a:buFont typeface="+mj-lt"/>
              <a:buAutoNum type="arabicPeriod" startAt="1"/>
            </a:pPr>
            <a:r>
              <a:rPr lang="en-US" sz="1800" dirty="0">
                <a:solidFill>
                  <a:schemeClr val="tx1"/>
                </a:solidFill>
              </a:rPr>
              <a:t>Tenter une action en us-east-1 : refus</a:t>
            </a:r>
            <a:endParaRPr lang="en-US" sz="1800" dirty="0"/>
          </a:p>
          <a:p>
            <a:pPr marL="342900" indent="-342900">
              <a:spcAft>
                <a:spcPts val="800"/>
              </a:spcAft>
              <a:buSzPct val="100000"/>
              <a:buFont typeface="+mj-lt"/>
              <a:buAutoNum type="arabicPeriod" startAt="1"/>
            </a:pPr>
            <a:r>
              <a:rPr lang="en-US" sz="1800" dirty="0">
                <a:solidFill>
                  <a:schemeClr val="tx1"/>
                </a:solidFill>
              </a:rPr>
              <a:t>Tenter d'arrêter CloudTrail : refus</a:t>
            </a:r>
            <a:endParaRPr lang="en-US" sz="1800" dirty="0"/>
          </a:p>
          <a:p>
            <a:pPr marL="342900" indent="-342900">
              <a:spcAft>
                <a:spcPts val="800"/>
              </a:spcAft>
              <a:buSzPct val="100000"/>
              <a:buFont typeface="+mj-lt"/>
              <a:buAutoNum type="arabicPeriod" startAt="1"/>
            </a:pPr>
            <a:r>
              <a:rPr lang="en-US" sz="1800" dirty="0">
                <a:solidFill>
                  <a:schemeClr val="tx1"/>
                </a:solidFill>
              </a:rPr>
              <a:t>Défi : exiger le tag owner à la création d'EC2</a:t>
            </a:r>
            <a:endParaRPr lang="en-US" sz="1800" dirty="0"/>
          </a:p>
        </p:txBody>
      </p:sp>
      <p:sp>
        <p:nvSpPr>
          <p:cNvPr id="11" name="Validation"/>
          <p:cNvSpPr/>
          <p:nvPr/>
        </p:nvSpPr>
        <p:spPr>
          <a:xfrm>
            <a:off x="7498080" y="1554480"/>
            <a:ext cx="4144975" cy="2240280"/>
          </a:xfrm>
          <a:prstGeom prst="roundRect">
            <a:avLst>
              <a:gd name="adj" fmla="val 4898"/>
            </a:avLst>
          </a:prstGeom>
          <a:solidFill>
            <a:schemeClr val="tx1"/>
          </a:solidFill>
          <a:ln w="12700">
            <a:solidFill>
              <a:schemeClr val="tx1"/>
            </a:solidFill>
            <a:prstDash val="solid"/>
          </a:ln>
        </p:spPr>
      </p:sp>
      <p:sp>
        <p:nvSpPr>
          <p:cNvPr id="12" name="Text 9"/>
          <p:cNvSpPr txBox="1"/>
          <p:nvPr/>
        </p:nvSpPr>
        <p:spPr>
          <a:xfrm>
            <a:off x="7772400" y="1737360"/>
            <a:ext cx="3596335" cy="274320"/>
          </a:xfrm>
          <a:prstGeom prst="rect">
            <a:avLst/>
          </a:prstGeom>
          <a:noFill/>
          <a:ln/>
        </p:spPr>
        <p:txBody>
          <a:bodyPr wrap="square" lIns="0" tIns="0" rIns="0" bIns="0" rtlCol="0" anchor="ctr"/>
          <a:lstStyle/>
          <a:p>
            <a:pPr indent="0" marL="0">
              <a:buNone/>
            </a:pPr>
            <a:r>
              <a:rPr lang="en-US" sz="1300" b="1" spc="300" kern="0" dirty="0">
                <a:solidFill>
                  <a:schemeClr val="accent1"/>
                </a:solidFill>
              </a:rPr>
              <a:t>VALIDATION</a:t>
            </a:r>
            <a:endParaRPr lang="en-US" sz="1300" dirty="0"/>
          </a:p>
        </p:txBody>
      </p:sp>
      <p:sp>
        <p:nvSpPr>
          <p:cNvPr id="13" name="Text 10"/>
          <p:cNvSpPr txBox="1"/>
          <p:nvPr/>
        </p:nvSpPr>
        <p:spPr>
          <a:xfrm>
            <a:off x="7772400" y="2103120"/>
            <a:ext cx="3596335" cy="1554480"/>
          </a:xfrm>
          <a:prstGeom prst="rect">
            <a:avLst/>
          </a:prstGeom>
          <a:noFill/>
          <a:ln/>
        </p:spPr>
        <p:txBody>
          <a:bodyPr wrap="square" lIns="0" tIns="0" rIns="0" bIns="0" rtlCol="0" anchor="t"/>
          <a:lstStyle/>
          <a:p>
            <a:pPr indent="0" marL="0">
              <a:buNone/>
            </a:pPr>
            <a:r>
              <a:rPr lang="en-US" sz="1900" dirty="0">
                <a:solidFill>
                  <a:schemeClr val="bg1"/>
                </a:solidFill>
              </a:rPr>
              <a:t>Le message « explicit deny in a service control policy » observé deux fois.</a:t>
            </a:r>
            <a:endParaRPr lang="en-US" sz="1900" dirty="0"/>
          </a:p>
        </p:txBody>
      </p:sp>
      <p:sp>
        <p:nvSpPr>
          <p:cNvPr id="14" name="Coût"/>
          <p:cNvSpPr/>
          <p:nvPr/>
        </p:nvSpPr>
        <p:spPr>
          <a:xfrm>
            <a:off x="7498080" y="3931920"/>
            <a:ext cx="4144975"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7772400" y="4041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4"/>
                </a:solidFill>
              </a:rPr>
              <a:t>COÛT</a:t>
            </a:r>
            <a:endParaRPr lang="en-US" sz="1300" dirty="0"/>
          </a:p>
        </p:txBody>
      </p:sp>
      <p:sp>
        <p:nvSpPr>
          <p:cNvPr id="16" name="Text 13"/>
          <p:cNvSpPr txBox="1"/>
          <p:nvPr/>
        </p:nvSpPr>
        <p:spPr>
          <a:xfrm>
            <a:off x="7772400" y="4334256"/>
            <a:ext cx="3596335" cy="502920"/>
          </a:xfrm>
          <a:prstGeom prst="rect">
            <a:avLst/>
          </a:prstGeom>
          <a:noFill/>
          <a:ln/>
        </p:spPr>
        <p:txBody>
          <a:bodyPr wrap="square" lIns="0" tIns="0" rIns="0" bIns="0" rtlCol="0" anchor="t"/>
          <a:lstStyle/>
          <a:p>
            <a:pPr indent="0" marL="0">
              <a:buNone/>
            </a:pPr>
            <a:r>
              <a:rPr lang="en-US" sz="2000" b="1" dirty="0">
                <a:solidFill>
                  <a:schemeClr val="tx1"/>
                </a:solidFill>
              </a:rPr>
              <a:t>≈ 0 €</a:t>
            </a:r>
            <a:endParaRPr lang="en-US" sz="2000" dirty="0"/>
          </a:p>
        </p:txBody>
      </p:sp>
      <p:sp>
        <p:nvSpPr>
          <p:cNvPr id="17" name="Chemin du code"/>
          <p:cNvSpPr/>
          <p:nvPr/>
        </p:nvSpPr>
        <p:spPr>
          <a:xfrm>
            <a:off x="7498080" y="5074920"/>
            <a:ext cx="4144975" cy="1097280"/>
          </a:xfrm>
          <a:prstGeom prst="roundRect">
            <a:avLst>
              <a:gd name="adj" fmla="val 10000"/>
            </a:avLst>
          </a:prstGeom>
          <a:solidFill>
            <a:schemeClr val="bg2"/>
          </a:solidFill>
          <a:ln w="12700">
            <a:solidFill>
              <a:schemeClr val="bg2"/>
            </a:solidFill>
            <a:prstDash val="solid"/>
          </a:ln>
        </p:spPr>
      </p:sp>
      <p:sp>
        <p:nvSpPr>
          <p:cNvPr id="18" name="Text 15"/>
          <p:cNvSpPr txBox="1"/>
          <p:nvPr/>
        </p:nvSpPr>
        <p:spPr>
          <a:xfrm>
            <a:off x="7772400" y="5184648"/>
            <a:ext cx="3596335" cy="274320"/>
          </a:xfrm>
          <a:prstGeom prst="rect">
            <a:avLst/>
          </a:prstGeom>
          <a:noFill/>
          <a:ln/>
        </p:spPr>
        <p:txBody>
          <a:bodyPr wrap="square" lIns="0" tIns="0" rIns="0" bIns="0" rtlCol="0" anchor="ctr"/>
          <a:lstStyle/>
          <a:p>
            <a:pPr indent="0" marL="0">
              <a:buNone/>
            </a:pPr>
            <a:r>
              <a:rPr lang="en-US" sz="1300" b="1" spc="300" kern="0" dirty="0">
                <a:solidFill>
                  <a:schemeClr val="accent3"/>
                </a:solidFill>
              </a:rPr>
              <a:t>CODE DANS LE DÉPÔT</a:t>
            </a:r>
            <a:endParaRPr lang="en-US" sz="1300" dirty="0"/>
          </a:p>
        </p:txBody>
      </p:sp>
      <p:sp>
        <p:nvSpPr>
          <p:cNvPr id="19" name="Text 16"/>
          <p:cNvSpPr txBox="1"/>
          <p:nvPr/>
        </p:nvSpPr>
        <p:spPr>
          <a:xfrm>
            <a:off x="7772400" y="5486400"/>
            <a:ext cx="3596335" cy="594360"/>
          </a:xfrm>
          <a:prstGeom prst="rect">
            <a:avLst/>
          </a:prstGeom>
          <a:noFill/>
          <a:ln/>
        </p:spPr>
        <p:txBody>
          <a:bodyPr wrap="square" lIns="0" tIns="0" rIns="0" bIns="0" rtlCol="0" anchor="t"/>
          <a:lstStyle/>
          <a:p>
            <a:pPr indent="0" marL="0">
              <a:buNone/>
            </a:pPr>
            <a:r>
              <a:rPr lang="en-US" sz="1400" dirty="0">
                <a:solidFill>
                  <a:schemeClr val="tx1"/>
                </a:solidFill>
                <a:latin typeface="Courier New" pitchFamily="34" charset="0"/>
                <a:ea typeface="Courier New" pitchFamily="34" charset="-122"/>
                <a:cs typeface="Courier New" pitchFamily="34" charset="-120"/>
              </a:rPr>
              <a:t>15-multi-comptes/labs/lab-organizations</a:t>
            </a:r>
            <a:endParaRPr lang="en-US" sz="14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15 · MULTI-COMPTES ET GOUVERNANCE</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Compte = frontière d'isolation la plus forte</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SCP = plafond, jamais une permission</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Comptes de logs et de sécurité séparés</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Une SCP peut-elle donner des permissions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Quel compte échappe aux SCP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un compte de logs séparé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16</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Projet final : TaskHub</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3 jours</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Plateforme complète de production</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Tout en code, déployée par pipeline</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Observable et sécurisée</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Documentée et chiffrée en coût</a:t>
            </a:r>
            <a:endParaRPr lang="en-US" sz="18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16 · PROJET FINAL : TASKHUB</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L'architecture cible</a:t>
            </a:r>
            <a:endParaRPr lang="en-US" sz="3600" dirty="0"/>
          </a:p>
        </p:txBody>
      </p:sp>
      <p:sp>
        <p:nvSpPr>
          <p:cNvPr id="5" name="Étape 1"/>
          <p:cNvSpPr/>
          <p:nvPr/>
        </p:nvSpPr>
        <p:spPr>
          <a:xfrm>
            <a:off x="548640" y="1600200"/>
            <a:ext cx="1926275" cy="3611880"/>
          </a:xfrm>
          <a:prstGeom prst="roundRect">
            <a:avLst>
              <a:gd name="adj" fmla="val 5696"/>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Edge</a:t>
            </a:r>
            <a:endParaRPr lang="en-US" sz="1800" dirty="0"/>
          </a:p>
        </p:txBody>
      </p:sp>
      <p:sp>
        <p:nvSpPr>
          <p:cNvPr id="9" name="Text 6"/>
          <p:cNvSpPr txBox="1"/>
          <p:nvPr/>
        </p:nvSpPr>
        <p:spPr>
          <a:xfrm>
            <a:off x="77724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Route 53, CloudFront, WAF, S3 privé (OAC)</a:t>
            </a:r>
            <a:endParaRPr lang="en-US" sz="1600" dirty="0"/>
          </a:p>
        </p:txBody>
      </p:sp>
      <p:sp>
        <p:nvSpPr>
          <p:cNvPr id="10" name="Flèche"/>
          <p:cNvSpPr/>
          <p:nvPr/>
        </p:nvSpPr>
        <p:spPr>
          <a:xfrm>
            <a:off x="2520635"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2840675" y="1600200"/>
            <a:ext cx="1926275" cy="3611880"/>
          </a:xfrm>
          <a:prstGeom prst="roundRect">
            <a:avLst>
              <a:gd name="adj" fmla="val 5696"/>
            </a:avLst>
          </a:prstGeom>
          <a:solidFill>
            <a:schemeClr val="bg2"/>
          </a:solidFill>
          <a:ln w="12700">
            <a:solidFill>
              <a:schemeClr val="bg2"/>
            </a:solidFill>
            <a:prstDash val="solid"/>
          </a:ln>
        </p:spPr>
      </p:sp>
      <p:sp>
        <p:nvSpPr>
          <p:cNvPr id="12" name="Shape 9"/>
          <p:cNvSpPr/>
          <p:nvPr/>
        </p:nvSpPr>
        <p:spPr>
          <a:xfrm>
            <a:off x="3069275"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06927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06927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Application</a:t>
            </a:r>
            <a:endParaRPr lang="en-US" sz="1800" dirty="0"/>
          </a:p>
        </p:txBody>
      </p:sp>
      <p:sp>
        <p:nvSpPr>
          <p:cNvPr id="15" name="Text 12"/>
          <p:cNvSpPr txBox="1"/>
          <p:nvPr/>
        </p:nvSpPr>
        <p:spPr>
          <a:xfrm>
            <a:off x="306927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ALB, ECS Fargate sur 2 zones, ECR</a:t>
            </a:r>
            <a:endParaRPr lang="en-US" sz="1600" dirty="0"/>
          </a:p>
        </p:txBody>
      </p:sp>
      <p:sp>
        <p:nvSpPr>
          <p:cNvPr id="16" name="Flèche"/>
          <p:cNvSpPr/>
          <p:nvPr/>
        </p:nvSpPr>
        <p:spPr>
          <a:xfrm>
            <a:off x="4812670"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5132710" y="1600200"/>
            <a:ext cx="1926275" cy="3611880"/>
          </a:xfrm>
          <a:prstGeom prst="roundRect">
            <a:avLst>
              <a:gd name="adj" fmla="val 5696"/>
            </a:avLst>
          </a:prstGeom>
          <a:solidFill>
            <a:schemeClr val="bg2"/>
          </a:solidFill>
          <a:ln w="12700">
            <a:solidFill>
              <a:schemeClr val="bg2"/>
            </a:solidFill>
            <a:prstDash val="solid"/>
          </a:ln>
        </p:spPr>
      </p:sp>
      <p:sp>
        <p:nvSpPr>
          <p:cNvPr id="18" name="Shape 15"/>
          <p:cNvSpPr/>
          <p:nvPr/>
        </p:nvSpPr>
        <p:spPr>
          <a:xfrm>
            <a:off x="5361310"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536131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536131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Données</a:t>
            </a:r>
            <a:endParaRPr lang="en-US" sz="1800" dirty="0"/>
          </a:p>
        </p:txBody>
      </p:sp>
      <p:sp>
        <p:nvSpPr>
          <p:cNvPr id="21" name="Text 18"/>
          <p:cNvSpPr txBox="1"/>
          <p:nvPr/>
        </p:nvSpPr>
        <p:spPr>
          <a:xfrm>
            <a:off x="536131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RDS PostgreSQL Multi-AZ, Secrets Manager, KMS</a:t>
            </a:r>
            <a:endParaRPr lang="en-US" sz="1600" dirty="0"/>
          </a:p>
        </p:txBody>
      </p:sp>
      <p:sp>
        <p:nvSpPr>
          <p:cNvPr id="22" name="Flèche"/>
          <p:cNvSpPr/>
          <p:nvPr/>
        </p:nvSpPr>
        <p:spPr>
          <a:xfrm>
            <a:off x="7104705"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7424745" y="1600200"/>
            <a:ext cx="1926275" cy="3611880"/>
          </a:xfrm>
          <a:prstGeom prst="roundRect">
            <a:avLst>
              <a:gd name="adj" fmla="val 5696"/>
            </a:avLst>
          </a:prstGeom>
          <a:solidFill>
            <a:schemeClr val="bg2"/>
          </a:solidFill>
          <a:ln w="12700">
            <a:solidFill>
              <a:schemeClr val="bg2"/>
            </a:solidFill>
            <a:prstDash val="solid"/>
          </a:ln>
        </p:spPr>
      </p:sp>
      <p:sp>
        <p:nvSpPr>
          <p:cNvPr id="24" name="Shape 21"/>
          <p:cNvSpPr/>
          <p:nvPr/>
        </p:nvSpPr>
        <p:spPr>
          <a:xfrm>
            <a:off x="7653345"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7653345"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7653345"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Asynchrone</a:t>
            </a:r>
            <a:endParaRPr lang="en-US" sz="1800" dirty="0"/>
          </a:p>
        </p:txBody>
      </p:sp>
      <p:sp>
        <p:nvSpPr>
          <p:cNvPr id="27" name="Text 24"/>
          <p:cNvSpPr txBox="1"/>
          <p:nvPr/>
        </p:nvSpPr>
        <p:spPr>
          <a:xfrm>
            <a:off x="7653345"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SQS et worker Lambda</a:t>
            </a:r>
            <a:endParaRPr lang="en-US" sz="1600" dirty="0"/>
          </a:p>
        </p:txBody>
      </p:sp>
      <p:sp>
        <p:nvSpPr>
          <p:cNvPr id="28" name="Flèche"/>
          <p:cNvSpPr/>
          <p:nvPr/>
        </p:nvSpPr>
        <p:spPr>
          <a:xfrm>
            <a:off x="9396740" y="1965960"/>
            <a:ext cx="274320" cy="274320"/>
          </a:xfrm>
          <a:prstGeom prst="rightArrow">
            <a:avLst/>
          </a:prstGeom>
          <a:solidFill>
            <a:schemeClr val="accent1"/>
          </a:solidFill>
          <a:ln w="12700">
            <a:solidFill>
              <a:schemeClr val="accent1"/>
            </a:solidFill>
            <a:prstDash val="solid"/>
          </a:ln>
        </p:spPr>
      </p:sp>
      <p:sp>
        <p:nvSpPr>
          <p:cNvPr id="29" name="Étape 5"/>
          <p:cNvSpPr/>
          <p:nvPr/>
        </p:nvSpPr>
        <p:spPr>
          <a:xfrm>
            <a:off x="9716780" y="1600200"/>
            <a:ext cx="1926275" cy="3611880"/>
          </a:xfrm>
          <a:prstGeom prst="roundRect">
            <a:avLst>
              <a:gd name="adj" fmla="val 5696"/>
            </a:avLst>
          </a:prstGeom>
          <a:solidFill>
            <a:schemeClr val="bg2"/>
          </a:solidFill>
          <a:ln w="12700">
            <a:solidFill>
              <a:schemeClr val="bg2"/>
            </a:solidFill>
            <a:prstDash val="solid"/>
          </a:ln>
        </p:spPr>
      </p:sp>
      <p:sp>
        <p:nvSpPr>
          <p:cNvPr id="30" name="Shape 27"/>
          <p:cNvSpPr/>
          <p:nvPr/>
        </p:nvSpPr>
        <p:spPr>
          <a:xfrm>
            <a:off x="9945380" y="1828800"/>
            <a:ext cx="548640" cy="548640"/>
          </a:xfrm>
          <a:prstGeom prst="ellipse">
            <a:avLst/>
          </a:prstGeom>
          <a:solidFill>
            <a:schemeClr val="accent1"/>
          </a:solidFill>
          <a:ln w="12700">
            <a:solidFill>
              <a:schemeClr val="accent1"/>
            </a:solidFill>
            <a:prstDash val="solid"/>
          </a:ln>
        </p:spPr>
      </p:sp>
      <p:sp>
        <p:nvSpPr>
          <p:cNvPr id="31" name="Text 28"/>
          <p:cNvSpPr txBox="1"/>
          <p:nvPr/>
        </p:nvSpPr>
        <p:spPr>
          <a:xfrm>
            <a:off x="994538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5</a:t>
            </a:r>
            <a:endParaRPr lang="en-US" sz="2000" dirty="0"/>
          </a:p>
        </p:txBody>
      </p:sp>
      <p:sp>
        <p:nvSpPr>
          <p:cNvPr id="32" name="Text 29"/>
          <p:cNvSpPr txBox="1"/>
          <p:nvPr/>
        </p:nvSpPr>
        <p:spPr>
          <a:xfrm>
            <a:off x="9945380" y="2560320"/>
            <a:ext cx="1469075" cy="777240"/>
          </a:xfrm>
          <a:prstGeom prst="rect">
            <a:avLst/>
          </a:prstGeom>
          <a:noFill/>
          <a:ln/>
        </p:spPr>
        <p:txBody>
          <a:bodyPr wrap="square" lIns="0" tIns="0" rIns="0" bIns="0" rtlCol="0" anchor="t"/>
          <a:lstStyle/>
          <a:p>
            <a:pPr indent="0" marL="0">
              <a:buNone/>
            </a:pPr>
            <a:r>
              <a:rPr lang="en-US" sz="1800" b="1" dirty="0">
                <a:solidFill>
                  <a:schemeClr val="tx1"/>
                </a:solidFill>
              </a:rPr>
              <a:t>Exploitation</a:t>
            </a:r>
            <a:endParaRPr lang="en-US" sz="1800" dirty="0"/>
          </a:p>
        </p:txBody>
      </p:sp>
      <p:sp>
        <p:nvSpPr>
          <p:cNvPr id="33" name="Text 30"/>
          <p:cNvSpPr txBox="1"/>
          <p:nvPr/>
        </p:nvSpPr>
        <p:spPr>
          <a:xfrm>
            <a:off x="9945380" y="3383280"/>
            <a:ext cx="1469075" cy="1691640"/>
          </a:xfrm>
          <a:prstGeom prst="rect">
            <a:avLst/>
          </a:prstGeom>
          <a:noFill/>
          <a:ln/>
        </p:spPr>
        <p:txBody>
          <a:bodyPr wrap="square" lIns="0" tIns="0" rIns="0" bIns="0" rtlCol="0" anchor="t"/>
          <a:lstStyle/>
          <a:p>
            <a:pPr indent="0" marL="0">
              <a:buNone/>
            </a:pPr>
            <a:r>
              <a:rPr lang="en-US" sz="1600" dirty="0">
                <a:solidFill>
                  <a:schemeClr val="tx2"/>
                </a:solidFill>
              </a:rPr>
              <a:t>CloudWatch, SNS, CloudTrail, Config, GuardDuty</a:t>
            </a:r>
            <a:endParaRPr lang="en-US" sz="1600" dirty="0"/>
          </a:p>
        </p:txBody>
      </p:sp>
      <p:sp>
        <p:nvSpPr>
          <p:cNvPr id="34"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35"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6"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7"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Tout est décrit en Terraform et déployé par GitHub Actions avec OIDC.</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16 · PROJET FINAL : TASKHUB</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exigences obligatoires</a:t>
            </a:r>
            <a:endParaRPr lang="en-US" sz="3600" dirty="0"/>
          </a:p>
        </p:txBody>
      </p:sp>
      <p:sp>
        <p:nvSpPr>
          <p:cNvPr id="5" name="Carte Réseau et calcul"/>
          <p:cNvSpPr/>
          <p:nvPr/>
        </p:nvSpPr>
        <p:spPr>
          <a:xfrm>
            <a:off x="548640" y="1554480"/>
            <a:ext cx="3515258" cy="2194560"/>
          </a:xfrm>
          <a:prstGeom prst="roundRect">
            <a:avLst>
              <a:gd name="adj" fmla="val 5000"/>
            </a:avLst>
          </a:prstGeom>
          <a:solidFill>
            <a:schemeClr val="bg2"/>
          </a:solidFill>
          <a:ln w="12700">
            <a:solidFill>
              <a:schemeClr val="bg2"/>
            </a:solidFill>
            <a:prstDash val="solid"/>
          </a:ln>
        </p:spPr>
      </p:sp>
      <p:sp>
        <p:nvSpPr>
          <p:cNvPr id="6" name="Pastille FaNetworkWired"/>
          <p:cNvSpPr/>
          <p:nvPr/>
        </p:nvSpPr>
        <p:spPr>
          <a:xfrm>
            <a:off x="777240" y="1755648"/>
            <a:ext cx="566928" cy="566928"/>
          </a:xfrm>
          <a:prstGeom prst="ellipse">
            <a:avLst/>
          </a:prstGeom>
          <a:solidFill>
            <a:schemeClr val="accent1"/>
          </a:solidFill>
          <a:ln w="12700">
            <a:solidFill>
              <a:schemeClr val="accent1"/>
            </a:solidFill>
            <a:prstDash val="solid"/>
          </a:ln>
        </p:spPr>
      </p:sp>
      <p:pic>
        <p:nvPicPr>
          <p:cNvPr id="7" name="Icône FaNetworkWired" descr="icône">    </p:cNvPr>
          <p:cNvPicPr>
            <a:picLocks noChangeAspect="1"/>
          </p:cNvPicPr>
          <p:nvPr/>
        </p:nvPicPr>
        <p:blipFill>
          <a:blip r:embed="rId1"/>
          <a:stretch>
            <a:fillRect/>
          </a:stretch>
        </p:blipFill>
        <p:spPr>
          <a:xfrm>
            <a:off x="924641" y="1903049"/>
            <a:ext cx="272125" cy="272125"/>
          </a:xfrm>
          <a:prstGeom prst="rect">
            <a:avLst/>
          </a:prstGeom>
        </p:spPr>
      </p:pic>
      <p:sp>
        <p:nvSpPr>
          <p:cNvPr id="8" name="Text 4"/>
          <p:cNvSpPr txBox="1"/>
          <p:nvPr/>
        </p:nvSpPr>
        <p:spPr>
          <a:xfrm>
            <a:off x="1508760"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Réseau et calcul</a:t>
            </a:r>
            <a:endParaRPr lang="en-US" sz="1900" dirty="0"/>
          </a:p>
        </p:txBody>
      </p:sp>
      <p:sp>
        <p:nvSpPr>
          <p:cNvPr id="9" name="Text 5"/>
          <p:cNvSpPr txBox="1"/>
          <p:nvPr/>
        </p:nvSpPr>
        <p:spPr>
          <a:xfrm>
            <a:off x="777240"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VPC 2 zones à 3 niveaux, ECS Fargate d'au moins 2 tâches.</a:t>
            </a:r>
            <a:endParaRPr lang="en-US" sz="1600" dirty="0"/>
          </a:p>
        </p:txBody>
      </p:sp>
      <p:sp>
        <p:nvSpPr>
          <p:cNvPr id="10" name="Carte Données"/>
          <p:cNvSpPr/>
          <p:nvPr/>
        </p:nvSpPr>
        <p:spPr>
          <a:xfrm>
            <a:off x="4338218" y="1554480"/>
            <a:ext cx="3515258" cy="2194560"/>
          </a:xfrm>
          <a:prstGeom prst="roundRect">
            <a:avLst>
              <a:gd name="adj" fmla="val 5000"/>
            </a:avLst>
          </a:prstGeom>
          <a:solidFill>
            <a:schemeClr val="bg2"/>
          </a:solidFill>
          <a:ln w="12700">
            <a:solidFill>
              <a:schemeClr val="bg2"/>
            </a:solidFill>
            <a:prstDash val="solid"/>
          </a:ln>
        </p:spPr>
      </p:sp>
      <p:sp>
        <p:nvSpPr>
          <p:cNvPr id="11" name="Pastille FaDatabase"/>
          <p:cNvSpPr/>
          <p:nvPr/>
        </p:nvSpPr>
        <p:spPr>
          <a:xfrm>
            <a:off x="4566818" y="1755648"/>
            <a:ext cx="566928" cy="566928"/>
          </a:xfrm>
          <a:prstGeom prst="ellipse">
            <a:avLst/>
          </a:prstGeom>
          <a:solidFill>
            <a:schemeClr val="accent3"/>
          </a:solidFill>
          <a:ln w="12700">
            <a:solidFill>
              <a:schemeClr val="accent3"/>
            </a:solidFill>
            <a:prstDash val="solid"/>
          </a:ln>
        </p:spPr>
      </p:sp>
      <p:pic>
        <p:nvPicPr>
          <p:cNvPr id="12" name="Icône FaDatabase" descr="icône">    </p:cNvPr>
          <p:cNvPicPr>
            <a:picLocks noChangeAspect="1"/>
          </p:cNvPicPr>
          <p:nvPr/>
        </p:nvPicPr>
        <p:blipFill>
          <a:blip r:embed="rId2"/>
          <a:stretch>
            <a:fillRect/>
          </a:stretch>
        </p:blipFill>
        <p:spPr>
          <a:xfrm>
            <a:off x="4714220" y="1903049"/>
            <a:ext cx="272125" cy="272125"/>
          </a:xfrm>
          <a:prstGeom prst="rect">
            <a:avLst/>
          </a:prstGeom>
        </p:spPr>
      </p:pic>
      <p:sp>
        <p:nvSpPr>
          <p:cNvPr id="13" name="Text 8"/>
          <p:cNvSpPr txBox="1"/>
          <p:nvPr/>
        </p:nvSpPr>
        <p:spPr>
          <a:xfrm>
            <a:off x="5298338"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Données</a:t>
            </a:r>
            <a:endParaRPr lang="en-US" sz="1900" dirty="0"/>
          </a:p>
        </p:txBody>
      </p:sp>
      <p:sp>
        <p:nvSpPr>
          <p:cNvPr id="14" name="Text 9"/>
          <p:cNvSpPr txBox="1"/>
          <p:nvPr/>
        </p:nvSpPr>
        <p:spPr>
          <a:xfrm>
            <a:off x="4566818"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RDS chiffré, Multi-AZ, secret géré, sauvegardes.</a:t>
            </a:r>
            <a:endParaRPr lang="en-US" sz="1600" dirty="0"/>
          </a:p>
        </p:txBody>
      </p:sp>
      <p:sp>
        <p:nvSpPr>
          <p:cNvPr id="15" name="Carte IaC et CI/CD"/>
          <p:cNvSpPr/>
          <p:nvPr/>
        </p:nvSpPr>
        <p:spPr>
          <a:xfrm>
            <a:off x="8127797" y="1554480"/>
            <a:ext cx="3515258" cy="2194560"/>
          </a:xfrm>
          <a:prstGeom prst="roundRect">
            <a:avLst>
              <a:gd name="adj" fmla="val 5000"/>
            </a:avLst>
          </a:prstGeom>
          <a:solidFill>
            <a:schemeClr val="bg2"/>
          </a:solidFill>
          <a:ln w="12700">
            <a:solidFill>
              <a:schemeClr val="bg2"/>
            </a:solidFill>
            <a:prstDash val="solid"/>
          </a:ln>
        </p:spPr>
      </p:sp>
      <p:sp>
        <p:nvSpPr>
          <p:cNvPr id="16" name="Pastille FaCubes"/>
          <p:cNvSpPr/>
          <p:nvPr/>
        </p:nvSpPr>
        <p:spPr>
          <a:xfrm>
            <a:off x="8356397" y="1755648"/>
            <a:ext cx="566928" cy="566928"/>
          </a:xfrm>
          <a:prstGeom prst="ellipse">
            <a:avLst/>
          </a:prstGeom>
          <a:solidFill>
            <a:schemeClr val="accent2"/>
          </a:solidFill>
          <a:ln w="12700">
            <a:solidFill>
              <a:schemeClr val="accent2"/>
            </a:solidFill>
            <a:prstDash val="solid"/>
          </a:ln>
        </p:spPr>
      </p:sp>
      <p:pic>
        <p:nvPicPr>
          <p:cNvPr id="17" name="Icône FaCubes" descr="icône">    </p:cNvPr>
          <p:cNvPicPr>
            <a:picLocks noChangeAspect="1"/>
          </p:cNvPicPr>
          <p:nvPr/>
        </p:nvPicPr>
        <p:blipFill>
          <a:blip r:embed="rId3"/>
          <a:stretch>
            <a:fillRect/>
          </a:stretch>
        </p:blipFill>
        <p:spPr>
          <a:xfrm>
            <a:off x="8503798" y="1903049"/>
            <a:ext cx="272125" cy="272125"/>
          </a:xfrm>
          <a:prstGeom prst="rect">
            <a:avLst/>
          </a:prstGeom>
        </p:spPr>
      </p:pic>
      <p:sp>
        <p:nvSpPr>
          <p:cNvPr id="18" name="Text 12"/>
          <p:cNvSpPr txBox="1"/>
          <p:nvPr/>
        </p:nvSpPr>
        <p:spPr>
          <a:xfrm>
            <a:off x="9087917" y="1737360"/>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IaC et CI/CD</a:t>
            </a:r>
            <a:endParaRPr lang="en-US" sz="1900" dirty="0"/>
          </a:p>
        </p:txBody>
      </p:sp>
      <p:sp>
        <p:nvSpPr>
          <p:cNvPr id="19" name="Text 13"/>
          <p:cNvSpPr txBox="1"/>
          <p:nvPr/>
        </p:nvSpPr>
        <p:spPr>
          <a:xfrm>
            <a:off x="8356397" y="2468880"/>
            <a:ext cx="3058058" cy="1188720"/>
          </a:xfrm>
          <a:prstGeom prst="rect">
            <a:avLst/>
          </a:prstGeom>
          <a:noFill/>
          <a:ln/>
        </p:spPr>
        <p:txBody>
          <a:bodyPr wrap="square" lIns="0" tIns="0" rIns="0" bIns="0" rtlCol="0" anchor="t"/>
          <a:lstStyle/>
          <a:p>
            <a:pPr indent="0" marL="0">
              <a:buNone/>
            </a:pPr>
            <a:r>
              <a:rPr lang="en-US" sz="1600" dirty="0">
                <a:solidFill>
                  <a:schemeClr val="tx2"/>
                </a:solidFill>
              </a:rPr>
              <a:t>100 % Terraform, backend S3, pipeline OIDC avec rollback.</a:t>
            </a:r>
            <a:endParaRPr lang="en-US" sz="1600" dirty="0"/>
          </a:p>
        </p:txBody>
      </p:sp>
      <p:sp>
        <p:nvSpPr>
          <p:cNvPr id="20" name="Carte Sécurité"/>
          <p:cNvSpPr/>
          <p:nvPr/>
        </p:nvSpPr>
        <p:spPr>
          <a:xfrm>
            <a:off x="548640" y="3950208"/>
            <a:ext cx="3515258" cy="2194560"/>
          </a:xfrm>
          <a:prstGeom prst="roundRect">
            <a:avLst>
              <a:gd name="adj" fmla="val 5000"/>
            </a:avLst>
          </a:prstGeom>
          <a:solidFill>
            <a:schemeClr val="bg2"/>
          </a:solidFill>
          <a:ln w="12700">
            <a:solidFill>
              <a:schemeClr val="bg2"/>
            </a:solidFill>
            <a:prstDash val="solid"/>
          </a:ln>
        </p:spPr>
      </p:sp>
      <p:sp>
        <p:nvSpPr>
          <p:cNvPr id="21" name="Pastille FaShieldAlt"/>
          <p:cNvSpPr/>
          <p:nvPr/>
        </p:nvSpPr>
        <p:spPr>
          <a:xfrm>
            <a:off x="777240" y="4151376"/>
            <a:ext cx="566928" cy="566928"/>
          </a:xfrm>
          <a:prstGeom prst="ellipse">
            <a:avLst/>
          </a:prstGeom>
          <a:solidFill>
            <a:schemeClr val="accent4"/>
          </a:solidFill>
          <a:ln w="12700">
            <a:solidFill>
              <a:schemeClr val="accent4"/>
            </a:solidFill>
            <a:prstDash val="solid"/>
          </a:ln>
        </p:spPr>
      </p:sp>
      <p:pic>
        <p:nvPicPr>
          <p:cNvPr id="22" name="Icône FaShieldAlt" descr="icône">    </p:cNvPr>
          <p:cNvPicPr>
            <a:picLocks noChangeAspect="1"/>
          </p:cNvPicPr>
          <p:nvPr/>
        </p:nvPicPr>
        <p:blipFill>
          <a:blip r:embed="rId4"/>
          <a:stretch>
            <a:fillRect/>
          </a:stretch>
        </p:blipFill>
        <p:spPr>
          <a:xfrm>
            <a:off x="924641" y="4298777"/>
            <a:ext cx="272125" cy="272125"/>
          </a:xfrm>
          <a:prstGeom prst="rect">
            <a:avLst/>
          </a:prstGeom>
        </p:spPr>
      </p:pic>
      <p:sp>
        <p:nvSpPr>
          <p:cNvPr id="23" name="Text 16"/>
          <p:cNvSpPr txBox="1"/>
          <p:nvPr/>
        </p:nvSpPr>
        <p:spPr>
          <a:xfrm>
            <a:off x="1508760"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Sécurité</a:t>
            </a:r>
            <a:endParaRPr lang="en-US" sz="1900" dirty="0"/>
          </a:p>
        </p:txBody>
      </p:sp>
      <p:sp>
        <p:nvSpPr>
          <p:cNvPr id="24" name="Text 17"/>
          <p:cNvSpPr txBox="1"/>
          <p:nvPr/>
        </p:nvSpPr>
        <p:spPr>
          <a:xfrm>
            <a:off x="777240"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Moindre privilège, WAF, IMDSv2, aucun secret en clair.</a:t>
            </a:r>
            <a:endParaRPr lang="en-US" sz="1600" dirty="0"/>
          </a:p>
        </p:txBody>
      </p:sp>
      <p:sp>
        <p:nvSpPr>
          <p:cNvPr id="25" name="Carte Observabilité"/>
          <p:cNvSpPr/>
          <p:nvPr/>
        </p:nvSpPr>
        <p:spPr>
          <a:xfrm>
            <a:off x="4338218" y="3950208"/>
            <a:ext cx="3515258" cy="2194560"/>
          </a:xfrm>
          <a:prstGeom prst="roundRect">
            <a:avLst>
              <a:gd name="adj" fmla="val 5000"/>
            </a:avLst>
          </a:prstGeom>
          <a:solidFill>
            <a:schemeClr val="bg2"/>
          </a:solidFill>
          <a:ln w="12700">
            <a:solidFill>
              <a:schemeClr val="bg2"/>
            </a:solidFill>
            <a:prstDash val="solid"/>
          </a:ln>
        </p:spPr>
      </p:sp>
      <p:sp>
        <p:nvSpPr>
          <p:cNvPr id="26" name="Pastille FaChartLine"/>
          <p:cNvSpPr/>
          <p:nvPr/>
        </p:nvSpPr>
        <p:spPr>
          <a:xfrm>
            <a:off x="4566818" y="4151376"/>
            <a:ext cx="566928" cy="566928"/>
          </a:xfrm>
          <a:prstGeom prst="ellipse">
            <a:avLst/>
          </a:prstGeom>
          <a:solidFill>
            <a:schemeClr val="accent1"/>
          </a:solidFill>
          <a:ln w="12700">
            <a:solidFill>
              <a:schemeClr val="accent1"/>
            </a:solidFill>
            <a:prstDash val="solid"/>
          </a:ln>
        </p:spPr>
      </p:sp>
      <p:pic>
        <p:nvPicPr>
          <p:cNvPr id="27" name="Icône FaChartLine" descr="icône">    </p:cNvPr>
          <p:cNvPicPr>
            <a:picLocks noChangeAspect="1"/>
          </p:cNvPicPr>
          <p:nvPr/>
        </p:nvPicPr>
        <p:blipFill>
          <a:blip r:embed="rId5"/>
          <a:stretch>
            <a:fillRect/>
          </a:stretch>
        </p:blipFill>
        <p:spPr>
          <a:xfrm>
            <a:off x="4714220" y="4298777"/>
            <a:ext cx="272125" cy="272125"/>
          </a:xfrm>
          <a:prstGeom prst="rect">
            <a:avLst/>
          </a:prstGeom>
        </p:spPr>
      </p:pic>
      <p:sp>
        <p:nvSpPr>
          <p:cNvPr id="28" name="Text 20"/>
          <p:cNvSpPr txBox="1"/>
          <p:nvPr/>
        </p:nvSpPr>
        <p:spPr>
          <a:xfrm>
            <a:off x="5298338"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Observabilité</a:t>
            </a:r>
            <a:endParaRPr lang="en-US" sz="1900" dirty="0"/>
          </a:p>
        </p:txBody>
      </p:sp>
      <p:sp>
        <p:nvSpPr>
          <p:cNvPr id="29" name="Text 21"/>
          <p:cNvSpPr txBox="1"/>
          <p:nvPr/>
        </p:nvSpPr>
        <p:spPr>
          <a:xfrm>
            <a:off x="4566818"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Dashboard, alarmes 5xx et latence, logs avec rétention.</a:t>
            </a:r>
            <a:endParaRPr lang="en-US" sz="1600" dirty="0"/>
          </a:p>
        </p:txBody>
      </p:sp>
      <p:sp>
        <p:nvSpPr>
          <p:cNvPr id="30" name="Carte Documentation"/>
          <p:cNvSpPr/>
          <p:nvPr/>
        </p:nvSpPr>
        <p:spPr>
          <a:xfrm>
            <a:off x="8127797" y="3950208"/>
            <a:ext cx="3515258" cy="2194560"/>
          </a:xfrm>
          <a:prstGeom prst="roundRect">
            <a:avLst>
              <a:gd name="adj" fmla="val 5000"/>
            </a:avLst>
          </a:prstGeom>
          <a:solidFill>
            <a:schemeClr val="bg2"/>
          </a:solidFill>
          <a:ln w="12700">
            <a:solidFill>
              <a:schemeClr val="bg2"/>
            </a:solidFill>
            <a:prstDash val="solid"/>
          </a:ln>
        </p:spPr>
      </p:sp>
      <p:sp>
        <p:nvSpPr>
          <p:cNvPr id="31" name="Pastille FaBook"/>
          <p:cNvSpPr/>
          <p:nvPr/>
        </p:nvSpPr>
        <p:spPr>
          <a:xfrm>
            <a:off x="8356397" y="4151376"/>
            <a:ext cx="566928" cy="566928"/>
          </a:xfrm>
          <a:prstGeom prst="ellipse">
            <a:avLst/>
          </a:prstGeom>
          <a:solidFill>
            <a:schemeClr val="accent3"/>
          </a:solidFill>
          <a:ln w="12700">
            <a:solidFill>
              <a:schemeClr val="accent3"/>
            </a:solidFill>
            <a:prstDash val="solid"/>
          </a:ln>
        </p:spPr>
      </p:sp>
      <p:pic>
        <p:nvPicPr>
          <p:cNvPr id="32" name="Icône FaBook" descr="icône">    </p:cNvPr>
          <p:cNvPicPr>
            <a:picLocks noChangeAspect="1"/>
          </p:cNvPicPr>
          <p:nvPr/>
        </p:nvPicPr>
        <p:blipFill>
          <a:blip r:embed="rId6"/>
          <a:stretch>
            <a:fillRect/>
          </a:stretch>
        </p:blipFill>
        <p:spPr>
          <a:xfrm>
            <a:off x="8503798" y="4298777"/>
            <a:ext cx="272125" cy="272125"/>
          </a:xfrm>
          <a:prstGeom prst="rect">
            <a:avLst/>
          </a:prstGeom>
        </p:spPr>
      </p:pic>
      <p:sp>
        <p:nvSpPr>
          <p:cNvPr id="33" name="Text 24"/>
          <p:cNvSpPr txBox="1"/>
          <p:nvPr/>
        </p:nvSpPr>
        <p:spPr>
          <a:xfrm>
            <a:off x="9087917" y="4133088"/>
            <a:ext cx="2372258" cy="603504"/>
          </a:xfrm>
          <a:prstGeom prst="rect">
            <a:avLst/>
          </a:prstGeom>
          <a:noFill/>
          <a:ln/>
        </p:spPr>
        <p:txBody>
          <a:bodyPr wrap="square" lIns="0" tIns="0" rIns="0" bIns="0" rtlCol="0" anchor="ctr"/>
          <a:lstStyle/>
          <a:p>
            <a:pPr indent="0" marL="0">
              <a:buNone/>
            </a:pPr>
            <a:r>
              <a:rPr lang="en-US" sz="1900" b="1" dirty="0">
                <a:solidFill>
                  <a:schemeClr val="tx1"/>
                </a:solidFill>
              </a:rPr>
              <a:t>Documentation</a:t>
            </a:r>
            <a:endParaRPr lang="en-US" sz="1900" dirty="0"/>
          </a:p>
        </p:txBody>
      </p:sp>
      <p:sp>
        <p:nvSpPr>
          <p:cNvPr id="34" name="Text 25"/>
          <p:cNvSpPr txBox="1"/>
          <p:nvPr/>
        </p:nvSpPr>
        <p:spPr>
          <a:xfrm>
            <a:off x="8356397" y="4864608"/>
            <a:ext cx="3058058" cy="1188720"/>
          </a:xfrm>
          <a:prstGeom prst="rect">
            <a:avLst/>
          </a:prstGeom>
          <a:noFill/>
          <a:ln/>
        </p:spPr>
        <p:txBody>
          <a:bodyPr wrap="square" lIns="0" tIns="0" rIns="0" bIns="0" rtlCol="0" anchor="t"/>
          <a:lstStyle/>
          <a:p>
            <a:pPr indent="0" marL="0">
              <a:buNone/>
            </a:pPr>
            <a:r>
              <a:rPr lang="en-US" sz="1600" dirty="0">
                <a:solidFill>
                  <a:schemeClr val="tx2"/>
                </a:solidFill>
              </a:rPr>
              <a:t>Architecture, runbook, coûts, décisions (ADR).</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16 · PROJET FINAL : TASKHUB</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Planning et grille d'évaluation</a:t>
            </a:r>
            <a:endParaRPr lang="en-US" sz="3600" dirty="0"/>
          </a:p>
        </p:txBody>
      </p:sp>
      <p:graphicFrame>
        <p:nvGraphicFramePr>
          <p:cNvPr id="116"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4023360"/>
                <a:gridCol w="3566160"/>
                <a:gridCol w="1124712"/>
              </a:tblGrid>
              <a:tr h="758952">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Jour</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Objectif</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Domaine noté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900" b="1" dirty="0">
                          <a:solidFill>
                            <a:srgbClr val="FFFFFF"/>
                          </a:solidFill>
                          <a:latin typeface="Calibri" pitchFamily="34" charset="0"/>
                          <a:ea typeface="Calibri" pitchFamily="34" charset="-122"/>
                          <a:cs typeface="Calibri" pitchFamily="34" charset="-120"/>
                        </a:rPr>
                        <a:t>Points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J1 Fondations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État, réseau, ECR, RDS, secrets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Architecture et réseau / IaC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15 / 15</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J2 Application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ECS, edge, OIDC, pipeline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CI/CD / Sécurité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15 / 15</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J3 Production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Observabilité, WAF, rollback, doc</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Exploitation / Fiabilité</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10 / 10</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758952">
                <a:tc>
                  <a:txBody>
                    <a:bodyPr/>
                    <a:lstStyle/>
                    <a:p>
                      <a:pPr indent="0" marL="0">
                        <a:buNone/>
                      </a:pPr>
                      <a:r>
                        <a:rPr lang="en-US" sz="1900" b="1" dirty="0">
                          <a:solidFill>
                            <a:srgbClr val="17233B"/>
                          </a:solidFill>
                          <a:latin typeface="Calibri" pitchFamily="34" charset="0"/>
                          <a:ea typeface="Calibri" pitchFamily="34" charset="-122"/>
                          <a:cs typeface="Calibri" pitchFamily="34" charset="-120"/>
                        </a:rPr>
                        <a:t>Soutenance</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Démo de 15 minutes</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Coûts / Documentation</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900" dirty="0">
                          <a:solidFill>
                            <a:srgbClr val="3A4A66"/>
                          </a:solidFill>
                          <a:latin typeface="Calibri" pitchFamily="34" charset="0"/>
                          <a:ea typeface="Calibri" pitchFamily="34" charset="-122"/>
                          <a:cs typeface="Calibri" pitchFamily="34" charset="-120"/>
                        </a:rPr>
                        <a:t>5 / 15</a:t>
                      </a:r>
                      <a:endParaRPr lang="en-US" sz="19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Seuils : moins de 50 à retravailler, 50 à 69 acquis, 70 à 84 solide, 85 et plus expert.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16 · PROJET FINAL : TASKHUB</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À retenir et quiz</a:t>
            </a:r>
            <a:endParaRPr lang="en-US" sz="3600" dirty="0"/>
          </a:p>
        </p:txBody>
      </p:sp>
      <p:sp>
        <p:nvSpPr>
          <p:cNvPr id="5" name="À retenir"/>
          <p:cNvSpPr/>
          <p:nvPr/>
        </p:nvSpPr>
        <p:spPr>
          <a:xfrm>
            <a:off x="548640" y="1554480"/>
            <a:ext cx="5577840" cy="4572000"/>
          </a:xfrm>
          <a:prstGeom prst="roundRect">
            <a:avLst>
              <a:gd name="adj" fmla="val 2400"/>
            </a:avLst>
          </a:prstGeom>
          <a:solidFill>
            <a:schemeClr val="bg2"/>
          </a:solidFill>
          <a:ln w="12700">
            <a:solidFill>
              <a:schemeClr val="bg2"/>
            </a:solidFill>
            <a:prstDash val="solid"/>
          </a:ln>
        </p:spPr>
      </p:sp>
      <p:sp>
        <p:nvSpPr>
          <p:cNvPr id="6" name="Text 3"/>
          <p:cNvSpPr txBox="1"/>
          <p:nvPr/>
        </p:nvSpPr>
        <p:spPr>
          <a:xfrm>
            <a:off x="91440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À RETENIR</a:t>
            </a:r>
            <a:endParaRPr lang="en-US" sz="1400" dirty="0"/>
          </a:p>
        </p:txBody>
      </p:sp>
      <p:sp>
        <p:nvSpPr>
          <p:cNvPr id="7" name="Pastille FaCheckCircle"/>
          <p:cNvSpPr/>
          <p:nvPr/>
        </p:nvSpPr>
        <p:spPr>
          <a:xfrm>
            <a:off x="914400" y="2441448"/>
            <a:ext cx="457200" cy="457200"/>
          </a:xfrm>
          <a:prstGeom prst="ellipse">
            <a:avLst/>
          </a:prstGeom>
          <a:solidFill>
            <a:schemeClr val="accent2"/>
          </a:solidFill>
          <a:ln w="12700">
            <a:solidFill>
              <a:schemeClr val="accent2"/>
            </a:solidFill>
            <a:prstDash val="solid"/>
          </a:ln>
        </p:spPr>
      </p:sp>
      <p:pic>
        <p:nvPicPr>
          <p:cNvPr id="8" name="Icône FaCheckCircle" descr="icône">    </p:cNvPr>
          <p:cNvPicPr>
            <a:picLocks noChangeAspect="1"/>
          </p:cNvPicPr>
          <p:nvPr/>
        </p:nvPicPr>
        <p:blipFill>
          <a:blip r:embed="rId1"/>
          <a:stretch>
            <a:fillRect/>
          </a:stretch>
        </p:blipFill>
        <p:spPr>
          <a:xfrm>
            <a:off x="1033272" y="2560320"/>
            <a:ext cx="219456" cy="219456"/>
          </a:xfrm>
          <a:prstGeom prst="rect">
            <a:avLst/>
          </a:prstGeom>
        </p:spPr>
      </p:pic>
      <p:sp>
        <p:nvSpPr>
          <p:cNvPr id="9" name="Text 5"/>
          <p:cNvSpPr txBox="1"/>
          <p:nvPr/>
        </p:nvSpPr>
        <p:spPr>
          <a:xfrm>
            <a:off x="1600200" y="2331720"/>
            <a:ext cx="4297680" cy="1005840"/>
          </a:xfrm>
          <a:prstGeom prst="rect">
            <a:avLst/>
          </a:prstGeom>
          <a:noFill/>
          <a:ln/>
        </p:spPr>
        <p:txBody>
          <a:bodyPr wrap="square" lIns="0" tIns="0" rIns="0" bIns="0" rtlCol="0" anchor="ctr"/>
          <a:lstStyle/>
          <a:p>
            <a:pPr indent="0" marL="0">
              <a:buNone/>
            </a:pPr>
            <a:r>
              <a:rPr lang="en-US" sz="2000" dirty="0">
                <a:solidFill>
                  <a:schemeClr val="tx1"/>
                </a:solidFill>
              </a:rPr>
              <a:t>Commencer par les fondations, pas par l'application</a:t>
            </a:r>
            <a:endParaRPr lang="en-US" sz="2000" dirty="0"/>
          </a:p>
        </p:txBody>
      </p:sp>
      <p:sp>
        <p:nvSpPr>
          <p:cNvPr id="10" name="Pastille FaCheckCircle"/>
          <p:cNvSpPr/>
          <p:nvPr/>
        </p:nvSpPr>
        <p:spPr>
          <a:xfrm>
            <a:off x="914400" y="3675888"/>
            <a:ext cx="457200" cy="457200"/>
          </a:xfrm>
          <a:prstGeom prst="ellipse">
            <a:avLst/>
          </a:prstGeom>
          <a:solidFill>
            <a:schemeClr val="accent2"/>
          </a:solidFill>
          <a:ln w="12700">
            <a:solidFill>
              <a:schemeClr val="accent2"/>
            </a:solidFill>
            <a:prstDash val="solid"/>
          </a:ln>
        </p:spPr>
      </p:sp>
      <p:pic>
        <p:nvPicPr>
          <p:cNvPr id="11" name="Icône FaCheckCircle" descr="icône">    </p:cNvPr>
          <p:cNvPicPr>
            <a:picLocks noChangeAspect="1"/>
          </p:cNvPicPr>
          <p:nvPr/>
        </p:nvPicPr>
        <p:blipFill>
          <a:blip r:embed="rId2"/>
          <a:stretch>
            <a:fillRect/>
          </a:stretch>
        </p:blipFill>
        <p:spPr>
          <a:xfrm>
            <a:off x="1033272" y="3794760"/>
            <a:ext cx="219456" cy="219456"/>
          </a:xfrm>
          <a:prstGeom prst="rect">
            <a:avLst/>
          </a:prstGeom>
        </p:spPr>
      </p:pic>
      <p:sp>
        <p:nvSpPr>
          <p:cNvPr id="12" name="Text 7"/>
          <p:cNvSpPr txBox="1"/>
          <p:nvPr/>
        </p:nvSpPr>
        <p:spPr>
          <a:xfrm>
            <a:off x="1600200" y="356616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Découper l'état Terraform : réseau, données, applications</a:t>
            </a:r>
            <a:endParaRPr lang="en-US" sz="2000" dirty="0"/>
          </a:p>
        </p:txBody>
      </p:sp>
      <p:sp>
        <p:nvSpPr>
          <p:cNvPr id="13" name="Pastille FaCheckCircle"/>
          <p:cNvSpPr/>
          <p:nvPr/>
        </p:nvSpPr>
        <p:spPr>
          <a:xfrm>
            <a:off x="914400" y="4910328"/>
            <a:ext cx="457200" cy="457200"/>
          </a:xfrm>
          <a:prstGeom prst="ellipse">
            <a:avLst/>
          </a:prstGeom>
          <a:solidFill>
            <a:schemeClr val="accent2"/>
          </a:solidFill>
          <a:ln w="12700">
            <a:solidFill>
              <a:schemeClr val="accent2"/>
            </a:solidFill>
            <a:prstDash val="solid"/>
          </a:ln>
        </p:spPr>
      </p:sp>
      <p:pic>
        <p:nvPicPr>
          <p:cNvPr id="14" name="Icône FaCheckCircle" descr="icône">    </p:cNvPr>
          <p:cNvPicPr>
            <a:picLocks noChangeAspect="1"/>
          </p:cNvPicPr>
          <p:nvPr/>
        </p:nvPicPr>
        <p:blipFill>
          <a:blip r:embed="rId3"/>
          <a:stretch>
            <a:fillRect/>
          </a:stretch>
        </p:blipFill>
        <p:spPr>
          <a:xfrm>
            <a:off x="1033272" y="5029200"/>
            <a:ext cx="219456" cy="219456"/>
          </a:xfrm>
          <a:prstGeom prst="rect">
            <a:avLst/>
          </a:prstGeom>
        </p:spPr>
      </p:pic>
      <p:sp>
        <p:nvSpPr>
          <p:cNvPr id="15" name="Text 9"/>
          <p:cNvSpPr txBox="1"/>
          <p:nvPr/>
        </p:nvSpPr>
        <p:spPr>
          <a:xfrm>
            <a:off x="1600200" y="4800600"/>
            <a:ext cx="4297680" cy="1005840"/>
          </a:xfrm>
          <a:prstGeom prst="rect">
            <a:avLst/>
          </a:prstGeom>
          <a:noFill/>
          <a:ln/>
        </p:spPr>
        <p:txBody>
          <a:bodyPr wrap="square" lIns="0" tIns="0" rIns="0" bIns="0" rtlCol="0" anchor="ctr"/>
          <a:lstStyle/>
          <a:p>
            <a:pPr indent="0" marL="0">
              <a:buNone/>
            </a:pPr>
            <a:r>
              <a:rPr lang="en-US" sz="2000" dirty="0">
                <a:solidFill>
                  <a:schemeClr val="tx1"/>
                </a:solidFill>
              </a:rPr>
              <a:t>Détruire entre deux sessions : NAT, ALB et RDS coûtent</a:t>
            </a:r>
            <a:endParaRPr lang="en-US" sz="2000" dirty="0"/>
          </a:p>
        </p:txBody>
      </p:sp>
      <p:sp>
        <p:nvSpPr>
          <p:cNvPr id="16" name="Quiz"/>
          <p:cNvSpPr/>
          <p:nvPr/>
        </p:nvSpPr>
        <p:spPr>
          <a:xfrm>
            <a:off x="6336792" y="1554480"/>
            <a:ext cx="5303520" cy="4572000"/>
          </a:xfrm>
          <a:prstGeom prst="roundRect">
            <a:avLst>
              <a:gd name="adj" fmla="val 2400"/>
            </a:avLst>
          </a:prstGeom>
          <a:solidFill>
            <a:schemeClr val="tx1"/>
          </a:solidFill>
          <a:ln w="12700">
            <a:solidFill>
              <a:schemeClr val="tx1"/>
            </a:solidFill>
            <a:prstDash val="solid"/>
          </a:ln>
        </p:spPr>
      </p:sp>
      <p:sp>
        <p:nvSpPr>
          <p:cNvPr id="17" name="Text 11"/>
          <p:cNvSpPr txBox="1"/>
          <p:nvPr/>
        </p:nvSpPr>
        <p:spPr>
          <a:xfrm>
            <a:off x="6720840" y="1783080"/>
            <a:ext cx="4572000" cy="320040"/>
          </a:xfrm>
          <a:prstGeom prst="rect">
            <a:avLst/>
          </a:prstGeom>
          <a:noFill/>
          <a:ln/>
        </p:spPr>
        <p:txBody>
          <a:bodyPr wrap="square" lIns="0" tIns="0" rIns="0" bIns="0" rtlCol="0" anchor="ctr"/>
          <a:lstStyle/>
          <a:p>
            <a:pPr indent="0" marL="0">
              <a:buNone/>
            </a:pPr>
            <a:r>
              <a:rPr lang="en-US" sz="1400" b="1" spc="300" kern="0" dirty="0">
                <a:solidFill>
                  <a:schemeClr val="accent1"/>
                </a:solidFill>
              </a:rPr>
              <a:t>QUIZ</a:t>
            </a:r>
            <a:endParaRPr lang="en-US" sz="1400" dirty="0"/>
          </a:p>
        </p:txBody>
      </p:sp>
      <p:sp>
        <p:nvSpPr>
          <p:cNvPr id="18" name="Shape 12"/>
          <p:cNvSpPr/>
          <p:nvPr/>
        </p:nvSpPr>
        <p:spPr>
          <a:xfrm>
            <a:off x="6720840" y="2441448"/>
            <a:ext cx="457200" cy="457200"/>
          </a:xfrm>
          <a:prstGeom prst="ellipse">
            <a:avLst/>
          </a:prstGeom>
          <a:solidFill>
            <a:schemeClr val="accent1"/>
          </a:solidFill>
          <a:ln w="12700">
            <a:solidFill>
              <a:schemeClr val="accent1"/>
            </a:solidFill>
            <a:prstDash val="solid"/>
          </a:ln>
        </p:spPr>
      </p:sp>
      <p:sp>
        <p:nvSpPr>
          <p:cNvPr id="19" name="Text 13"/>
          <p:cNvSpPr txBox="1"/>
          <p:nvPr/>
        </p:nvSpPr>
        <p:spPr>
          <a:xfrm>
            <a:off x="6720840" y="244144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20" name="Text 14"/>
          <p:cNvSpPr txBox="1"/>
          <p:nvPr/>
        </p:nvSpPr>
        <p:spPr>
          <a:xfrm>
            <a:off x="7406640" y="233172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Par quoi commencer : l'application ou le réseau et l'état ?</a:t>
            </a:r>
            <a:endParaRPr lang="en-US" sz="1900" dirty="0"/>
          </a:p>
        </p:txBody>
      </p:sp>
      <p:sp>
        <p:nvSpPr>
          <p:cNvPr id="21" name="Shape 15"/>
          <p:cNvSpPr/>
          <p:nvPr/>
        </p:nvSpPr>
        <p:spPr>
          <a:xfrm>
            <a:off x="6720840" y="3675888"/>
            <a:ext cx="457200" cy="457200"/>
          </a:xfrm>
          <a:prstGeom prst="ellipse">
            <a:avLst/>
          </a:prstGeom>
          <a:solidFill>
            <a:schemeClr val="accent1"/>
          </a:solidFill>
          <a:ln w="12700">
            <a:solidFill>
              <a:schemeClr val="accent1"/>
            </a:solidFill>
            <a:prstDash val="solid"/>
          </a:ln>
        </p:spPr>
      </p:sp>
      <p:sp>
        <p:nvSpPr>
          <p:cNvPr id="22" name="Text 16"/>
          <p:cNvSpPr txBox="1"/>
          <p:nvPr/>
        </p:nvSpPr>
        <p:spPr>
          <a:xfrm>
            <a:off x="6720840" y="36758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23" name="Text 17"/>
          <p:cNvSpPr txBox="1"/>
          <p:nvPr/>
        </p:nvSpPr>
        <p:spPr>
          <a:xfrm>
            <a:off x="7406640" y="3566160"/>
            <a:ext cx="3977640" cy="1005840"/>
          </a:xfrm>
          <a:prstGeom prst="rect">
            <a:avLst/>
          </a:prstGeom>
          <a:noFill/>
          <a:ln/>
        </p:spPr>
        <p:txBody>
          <a:bodyPr wrap="square" lIns="0" tIns="0" rIns="0" bIns="0" rtlCol="0" anchor="ctr"/>
          <a:lstStyle/>
          <a:p>
            <a:pPr indent="0" marL="0">
              <a:buNone/>
            </a:pPr>
            <a:r>
              <a:rPr lang="en-US" sz="1900" dirty="0">
                <a:solidFill>
                  <a:schemeClr val="bg1"/>
                </a:solidFill>
              </a:rPr>
              <a:t>Pourquoi tester les restaurations ?</a:t>
            </a:r>
            <a:endParaRPr lang="en-US" sz="1900" dirty="0"/>
          </a:p>
        </p:txBody>
      </p:sp>
      <p:sp>
        <p:nvSpPr>
          <p:cNvPr id="24" name="Shape 18"/>
          <p:cNvSpPr/>
          <p:nvPr/>
        </p:nvSpPr>
        <p:spPr>
          <a:xfrm>
            <a:off x="6720840" y="4910328"/>
            <a:ext cx="457200" cy="457200"/>
          </a:xfrm>
          <a:prstGeom prst="ellipse">
            <a:avLst/>
          </a:prstGeom>
          <a:solidFill>
            <a:schemeClr val="accent1"/>
          </a:solidFill>
          <a:ln w="12700">
            <a:solidFill>
              <a:schemeClr val="accent1"/>
            </a:solidFill>
            <a:prstDash val="solid"/>
          </a:ln>
        </p:spPr>
      </p:sp>
      <p:sp>
        <p:nvSpPr>
          <p:cNvPr id="25" name="Text 19"/>
          <p:cNvSpPr txBox="1"/>
          <p:nvPr/>
        </p:nvSpPr>
        <p:spPr>
          <a:xfrm>
            <a:off x="6720840" y="49103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6" name="Text 20"/>
          <p:cNvSpPr txBox="1"/>
          <p:nvPr/>
        </p:nvSpPr>
        <p:spPr>
          <a:xfrm>
            <a:off x="7406640" y="4800600"/>
            <a:ext cx="3977640" cy="1005840"/>
          </a:xfrm>
          <a:prstGeom prst="rect">
            <a:avLst/>
          </a:prstGeom>
          <a:noFill/>
          <a:ln/>
        </p:spPr>
        <p:txBody>
          <a:bodyPr wrap="square" lIns="0" tIns="0" rIns="0" bIns="0" rtlCol="0" anchor="ctr"/>
          <a:lstStyle/>
          <a:p>
            <a:pPr indent="0" marL="0">
              <a:buNone/>
            </a:pPr>
            <a:r>
              <a:rPr lang="en-US" sz="1900" dirty="0">
                <a:solidFill>
                  <a:schemeClr val="bg1"/>
                </a:solidFill>
              </a:rPr>
              <a:t>Où placer les secrets de la base ?</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txBox="1"/>
          <p:nvPr/>
        </p:nvSpPr>
        <p:spPr>
          <a:xfrm>
            <a:off x="548640" y="914400"/>
            <a:ext cx="3657600" cy="320040"/>
          </a:xfrm>
          <a:prstGeom prst="rect">
            <a:avLst/>
          </a:prstGeom>
          <a:noFill/>
          <a:ln/>
        </p:spPr>
        <p:txBody>
          <a:bodyPr wrap="square" lIns="0" tIns="0" rIns="0" bIns="0" rtlCol="0" anchor="ctr"/>
          <a:lstStyle/>
          <a:p>
            <a:pPr indent="0" marL="0">
              <a:buNone/>
            </a:pPr>
            <a:r>
              <a:rPr lang="en-US" sz="1400" b="1" spc="400" kern="0" dirty="0">
                <a:solidFill>
                  <a:schemeClr val="accent1"/>
                </a:solidFill>
              </a:rPr>
              <a:t>MODULE</a:t>
            </a:r>
            <a:endParaRPr lang="en-US" sz="1400" dirty="0"/>
          </a:p>
        </p:txBody>
      </p:sp>
      <p:sp>
        <p:nvSpPr>
          <p:cNvPr id="3" name="Numéro du module"/>
          <p:cNvSpPr txBox="1"/>
          <p:nvPr/>
        </p:nvSpPr>
        <p:spPr>
          <a:xfrm>
            <a:off x="548640" y="1188720"/>
            <a:ext cx="5029200" cy="2194560"/>
          </a:xfrm>
          <a:prstGeom prst="rect">
            <a:avLst/>
          </a:prstGeom>
          <a:noFill/>
          <a:ln/>
        </p:spPr>
        <p:txBody>
          <a:bodyPr wrap="square" lIns="0" tIns="0" rIns="0" bIns="0" rtlCol="0" anchor="ctr"/>
          <a:lstStyle/>
          <a:p>
            <a:pPr indent="0" marL="0">
              <a:buNone/>
            </a:pPr>
            <a:r>
              <a:rPr lang="en-US" sz="13000" b="1" dirty="0">
                <a:solidFill>
                  <a:schemeClr val="accent1"/>
                </a:solidFill>
                <a:latin typeface="Cambria" pitchFamily="34" charset="0"/>
                <a:ea typeface="Cambria" pitchFamily="34" charset="-122"/>
                <a:cs typeface="Cambria" pitchFamily="34" charset="-120"/>
              </a:rPr>
              <a:t>17</a:t>
            </a:r>
            <a:endParaRPr lang="en-US" sz="13000" dirty="0"/>
          </a:p>
        </p:txBody>
      </p:sp>
      <p:sp>
        <p:nvSpPr>
          <p:cNvPr id="4" name="Text 0"/>
          <p:cNvSpPr/>
          <p:nvPr>
            <p:ph idx="100" type="title" hasCustomPrompt="1"/>
          </p:nvPr>
        </p:nvSpPr>
        <p:spPr>
          <a:xfrm>
            <a:off x="548640" y="3566160"/>
            <a:ext cx="5852160" cy="1737360"/>
          </a:xfrm>
          <a:prstGeom prst="rect">
            <a:avLst/>
          </a:prstGeom>
          <a:noFill/>
          <a:ln/>
        </p:spPr>
        <p:txBody>
          <a:bodyPr wrap="square" lIns="0" tIns="0" rIns="0" bIns="0" rtlCol="0" anchor="t"/>
          <a:lstStyle/>
          <a:p>
            <a:pPr algn="l" indent="0" marL="0">
              <a:buNone/>
            </a:pPr>
            <a:r>
              <a:rPr lang="en-US" sz="3600" b="1" dirty="0">
                <a:solidFill>
                  <a:schemeClr val="bg1"/>
                </a:solidFill>
              </a:rPr>
              <a:t>Préparation aux certifications</a:t>
            </a:r>
            <a:endParaRPr lang="en-US" sz="3600" dirty="0"/>
          </a:p>
        </p:txBody>
      </p:sp>
      <p:sp>
        <p:nvSpPr>
          <p:cNvPr id="5" name="Shape 3"/>
          <p:cNvSpPr/>
          <p:nvPr/>
        </p:nvSpPr>
        <p:spPr>
          <a:xfrm>
            <a:off x="548640" y="5486400"/>
            <a:ext cx="2011680" cy="411480"/>
          </a:xfrm>
          <a:prstGeom prst="roundRect">
            <a:avLst>
              <a:gd name="adj" fmla="val 48889"/>
            </a:avLst>
          </a:prstGeom>
          <a:solidFill>
            <a:schemeClr val="tx2"/>
          </a:solidFill>
          <a:ln w="12700">
            <a:solidFill>
              <a:schemeClr val="tx2"/>
            </a:solidFill>
            <a:prstDash val="solid"/>
          </a:ln>
        </p:spPr>
      </p:sp>
      <p:sp>
        <p:nvSpPr>
          <p:cNvPr id="6" name="Text 4"/>
          <p:cNvSpPr txBox="1"/>
          <p:nvPr/>
        </p:nvSpPr>
        <p:spPr>
          <a:xfrm>
            <a:off x="548640" y="5486400"/>
            <a:ext cx="2011680" cy="411480"/>
          </a:xfrm>
          <a:prstGeom prst="rect">
            <a:avLst/>
          </a:prstGeom>
          <a:noFill/>
          <a:ln/>
        </p:spPr>
        <p:txBody>
          <a:bodyPr wrap="square" lIns="0" tIns="0" rIns="0" bIns="0" rtlCol="0" anchor="ctr"/>
          <a:lstStyle/>
          <a:p>
            <a:pPr algn="ctr" indent="0" marL="0">
              <a:buNone/>
            </a:pPr>
            <a:r>
              <a:rPr lang="en-US" sz="1400" b="1" dirty="0">
                <a:solidFill>
                  <a:schemeClr val="bg1"/>
                </a:solidFill>
              </a:rPr>
              <a:t>Durée : 2 à 10 semaines</a:t>
            </a:r>
            <a:endParaRPr lang="en-US" sz="1400" dirty="0"/>
          </a:p>
        </p:txBody>
      </p:sp>
      <p:sp>
        <p:nvSpPr>
          <p:cNvPr id="7" name="Panneau objectifs"/>
          <p:cNvSpPr/>
          <p:nvPr/>
        </p:nvSpPr>
        <p:spPr>
          <a:xfrm>
            <a:off x="6675120" y="1188720"/>
            <a:ext cx="4965192" cy="4709160"/>
          </a:xfrm>
          <a:prstGeom prst="roundRect">
            <a:avLst>
              <a:gd name="adj" fmla="val 2913"/>
            </a:avLst>
          </a:prstGeom>
          <a:solidFill>
            <a:schemeClr val="tx2"/>
          </a:solidFill>
          <a:ln w="12700">
            <a:solidFill>
              <a:schemeClr val="tx2"/>
            </a:solidFill>
            <a:prstDash val="solid"/>
          </a:ln>
        </p:spPr>
      </p:sp>
      <p:sp>
        <p:nvSpPr>
          <p:cNvPr id="8" name="Text 6"/>
          <p:cNvSpPr txBox="1"/>
          <p:nvPr/>
        </p:nvSpPr>
        <p:spPr>
          <a:xfrm>
            <a:off x="7040880" y="1463040"/>
            <a:ext cx="4206240" cy="365760"/>
          </a:xfrm>
          <a:prstGeom prst="rect">
            <a:avLst/>
          </a:prstGeom>
          <a:noFill/>
          <a:ln/>
        </p:spPr>
        <p:txBody>
          <a:bodyPr wrap="square" lIns="0" tIns="0" rIns="0" bIns="0" rtlCol="0" anchor="ctr"/>
          <a:lstStyle/>
          <a:p>
            <a:pPr indent="0" marL="0">
              <a:buNone/>
            </a:pPr>
            <a:r>
              <a:rPr lang="en-US" sz="1400" b="1" spc="300" kern="0" dirty="0">
                <a:solidFill>
                  <a:schemeClr val="accent1"/>
                </a:solidFill>
              </a:rPr>
              <a:t>OBJECTIFS</a:t>
            </a:r>
            <a:endParaRPr lang="en-US" sz="1400" dirty="0"/>
          </a:p>
        </p:txBody>
      </p:sp>
      <p:sp>
        <p:nvSpPr>
          <p:cNvPr id="9" name="Pastille FaCheckCircle"/>
          <p:cNvSpPr/>
          <p:nvPr/>
        </p:nvSpPr>
        <p:spPr>
          <a:xfrm>
            <a:off x="7040880" y="2148840"/>
            <a:ext cx="457200" cy="457200"/>
          </a:xfrm>
          <a:prstGeom prst="ellipse">
            <a:avLst/>
          </a:prstGeom>
          <a:solidFill>
            <a:schemeClr val="accent2"/>
          </a:solidFill>
          <a:ln w="12700">
            <a:solidFill>
              <a:schemeClr val="accent2"/>
            </a:solidFill>
            <a:prstDash val="solid"/>
          </a:ln>
        </p:spPr>
      </p:sp>
      <p:pic>
        <p:nvPicPr>
          <p:cNvPr id="10" name="Icône FaCheckCircle" descr="icône">    </p:cNvPr>
          <p:cNvPicPr>
            <a:picLocks noChangeAspect="1"/>
          </p:cNvPicPr>
          <p:nvPr/>
        </p:nvPicPr>
        <p:blipFill>
          <a:blip r:embed="rId1"/>
          <a:stretch>
            <a:fillRect/>
          </a:stretch>
        </p:blipFill>
        <p:spPr>
          <a:xfrm>
            <a:off x="7159752" y="2267712"/>
            <a:ext cx="219456" cy="219456"/>
          </a:xfrm>
          <a:prstGeom prst="rect">
            <a:avLst/>
          </a:prstGeom>
        </p:spPr>
      </p:pic>
      <p:sp>
        <p:nvSpPr>
          <p:cNvPr id="11" name="Text 8"/>
          <p:cNvSpPr txBox="1"/>
          <p:nvPr/>
        </p:nvSpPr>
        <p:spPr>
          <a:xfrm>
            <a:off x="7680960" y="2057400"/>
            <a:ext cx="3703320" cy="640080"/>
          </a:xfrm>
          <a:prstGeom prst="rect">
            <a:avLst/>
          </a:prstGeom>
          <a:noFill/>
          <a:ln/>
        </p:spPr>
        <p:txBody>
          <a:bodyPr wrap="square" lIns="0" tIns="0" rIns="0" bIns="0" rtlCol="0" anchor="ctr"/>
          <a:lstStyle/>
          <a:p>
            <a:pPr indent="0" marL="0">
              <a:buNone/>
            </a:pPr>
            <a:r>
              <a:rPr lang="en-US" sz="1800" dirty="0">
                <a:solidFill>
                  <a:schemeClr val="bg1"/>
                </a:solidFill>
              </a:rPr>
              <a:t>Choisir son parcours de certification</a:t>
            </a:r>
            <a:endParaRPr lang="en-US" sz="1800" dirty="0"/>
          </a:p>
        </p:txBody>
      </p:sp>
      <p:sp>
        <p:nvSpPr>
          <p:cNvPr id="12" name="Pastille FaCheckCircle"/>
          <p:cNvSpPr/>
          <p:nvPr/>
        </p:nvSpPr>
        <p:spPr>
          <a:xfrm>
            <a:off x="7040880" y="3063240"/>
            <a:ext cx="457200" cy="457200"/>
          </a:xfrm>
          <a:prstGeom prst="ellipse">
            <a:avLst/>
          </a:prstGeom>
          <a:solidFill>
            <a:schemeClr val="accent2"/>
          </a:solidFill>
          <a:ln w="12700">
            <a:solidFill>
              <a:schemeClr val="accent2"/>
            </a:solidFill>
            <a:prstDash val="solid"/>
          </a:ln>
        </p:spPr>
      </p:sp>
      <p:pic>
        <p:nvPicPr>
          <p:cNvPr id="13" name="Icône FaCheckCircle" descr="icône">    </p:cNvPr>
          <p:cNvPicPr>
            <a:picLocks noChangeAspect="1"/>
          </p:cNvPicPr>
          <p:nvPr/>
        </p:nvPicPr>
        <p:blipFill>
          <a:blip r:embed="rId2"/>
          <a:stretch>
            <a:fillRect/>
          </a:stretch>
        </p:blipFill>
        <p:spPr>
          <a:xfrm>
            <a:off x="7159752" y="3182112"/>
            <a:ext cx="219456" cy="219456"/>
          </a:xfrm>
          <a:prstGeom prst="rect">
            <a:avLst/>
          </a:prstGeom>
        </p:spPr>
      </p:pic>
      <p:sp>
        <p:nvSpPr>
          <p:cNvPr id="14" name="Text 10"/>
          <p:cNvSpPr txBox="1"/>
          <p:nvPr/>
        </p:nvSpPr>
        <p:spPr>
          <a:xfrm>
            <a:off x="7680960" y="2971800"/>
            <a:ext cx="3703320" cy="640080"/>
          </a:xfrm>
          <a:prstGeom prst="rect">
            <a:avLst/>
          </a:prstGeom>
          <a:noFill/>
          <a:ln/>
        </p:spPr>
        <p:txBody>
          <a:bodyPr wrap="square" lIns="0" tIns="0" rIns="0" bIns="0" rtlCol="0" anchor="ctr"/>
          <a:lstStyle/>
          <a:p>
            <a:pPr indent="0" marL="0">
              <a:buNone/>
            </a:pPr>
            <a:r>
              <a:rPr lang="en-US" sz="1800" dirty="0">
                <a:solidFill>
                  <a:schemeClr val="bg1"/>
                </a:solidFill>
              </a:rPr>
              <a:t>Plans de révision</a:t>
            </a:r>
            <a:endParaRPr lang="en-US" sz="1800" dirty="0"/>
          </a:p>
        </p:txBody>
      </p:sp>
      <p:sp>
        <p:nvSpPr>
          <p:cNvPr id="15" name="Pastille FaCheckCircle"/>
          <p:cNvSpPr/>
          <p:nvPr/>
        </p:nvSpPr>
        <p:spPr>
          <a:xfrm>
            <a:off x="7040880" y="3977640"/>
            <a:ext cx="457200" cy="457200"/>
          </a:xfrm>
          <a:prstGeom prst="ellipse">
            <a:avLst/>
          </a:prstGeom>
          <a:solidFill>
            <a:schemeClr val="accent2"/>
          </a:solidFill>
          <a:ln w="12700">
            <a:solidFill>
              <a:schemeClr val="accent2"/>
            </a:solidFill>
            <a:prstDash val="solid"/>
          </a:ln>
        </p:spPr>
      </p:sp>
      <p:pic>
        <p:nvPicPr>
          <p:cNvPr id="16" name="Icône FaCheckCircle" descr="icône">    </p:cNvPr>
          <p:cNvPicPr>
            <a:picLocks noChangeAspect="1"/>
          </p:cNvPicPr>
          <p:nvPr/>
        </p:nvPicPr>
        <p:blipFill>
          <a:blip r:embed="rId3"/>
          <a:stretch>
            <a:fillRect/>
          </a:stretch>
        </p:blipFill>
        <p:spPr>
          <a:xfrm>
            <a:off x="7159752" y="4096512"/>
            <a:ext cx="219456" cy="219456"/>
          </a:xfrm>
          <a:prstGeom prst="rect">
            <a:avLst/>
          </a:prstGeom>
        </p:spPr>
      </p:pic>
      <p:sp>
        <p:nvSpPr>
          <p:cNvPr id="17" name="Text 12"/>
          <p:cNvSpPr txBox="1"/>
          <p:nvPr/>
        </p:nvSpPr>
        <p:spPr>
          <a:xfrm>
            <a:off x="7680960" y="3886200"/>
            <a:ext cx="3703320" cy="640080"/>
          </a:xfrm>
          <a:prstGeom prst="rect">
            <a:avLst/>
          </a:prstGeom>
          <a:noFill/>
          <a:ln/>
        </p:spPr>
        <p:txBody>
          <a:bodyPr wrap="square" lIns="0" tIns="0" rIns="0" bIns="0" rtlCol="0" anchor="ctr"/>
          <a:lstStyle/>
          <a:p>
            <a:pPr indent="0" marL="0">
              <a:buNone/>
            </a:pPr>
            <a:r>
              <a:rPr lang="en-US" sz="1800" dirty="0">
                <a:solidFill>
                  <a:schemeClr val="bg1"/>
                </a:solidFill>
              </a:rPr>
              <a:t>Méthode et stratégie d'examen</a:t>
            </a:r>
            <a:endParaRPr lang="en-US" sz="1800" dirty="0"/>
          </a:p>
        </p:txBody>
      </p:sp>
      <p:sp>
        <p:nvSpPr>
          <p:cNvPr id="18" name="Pastille FaCheckCircle"/>
          <p:cNvSpPr/>
          <p:nvPr/>
        </p:nvSpPr>
        <p:spPr>
          <a:xfrm>
            <a:off x="7040880" y="4892040"/>
            <a:ext cx="457200" cy="457200"/>
          </a:xfrm>
          <a:prstGeom prst="ellipse">
            <a:avLst/>
          </a:prstGeom>
          <a:solidFill>
            <a:schemeClr val="accent2"/>
          </a:solidFill>
          <a:ln w="12700">
            <a:solidFill>
              <a:schemeClr val="accent2"/>
            </a:solidFill>
            <a:prstDash val="solid"/>
          </a:ln>
        </p:spPr>
      </p:sp>
      <p:pic>
        <p:nvPicPr>
          <p:cNvPr id="19" name="Icône FaCheckCircle" descr="icône">    </p:cNvPr>
          <p:cNvPicPr>
            <a:picLocks noChangeAspect="1"/>
          </p:cNvPicPr>
          <p:nvPr/>
        </p:nvPicPr>
        <p:blipFill>
          <a:blip r:embed="rId4"/>
          <a:stretch>
            <a:fillRect/>
          </a:stretch>
        </p:blipFill>
        <p:spPr>
          <a:xfrm>
            <a:off x="7159752" y="5010912"/>
            <a:ext cx="219456" cy="219456"/>
          </a:xfrm>
          <a:prstGeom prst="rect">
            <a:avLst/>
          </a:prstGeom>
        </p:spPr>
      </p:pic>
      <p:sp>
        <p:nvSpPr>
          <p:cNvPr id="20" name="Text 14"/>
          <p:cNvSpPr txBox="1"/>
          <p:nvPr/>
        </p:nvSpPr>
        <p:spPr>
          <a:xfrm>
            <a:off x="7680960" y="4800600"/>
            <a:ext cx="3703320" cy="640080"/>
          </a:xfrm>
          <a:prstGeom prst="rect">
            <a:avLst/>
          </a:prstGeom>
          <a:noFill/>
          <a:ln/>
        </p:spPr>
        <p:txBody>
          <a:bodyPr wrap="square" lIns="0" tIns="0" rIns="0" bIns="0" rtlCol="0" anchor="ctr"/>
          <a:lstStyle/>
          <a:p>
            <a:pPr indent="0" marL="0">
              <a:buNone/>
            </a:pPr>
            <a:r>
              <a:rPr lang="en-US" sz="1800" dirty="0">
                <a:solidFill>
                  <a:schemeClr val="bg1"/>
                </a:solidFill>
              </a:rPr>
              <a:t>Questions, flashcards, aide-mémoire</a:t>
            </a:r>
            <a:endParaRPr lang="en-US" sz="18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17 · PRÉPARATION AUX CERTIFICATIONS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 parcours de certification</a:t>
            </a:r>
            <a:endParaRPr lang="en-US" sz="3600" dirty="0"/>
          </a:p>
        </p:txBody>
      </p:sp>
      <p:sp>
        <p:nvSpPr>
          <p:cNvPr id="5" name="Étape 1"/>
          <p:cNvSpPr/>
          <p:nvPr/>
        </p:nvSpPr>
        <p:spPr>
          <a:xfrm>
            <a:off x="548640" y="1600200"/>
            <a:ext cx="2499284" cy="3611880"/>
          </a:xfrm>
          <a:prstGeom prst="roundRect">
            <a:avLst>
              <a:gd name="adj" fmla="val 4390"/>
            </a:avLst>
          </a:prstGeom>
          <a:solidFill>
            <a:schemeClr val="bg2"/>
          </a:solidFill>
          <a:ln w="12700">
            <a:solidFill>
              <a:schemeClr val="bg2"/>
            </a:solidFill>
            <a:prstDash val="solid"/>
          </a:ln>
        </p:spPr>
      </p:sp>
      <p:sp>
        <p:nvSpPr>
          <p:cNvPr id="6"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7"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8" name="Text 5"/>
          <p:cNvSpPr txBox="1"/>
          <p:nvPr/>
        </p:nvSpPr>
        <p:spPr>
          <a:xfrm>
            <a:off x="777240"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Fondation</a:t>
            </a:r>
            <a:endParaRPr lang="en-US" sz="2200" dirty="0"/>
          </a:p>
        </p:txBody>
      </p:sp>
      <p:sp>
        <p:nvSpPr>
          <p:cNvPr id="9" name="Text 6"/>
          <p:cNvSpPr txBox="1"/>
          <p:nvPr/>
        </p:nvSpPr>
        <p:spPr>
          <a:xfrm>
            <a:off x="777240"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Cloud Practitioner (CLF)</a:t>
            </a:r>
            <a:endParaRPr lang="en-US" sz="1700" dirty="0"/>
          </a:p>
        </p:txBody>
      </p:sp>
      <p:sp>
        <p:nvSpPr>
          <p:cNvPr id="10" name="Flèche"/>
          <p:cNvSpPr/>
          <p:nvPr/>
        </p:nvSpPr>
        <p:spPr>
          <a:xfrm>
            <a:off x="3093644" y="1965960"/>
            <a:ext cx="274320" cy="274320"/>
          </a:xfrm>
          <a:prstGeom prst="rightArrow">
            <a:avLst/>
          </a:prstGeom>
          <a:solidFill>
            <a:schemeClr val="accent1"/>
          </a:solidFill>
          <a:ln w="12700">
            <a:solidFill>
              <a:schemeClr val="accent1"/>
            </a:solidFill>
            <a:prstDash val="solid"/>
          </a:ln>
        </p:spPr>
      </p:sp>
      <p:sp>
        <p:nvSpPr>
          <p:cNvPr id="11" name="Étape 2"/>
          <p:cNvSpPr/>
          <p:nvPr/>
        </p:nvSpPr>
        <p:spPr>
          <a:xfrm>
            <a:off x="3413684" y="1600200"/>
            <a:ext cx="2499284" cy="3611880"/>
          </a:xfrm>
          <a:prstGeom prst="roundRect">
            <a:avLst>
              <a:gd name="adj" fmla="val 4390"/>
            </a:avLst>
          </a:prstGeom>
          <a:solidFill>
            <a:schemeClr val="bg2"/>
          </a:solidFill>
          <a:ln w="12700">
            <a:solidFill>
              <a:schemeClr val="bg2"/>
            </a:solidFill>
            <a:prstDash val="solid"/>
          </a:ln>
        </p:spPr>
      </p:sp>
      <p:sp>
        <p:nvSpPr>
          <p:cNvPr id="12" name="Shape 9"/>
          <p:cNvSpPr/>
          <p:nvPr/>
        </p:nvSpPr>
        <p:spPr>
          <a:xfrm>
            <a:off x="3642284" y="1828800"/>
            <a:ext cx="548640" cy="548640"/>
          </a:xfrm>
          <a:prstGeom prst="ellipse">
            <a:avLst/>
          </a:prstGeom>
          <a:solidFill>
            <a:schemeClr val="accent3"/>
          </a:solidFill>
          <a:ln w="12700">
            <a:solidFill>
              <a:schemeClr val="accent3"/>
            </a:solidFill>
            <a:prstDash val="solid"/>
          </a:ln>
        </p:spPr>
      </p:sp>
      <p:sp>
        <p:nvSpPr>
          <p:cNvPr id="13" name="Text 10"/>
          <p:cNvSpPr txBox="1"/>
          <p:nvPr/>
        </p:nvSpPr>
        <p:spPr>
          <a:xfrm>
            <a:off x="3642284"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4" name="Text 11"/>
          <p:cNvSpPr txBox="1"/>
          <p:nvPr/>
        </p:nvSpPr>
        <p:spPr>
          <a:xfrm>
            <a:off x="3642284"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Associate</a:t>
            </a:r>
            <a:endParaRPr lang="en-US" sz="2200" dirty="0"/>
          </a:p>
        </p:txBody>
      </p:sp>
      <p:sp>
        <p:nvSpPr>
          <p:cNvPr id="15" name="Text 12"/>
          <p:cNvSpPr txBox="1"/>
          <p:nvPr/>
        </p:nvSpPr>
        <p:spPr>
          <a:xfrm>
            <a:off x="3642284"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Solutions Architect (SAA), Developer (DVA), CloudOps (SOA)</a:t>
            </a:r>
            <a:endParaRPr lang="en-US" sz="1700" dirty="0"/>
          </a:p>
        </p:txBody>
      </p:sp>
      <p:sp>
        <p:nvSpPr>
          <p:cNvPr id="16" name="Flèche"/>
          <p:cNvSpPr/>
          <p:nvPr/>
        </p:nvSpPr>
        <p:spPr>
          <a:xfrm>
            <a:off x="5958688" y="1965960"/>
            <a:ext cx="274320" cy="274320"/>
          </a:xfrm>
          <a:prstGeom prst="rightArrow">
            <a:avLst/>
          </a:prstGeom>
          <a:solidFill>
            <a:schemeClr val="accent1"/>
          </a:solidFill>
          <a:ln w="12700">
            <a:solidFill>
              <a:schemeClr val="accent1"/>
            </a:solidFill>
            <a:prstDash val="solid"/>
          </a:ln>
        </p:spPr>
      </p:sp>
      <p:sp>
        <p:nvSpPr>
          <p:cNvPr id="17" name="Étape 3"/>
          <p:cNvSpPr/>
          <p:nvPr/>
        </p:nvSpPr>
        <p:spPr>
          <a:xfrm>
            <a:off x="6278728" y="1600200"/>
            <a:ext cx="2499284" cy="3611880"/>
          </a:xfrm>
          <a:prstGeom prst="roundRect">
            <a:avLst>
              <a:gd name="adj" fmla="val 4390"/>
            </a:avLst>
          </a:prstGeom>
          <a:solidFill>
            <a:schemeClr val="bg2"/>
          </a:solidFill>
          <a:ln w="12700">
            <a:solidFill>
              <a:schemeClr val="bg2"/>
            </a:solidFill>
            <a:prstDash val="solid"/>
          </a:ln>
        </p:spPr>
      </p:sp>
      <p:sp>
        <p:nvSpPr>
          <p:cNvPr id="18" name="Shape 15"/>
          <p:cNvSpPr/>
          <p:nvPr/>
        </p:nvSpPr>
        <p:spPr>
          <a:xfrm>
            <a:off x="6507328" y="1828800"/>
            <a:ext cx="548640" cy="548640"/>
          </a:xfrm>
          <a:prstGeom prst="ellipse">
            <a:avLst/>
          </a:prstGeom>
          <a:solidFill>
            <a:schemeClr val="accent2"/>
          </a:solidFill>
          <a:ln w="12700">
            <a:solidFill>
              <a:schemeClr val="accent2"/>
            </a:solidFill>
            <a:prstDash val="solid"/>
          </a:ln>
        </p:spPr>
      </p:sp>
      <p:sp>
        <p:nvSpPr>
          <p:cNvPr id="19" name="Text 16"/>
          <p:cNvSpPr txBox="1"/>
          <p:nvPr/>
        </p:nvSpPr>
        <p:spPr>
          <a:xfrm>
            <a:off x="6507328"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0" name="Text 17"/>
          <p:cNvSpPr txBox="1"/>
          <p:nvPr/>
        </p:nvSpPr>
        <p:spPr>
          <a:xfrm>
            <a:off x="6507328"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Professional</a:t>
            </a:r>
            <a:endParaRPr lang="en-US" sz="2200" dirty="0"/>
          </a:p>
        </p:txBody>
      </p:sp>
      <p:sp>
        <p:nvSpPr>
          <p:cNvPr id="21" name="Text 18"/>
          <p:cNvSpPr txBox="1"/>
          <p:nvPr/>
        </p:nvSpPr>
        <p:spPr>
          <a:xfrm>
            <a:off x="6507328"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DevOps Engineer (DOP), Solutions Architect (SAP)</a:t>
            </a:r>
            <a:endParaRPr lang="en-US" sz="1700" dirty="0"/>
          </a:p>
        </p:txBody>
      </p:sp>
      <p:sp>
        <p:nvSpPr>
          <p:cNvPr id="22" name="Flèche"/>
          <p:cNvSpPr/>
          <p:nvPr/>
        </p:nvSpPr>
        <p:spPr>
          <a:xfrm>
            <a:off x="8823731" y="1965960"/>
            <a:ext cx="274320" cy="274320"/>
          </a:xfrm>
          <a:prstGeom prst="rightArrow">
            <a:avLst/>
          </a:prstGeom>
          <a:solidFill>
            <a:schemeClr val="accent1"/>
          </a:solidFill>
          <a:ln w="12700">
            <a:solidFill>
              <a:schemeClr val="accent1"/>
            </a:solidFill>
            <a:prstDash val="solid"/>
          </a:ln>
        </p:spPr>
      </p:sp>
      <p:sp>
        <p:nvSpPr>
          <p:cNvPr id="23" name="Étape 4"/>
          <p:cNvSpPr/>
          <p:nvPr/>
        </p:nvSpPr>
        <p:spPr>
          <a:xfrm>
            <a:off x="9143771" y="1600200"/>
            <a:ext cx="2499284" cy="3611880"/>
          </a:xfrm>
          <a:prstGeom prst="roundRect">
            <a:avLst>
              <a:gd name="adj" fmla="val 4390"/>
            </a:avLst>
          </a:prstGeom>
          <a:solidFill>
            <a:schemeClr val="bg2"/>
          </a:solidFill>
          <a:ln w="12700">
            <a:solidFill>
              <a:schemeClr val="bg2"/>
            </a:solidFill>
            <a:prstDash val="solid"/>
          </a:ln>
        </p:spPr>
      </p:sp>
      <p:sp>
        <p:nvSpPr>
          <p:cNvPr id="24" name="Shape 21"/>
          <p:cNvSpPr/>
          <p:nvPr/>
        </p:nvSpPr>
        <p:spPr>
          <a:xfrm>
            <a:off x="9372371" y="1828800"/>
            <a:ext cx="548640" cy="548640"/>
          </a:xfrm>
          <a:prstGeom prst="ellipse">
            <a:avLst/>
          </a:prstGeom>
          <a:solidFill>
            <a:schemeClr val="accent4"/>
          </a:solidFill>
          <a:ln w="12700">
            <a:solidFill>
              <a:schemeClr val="accent4"/>
            </a:solidFill>
            <a:prstDash val="solid"/>
          </a:ln>
        </p:spPr>
      </p:sp>
      <p:sp>
        <p:nvSpPr>
          <p:cNvPr id="25" name="Text 22"/>
          <p:cNvSpPr txBox="1"/>
          <p:nvPr/>
        </p:nvSpPr>
        <p:spPr>
          <a:xfrm>
            <a:off x="9372371" y="18288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6" name="Text 23"/>
          <p:cNvSpPr txBox="1"/>
          <p:nvPr/>
        </p:nvSpPr>
        <p:spPr>
          <a:xfrm>
            <a:off x="9372371" y="2560320"/>
            <a:ext cx="2042084" cy="777240"/>
          </a:xfrm>
          <a:prstGeom prst="rect">
            <a:avLst/>
          </a:prstGeom>
          <a:noFill/>
          <a:ln/>
        </p:spPr>
        <p:txBody>
          <a:bodyPr wrap="square" lIns="0" tIns="0" rIns="0" bIns="0" rtlCol="0" anchor="t"/>
          <a:lstStyle/>
          <a:p>
            <a:pPr indent="0" marL="0">
              <a:buNone/>
            </a:pPr>
            <a:r>
              <a:rPr lang="en-US" sz="2200" b="1" dirty="0">
                <a:solidFill>
                  <a:schemeClr val="tx1"/>
                </a:solidFill>
              </a:rPr>
              <a:t>Spécialités</a:t>
            </a:r>
            <a:endParaRPr lang="en-US" sz="2200" dirty="0"/>
          </a:p>
        </p:txBody>
      </p:sp>
      <p:sp>
        <p:nvSpPr>
          <p:cNvPr id="27" name="Text 24"/>
          <p:cNvSpPr txBox="1"/>
          <p:nvPr/>
        </p:nvSpPr>
        <p:spPr>
          <a:xfrm>
            <a:off x="9372371" y="3383280"/>
            <a:ext cx="2042084" cy="1691640"/>
          </a:xfrm>
          <a:prstGeom prst="rect">
            <a:avLst/>
          </a:prstGeom>
          <a:noFill/>
          <a:ln/>
        </p:spPr>
        <p:txBody>
          <a:bodyPr wrap="square" lIns="0" tIns="0" rIns="0" bIns="0" rtlCol="0" anchor="t"/>
          <a:lstStyle/>
          <a:p>
            <a:pPr indent="0" marL="0">
              <a:buNone/>
            </a:pPr>
            <a:r>
              <a:rPr lang="en-US" sz="1700" dirty="0">
                <a:solidFill>
                  <a:schemeClr val="tx2"/>
                </a:solidFill>
              </a:rPr>
              <a:t>Security (SCS), Advanced Networking (ANS)</a:t>
            </a:r>
            <a:endParaRPr lang="en-US" sz="1700" dirty="0"/>
          </a:p>
        </p:txBody>
      </p:sp>
      <p:sp>
        <p:nvSpPr>
          <p:cNvPr id="28"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9"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30"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31"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Profil DevOps : SAA, puis DVA, puis DOP.</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17 · PRÉPARATION AUX CERTIFICATIONS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Les domaines du SAA et du DOP</a:t>
            </a:r>
            <a:endParaRPr lang="en-US" sz="3600" dirty="0"/>
          </a:p>
        </p:txBody>
      </p:sp>
      <p:graphicFrame>
        <p:nvGraphicFramePr>
          <p:cNvPr id="120" name="Tableau"/>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3931920"/>
                <a:gridCol w="1371600"/>
                <a:gridCol w="4389120"/>
                <a:gridCol w="1399032"/>
              </a:tblGrid>
              <a:tr h="542109">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SAA-C03</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DOP-C02</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17233B"/>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Architectures sécurisées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Automatisation du SDLC</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22</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Architectures résilientes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26</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Configuration et IaC</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Architectures performantes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24</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Sécurité et conformité</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17</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r>
                        <a:rPr lang="en-US" sz="1600" b="1" dirty="0">
                          <a:solidFill>
                            <a:srgbClr val="17233B"/>
                          </a:solidFill>
                          <a:latin typeface="Calibri" pitchFamily="34" charset="0"/>
                          <a:ea typeface="Calibri" pitchFamily="34" charset="-122"/>
                          <a:cs typeface="Calibri" pitchFamily="34" charset="-120"/>
                        </a:rPr>
                        <a:t>Optimisées en coût</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Résilience</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r h="542109">
                <a:tc>
                  <a:txBody>
                    <a:bodyPr/>
                    <a:lstStyle/>
                    <a:p>
                      <a:pPr indent="0" marL="0">
                        <a:buNone/>
                      </a:pP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Surveillance et logs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1F4F9"/>
                    </a:solidFill>
                  </a:tcPr>
                </a:tc>
              </a:tr>
              <a:tr h="542109">
                <a:tc>
                  <a:txBody>
                    <a:bodyPr/>
                    <a:lstStyle/>
                    <a:p>
                      <a:pPr indent="0" marL="0">
                        <a:buNone/>
                      </a:pP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Réponse aux incidents</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c>
                  <a:txBody>
                    <a:bodyPr/>
                    <a:lstStyle/>
                    <a:p>
                      <a:pPr indent="0" marL="0">
                        <a:buNone/>
                      </a:pPr>
                      <a:r>
                        <a:rPr lang="en-US" sz="1600" dirty="0">
                          <a:solidFill>
                            <a:srgbClr val="3A4A66"/>
                          </a:solidFill>
                          <a:latin typeface="Calibri" pitchFamily="34" charset="0"/>
                          <a:ea typeface="Calibri" pitchFamily="34" charset="-122"/>
                          <a:cs typeface="Calibri" pitchFamily="34" charset="-120"/>
                        </a:rPr>
                        <a:t>14</a:t>
                      </a:r>
                      <a:endParaRPr lang="en-US" sz="1600" dirty="0">
                        <a:latin typeface="Calibri" charset="0"/>
                        <a:ea typeface="Calibri" charset="0"/>
                        <a:cs typeface="Calibri" charset="0"/>
                      </a:endParaRPr>
                    </a:p>
                  </a:txBody>
                  <a:tcPr marL="91440" marR="91440" marT="45720" marB="45720" anchor="ctr">
                    <a:lnL w="6350" cap="flat" cmpd="sng" algn="ctr">
                      <a:solidFill>
                        <a:srgbClr val="D5DBE6"/>
                      </a:solidFill>
                      <a:prstDash val="solid"/>
                      <a:round/>
                      <a:headEnd type="none" w="med" len="med"/>
                      <a:tailEnd type="none" w="med" len="med"/>
                    </a:lnL>
                    <a:lnR w="6350" cap="flat" cmpd="sng" algn="ctr">
                      <a:solidFill>
                        <a:srgbClr val="D5DBE6"/>
                      </a:solidFill>
                      <a:prstDash val="solid"/>
                      <a:round/>
                      <a:headEnd type="none" w="med" len="med"/>
                      <a:tailEnd type="none" w="med" len="med"/>
                    </a:lnR>
                    <a:lnT w="6350" cap="flat" cmpd="sng" algn="ctr">
                      <a:solidFill>
                        <a:srgbClr val="D5DBE6"/>
                      </a:solidFill>
                      <a:prstDash val="solid"/>
                      <a:round/>
                      <a:headEnd type="none" w="med" len="med"/>
                      <a:tailEnd type="none" w="med" len="med"/>
                    </a:lnT>
                    <a:lnB w="6350" cap="flat" cmpd="sng" algn="ctr">
                      <a:solidFill>
                        <a:srgbClr val="D5DBE6"/>
                      </a:solidFill>
                      <a:prstDash val="solid"/>
                      <a:round/>
                      <a:headEnd type="none" w="med" len="med"/>
                      <a:tailEnd type="none" w="med" len="med"/>
                    </a:lnB>
                    <a:solidFill>
                      <a:srgbClr val="FFFFFF"/>
                    </a:solidFill>
                  </a:tcPr>
                </a:tc>
              </a:tr>
            </a:tbl>
          </a:graphicData>
        </a:graphic>
      </p:graphicFrame>
      <p:sp>
        <p:nvSpPr>
          <p:cNvPr id="6"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7"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8" name="Icône FaLightbulb" descr="icône">    </p:cNvPr>
          <p:cNvPicPr>
            <a:picLocks noChangeAspect="1"/>
          </p:cNvPicPr>
          <p:nvPr/>
        </p:nvPicPr>
        <p:blipFill>
          <a:blip r:embed="rId1"/>
          <a:stretch>
            <a:fillRect/>
          </a:stretch>
        </p:blipFill>
        <p:spPr>
          <a:xfrm>
            <a:off x="799917" y="5801685"/>
            <a:ext cx="210678" cy="210678"/>
          </a:xfrm>
          <a:prstGeom prst="rect">
            <a:avLst/>
          </a:prstGeom>
        </p:spPr>
      </p:pic>
      <p:sp>
        <p:nvSpPr>
          <p:cNvPr id="9"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Pondérations à confirmer sur les guides d'examen officiels, qui évoluent.</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17 · PRÉPARATION AUX CERTIFICATIONS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Un plan de révision efficace</a:t>
            </a:r>
            <a:endParaRPr lang="en-US" sz="3600" dirty="0"/>
          </a:p>
        </p:txBody>
      </p:sp>
      <p:sp>
        <p:nvSpPr>
          <p:cNvPr id="5" name="Carte Pratiquer d'abord"/>
          <p:cNvSpPr/>
          <p:nvPr/>
        </p:nvSpPr>
        <p:spPr>
          <a:xfrm>
            <a:off x="548640" y="1600200"/>
            <a:ext cx="2567864" cy="3840480"/>
          </a:xfrm>
          <a:prstGeom prst="roundRect">
            <a:avLst>
              <a:gd name="adj" fmla="val 4273"/>
            </a:avLst>
          </a:prstGeom>
          <a:solidFill>
            <a:schemeClr val="bg2"/>
          </a:solidFill>
          <a:ln w="12700">
            <a:solidFill>
              <a:schemeClr val="bg2"/>
            </a:solidFill>
            <a:prstDash val="solid"/>
          </a:ln>
        </p:spPr>
      </p:sp>
      <p:sp>
        <p:nvSpPr>
          <p:cNvPr id="6" name="Pastille FaFlask"/>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Flask"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Pratiquer d'abord</a:t>
            </a:r>
            <a:endParaRPr lang="en-US" sz="2200" dirty="0"/>
          </a:p>
        </p:txBody>
      </p:sp>
      <p:sp>
        <p:nvSpPr>
          <p:cNvPr id="9" name="Text 5"/>
          <p:cNvSpPr txBox="1"/>
          <p:nvPr/>
        </p:nvSpPr>
        <p:spPr>
          <a:xfrm>
            <a:off x="822960"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Chaque service doit avoir été manipulé : labos du dépôt.</a:t>
            </a:r>
            <a:endParaRPr lang="en-US" sz="1900" dirty="0"/>
          </a:p>
        </p:txBody>
      </p:sp>
      <p:sp>
        <p:nvSpPr>
          <p:cNvPr id="10" name="Carte Réviser par répétition"/>
          <p:cNvSpPr/>
          <p:nvPr/>
        </p:nvSpPr>
        <p:spPr>
          <a:xfrm>
            <a:off x="3390824" y="1600200"/>
            <a:ext cx="2567864" cy="3840480"/>
          </a:xfrm>
          <a:prstGeom prst="roundRect">
            <a:avLst>
              <a:gd name="adj" fmla="val 4273"/>
            </a:avLst>
          </a:prstGeom>
          <a:solidFill>
            <a:schemeClr val="bg2"/>
          </a:solidFill>
          <a:ln w="12700">
            <a:solidFill>
              <a:schemeClr val="bg2"/>
            </a:solidFill>
            <a:prstDash val="solid"/>
          </a:ln>
        </p:spPr>
      </p:sp>
      <p:sp>
        <p:nvSpPr>
          <p:cNvPr id="11" name="Pastille FaLayerGroup"/>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LayerGroup"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Réviser par répétition</a:t>
            </a:r>
            <a:endParaRPr lang="en-US" sz="2200" dirty="0"/>
          </a:p>
        </p:txBody>
      </p:sp>
      <p:sp>
        <p:nvSpPr>
          <p:cNvPr id="14" name="Text 9"/>
          <p:cNvSpPr txBox="1"/>
          <p:nvPr/>
        </p:nvSpPr>
        <p:spPr>
          <a:xfrm>
            <a:off x="3665144"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Flashcards espacées : 134 cartes fournies.</a:t>
            </a:r>
            <a:endParaRPr lang="en-US" sz="1900" dirty="0"/>
          </a:p>
        </p:txBody>
      </p:sp>
      <p:sp>
        <p:nvSpPr>
          <p:cNvPr id="15" name="Carte Examens blancs"/>
          <p:cNvSpPr/>
          <p:nvPr/>
        </p:nvSpPr>
        <p:spPr>
          <a:xfrm>
            <a:off x="6233008" y="1600200"/>
            <a:ext cx="2567864" cy="3840480"/>
          </a:xfrm>
          <a:prstGeom prst="roundRect">
            <a:avLst>
              <a:gd name="adj" fmla="val 4273"/>
            </a:avLst>
          </a:prstGeom>
          <a:solidFill>
            <a:schemeClr val="bg2"/>
          </a:solidFill>
          <a:ln w="12700">
            <a:solidFill>
              <a:schemeClr val="bg2"/>
            </a:solidFill>
            <a:prstDash val="solid"/>
          </a:ln>
        </p:spPr>
      </p:sp>
      <p:sp>
        <p:nvSpPr>
          <p:cNvPr id="16" name="Pastille FaClipboardList"/>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ClipboardList"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Examens blancs</a:t>
            </a:r>
            <a:endParaRPr lang="en-US" sz="2200" dirty="0"/>
          </a:p>
        </p:txBody>
      </p:sp>
      <p:sp>
        <p:nvSpPr>
          <p:cNvPr id="19" name="Text 13"/>
          <p:cNvSpPr txBox="1"/>
          <p:nvPr/>
        </p:nvSpPr>
        <p:spPr>
          <a:xfrm>
            <a:off x="6507328"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Au moins 3, en analysant toutes les réponses.</a:t>
            </a:r>
            <a:endParaRPr lang="en-US" sz="1900" dirty="0"/>
          </a:p>
        </p:txBody>
      </p:sp>
      <p:sp>
        <p:nvSpPr>
          <p:cNvPr id="20" name="Carte Cahier d'erreurs"/>
          <p:cNvSpPr/>
          <p:nvPr/>
        </p:nvSpPr>
        <p:spPr>
          <a:xfrm>
            <a:off x="9075191" y="1600200"/>
            <a:ext cx="2567864" cy="3840480"/>
          </a:xfrm>
          <a:prstGeom prst="roundRect">
            <a:avLst>
              <a:gd name="adj" fmla="val 4273"/>
            </a:avLst>
          </a:prstGeom>
          <a:solidFill>
            <a:schemeClr val="bg2"/>
          </a:solidFill>
          <a:ln w="12700">
            <a:solidFill>
              <a:schemeClr val="bg2"/>
            </a:solidFill>
            <a:prstDash val="solid"/>
          </a:ln>
        </p:spPr>
      </p:sp>
      <p:sp>
        <p:nvSpPr>
          <p:cNvPr id="21" name="Pastille FaBookOpen"/>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BookOpen"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Cahier d'erreurs</a:t>
            </a:r>
            <a:endParaRPr lang="en-US" sz="2200" dirty="0"/>
          </a:p>
        </p:txBody>
      </p:sp>
      <p:sp>
        <p:nvSpPr>
          <p:cNvPr id="24" name="Text 17"/>
          <p:cNvSpPr txBox="1"/>
          <p:nvPr/>
        </p:nvSpPr>
        <p:spPr>
          <a:xfrm>
            <a:off x="9349511" y="3566160"/>
            <a:ext cx="2019224" cy="1737360"/>
          </a:xfrm>
          <a:prstGeom prst="rect">
            <a:avLst/>
          </a:prstGeom>
          <a:noFill/>
          <a:ln/>
        </p:spPr>
        <p:txBody>
          <a:bodyPr wrap="square" lIns="0" tIns="0" rIns="0" bIns="0" rtlCol="0" anchor="t"/>
          <a:lstStyle/>
          <a:p>
            <a:pPr indent="0" marL="0">
              <a:buNone/>
            </a:pPr>
            <a:r>
              <a:rPr lang="en-US" sz="1900" dirty="0">
                <a:solidFill>
                  <a:schemeClr val="tx2"/>
                </a:solidFill>
              </a:rPr>
              <a:t>Une ligne par erreur : la règle de décision manquante.</a:t>
            </a:r>
            <a:endParaRPr lang="en-US" sz="1900" dirty="0"/>
          </a:p>
        </p:txBody>
      </p:sp>
      <p:sp>
        <p:nvSpPr>
          <p:cNvPr id="25" name="Encart"/>
          <p:cNvSpPr/>
          <p:nvPr/>
        </p:nvSpPr>
        <p:spPr>
          <a:xfrm>
            <a:off x="548640" y="5596128"/>
            <a:ext cx="11094415" cy="621792"/>
          </a:xfrm>
          <a:prstGeom prst="roundRect">
            <a:avLst>
              <a:gd name="adj" fmla="val 17647"/>
            </a:avLst>
          </a:prstGeom>
          <a:solidFill>
            <a:schemeClr val="tx1"/>
          </a:solidFill>
          <a:ln w="12700">
            <a:solidFill>
              <a:schemeClr val="tx1"/>
            </a:solidFill>
            <a:prstDash val="solid"/>
          </a:ln>
        </p:spPr>
      </p:sp>
      <p:sp>
        <p:nvSpPr>
          <p:cNvPr id="26" name="Pastille FaLightbulb"/>
          <p:cNvSpPr/>
          <p:nvPr/>
        </p:nvSpPr>
        <p:spPr>
          <a:xfrm>
            <a:off x="685800" y="5687568"/>
            <a:ext cx="438912" cy="438912"/>
          </a:xfrm>
          <a:prstGeom prst="ellipse">
            <a:avLst/>
          </a:prstGeom>
          <a:solidFill>
            <a:schemeClr val="accent1"/>
          </a:solidFill>
          <a:ln w="12700">
            <a:solidFill>
              <a:schemeClr val="accent1"/>
            </a:solidFill>
            <a:prstDash val="solid"/>
          </a:ln>
        </p:spPr>
      </p:sp>
      <p:pic>
        <p:nvPicPr>
          <p:cNvPr id="27" name="Icône FaLightbulb" descr="icône">    </p:cNvPr>
          <p:cNvPicPr>
            <a:picLocks noChangeAspect="1"/>
          </p:cNvPicPr>
          <p:nvPr/>
        </p:nvPicPr>
        <p:blipFill>
          <a:blip r:embed="rId5"/>
          <a:stretch>
            <a:fillRect/>
          </a:stretch>
        </p:blipFill>
        <p:spPr>
          <a:xfrm>
            <a:off x="799917" y="5801685"/>
            <a:ext cx="210678" cy="210678"/>
          </a:xfrm>
          <a:prstGeom prst="rect">
            <a:avLst/>
          </a:prstGeom>
        </p:spPr>
      </p:pic>
      <p:sp>
        <p:nvSpPr>
          <p:cNvPr id="28" name="Texte encart"/>
          <p:cNvSpPr txBox="1"/>
          <p:nvPr/>
        </p:nvSpPr>
        <p:spPr>
          <a:xfrm>
            <a:off x="1280160" y="5596128"/>
            <a:ext cx="10180015" cy="621792"/>
          </a:xfrm>
          <a:prstGeom prst="rect">
            <a:avLst/>
          </a:prstGeom>
          <a:noFill/>
          <a:ln/>
        </p:spPr>
        <p:txBody>
          <a:bodyPr wrap="square" lIns="0" tIns="0" rIns="0" bIns="0" rtlCol="0" anchor="ctr"/>
          <a:lstStyle/>
          <a:p>
            <a:pPr indent="0" marL="0">
              <a:buNone/>
            </a:pPr>
            <a:r>
              <a:rPr lang="en-US" sz="1600" dirty="0">
                <a:solidFill>
                  <a:schemeClr val="bg1"/>
                </a:solidFill>
              </a:rPr>
              <a:t>Se présenter quand on obtient au moins 80 % de façon régulière sur des examens blancs de qualité.</a:t>
            </a:r>
            <a:endParaRPr lang="en-US" sz="16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17 · PRÉPARATION AUX CERTIFICATIONS</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Stratégie le jour de l'examen</a:t>
            </a:r>
            <a:endParaRPr lang="en-US" sz="3600" dirty="0"/>
          </a:p>
        </p:txBody>
      </p:sp>
      <p:sp>
        <p:nvSpPr>
          <p:cNvPr id="5" name="Carte Lire la dernière phrase"/>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Search"/>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Search"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Lire la dernière phrase</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Le critère : moins cher, moins d'effort, plus disponible.</a:t>
            </a:r>
            <a:endParaRPr lang="en-US" sz="1900" dirty="0"/>
          </a:p>
        </p:txBody>
      </p:sp>
      <p:sp>
        <p:nvSpPr>
          <p:cNvPr id="10" name="Carte Éliminer"/>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TimesCircle"/>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TimesCircle"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Éliminer</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Écarter les réponses impossibles, manuelles ou sur-dimensionnées.</a:t>
            </a:r>
            <a:endParaRPr lang="en-US" sz="1900" dirty="0"/>
          </a:p>
        </p:txBody>
      </p:sp>
      <p:sp>
        <p:nvSpPr>
          <p:cNvPr id="15" name="Carte Préférences AWS"/>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Star"/>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Star"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Préférences AWS</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Managé, serverless, découplé, rôle plutôt que clé, multi-AZ.</a:t>
            </a:r>
            <a:endParaRPr lang="en-US" sz="1900" dirty="0"/>
          </a:p>
        </p:txBody>
      </p:sp>
      <p:sp>
        <p:nvSpPr>
          <p:cNvPr id="20" name="Carte Gérer le temps"/>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RegClock"/>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RegClock"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Gérer le temps</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Marquer les questions longues, relire à la fin. Toujours répondre.</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CONCLUSION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Ce que vous savez faire maintenant</a:t>
            </a:r>
            <a:endParaRPr lang="en-US" sz="3600" dirty="0"/>
          </a:p>
        </p:txBody>
      </p:sp>
      <p:sp>
        <p:nvSpPr>
          <p:cNvPr id="5" name="Carte Concevoir"/>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NetworkWired"/>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NetworkWired"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Concevoir</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Un VPC multi-zones, une architecture résiliente et chiffrée en coût.</a:t>
            </a:r>
            <a:endParaRPr lang="en-US" sz="1900" dirty="0"/>
          </a:p>
        </p:txBody>
      </p:sp>
      <p:sp>
        <p:nvSpPr>
          <p:cNvPr id="10" name="Carte Automatiser"/>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Cubes"/>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Cubes"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Automatiser</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Tout en Terraform, déployé par un pipeline OIDC sans clé.</a:t>
            </a:r>
            <a:endParaRPr lang="en-US" sz="1900" dirty="0"/>
          </a:p>
        </p:txBody>
      </p:sp>
      <p:sp>
        <p:nvSpPr>
          <p:cNvPr id="15" name="Carte Sécuriser"/>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ShieldAlt"/>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ShieldAlt"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Sécuriser</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IAM au moindre privilège, KMS, secrets, détection, SCP.</a:t>
            </a:r>
            <a:endParaRPr lang="en-US" sz="1900" dirty="0"/>
          </a:p>
        </p:txBody>
      </p:sp>
      <p:sp>
        <p:nvSpPr>
          <p:cNvPr id="20" name="Carte Exploiter"/>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ChartLine"/>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ChartLine"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Exploiter</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Observer, alerter, remédier automatiquement, maîtriser les coûts.</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Rubrique"/>
          <p:cNvSpPr txBox="1"/>
          <p:nvPr/>
        </p:nvSpPr>
        <p:spPr>
          <a:xfrm>
            <a:off x="548640" y="274320"/>
            <a:ext cx="91440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CONCLUSION</a:t>
            </a:r>
            <a:endParaRPr lang="en-US" sz="1200" dirty="0"/>
          </a:p>
        </p:txBody>
      </p:sp>
      <p:sp>
        <p:nvSpPr>
          <p:cNvPr id="3" name="Text 1"/>
          <p:cNvSpPr/>
          <p:nvPr>
            <p:ph idx="101" type="title" hasCustomPrompt="1"/>
          </p:nvPr>
        </p:nvSpPr>
        <p:spPr>
          <a:xfrm>
            <a:off x="548640" y="566928"/>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Pour continuer</a:t>
            </a:r>
            <a:endParaRPr lang="en-US" sz="3600" dirty="0"/>
          </a:p>
        </p:txBody>
      </p:sp>
      <p:sp>
        <p:nvSpPr>
          <p:cNvPr id="5" name="Carte Le dépôt"/>
          <p:cNvSpPr/>
          <p:nvPr/>
        </p:nvSpPr>
        <p:spPr>
          <a:xfrm>
            <a:off x="548640" y="1600200"/>
            <a:ext cx="2567864" cy="4206240"/>
          </a:xfrm>
          <a:prstGeom prst="roundRect">
            <a:avLst>
              <a:gd name="adj" fmla="val 4273"/>
            </a:avLst>
          </a:prstGeom>
          <a:solidFill>
            <a:schemeClr val="bg2"/>
          </a:solidFill>
          <a:ln w="12700">
            <a:solidFill>
              <a:schemeClr val="bg2"/>
            </a:solidFill>
            <a:prstDash val="solid"/>
          </a:ln>
        </p:spPr>
      </p:sp>
      <p:sp>
        <p:nvSpPr>
          <p:cNvPr id="6" name="Pastille FaGithub"/>
          <p:cNvSpPr/>
          <p:nvPr/>
        </p:nvSpPr>
        <p:spPr>
          <a:xfrm>
            <a:off x="822960" y="1874520"/>
            <a:ext cx="685800" cy="685800"/>
          </a:xfrm>
          <a:prstGeom prst="ellipse">
            <a:avLst/>
          </a:prstGeom>
          <a:solidFill>
            <a:schemeClr val="accent1"/>
          </a:solidFill>
          <a:ln w="12700">
            <a:solidFill>
              <a:schemeClr val="accent1"/>
            </a:solidFill>
            <a:prstDash val="solid"/>
          </a:ln>
        </p:spPr>
      </p:sp>
      <p:pic>
        <p:nvPicPr>
          <p:cNvPr id="7" name="Icône FaGithub" descr="icône">    </p:cNvPr>
          <p:cNvPicPr>
            <a:picLocks noChangeAspect="1"/>
          </p:cNvPicPr>
          <p:nvPr/>
        </p:nvPicPr>
        <p:blipFill>
          <a:blip r:embed="rId1"/>
          <a:stretch>
            <a:fillRect/>
          </a:stretch>
        </p:blipFill>
        <p:spPr>
          <a:xfrm>
            <a:off x="1001268" y="2052828"/>
            <a:ext cx="329184" cy="329184"/>
          </a:xfrm>
          <a:prstGeom prst="rect">
            <a:avLst/>
          </a:prstGeom>
        </p:spPr>
      </p:pic>
      <p:sp>
        <p:nvSpPr>
          <p:cNvPr id="8" name="Text 4"/>
          <p:cNvSpPr txBox="1"/>
          <p:nvPr/>
        </p:nvSpPr>
        <p:spPr>
          <a:xfrm>
            <a:off x="822960"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Le dépôt</a:t>
            </a:r>
            <a:endParaRPr lang="en-US" sz="2200" dirty="0"/>
          </a:p>
        </p:txBody>
      </p:sp>
      <p:sp>
        <p:nvSpPr>
          <p:cNvPr id="9" name="Text 5"/>
          <p:cNvSpPr txBox="1"/>
          <p:nvPr/>
        </p:nvSpPr>
        <p:spPr>
          <a:xfrm>
            <a:off x="822960"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github.com/nzembouong18/aws : cours, démos, labos et projet final.</a:t>
            </a:r>
            <a:endParaRPr lang="en-US" sz="1900" dirty="0"/>
          </a:p>
        </p:txBody>
      </p:sp>
      <p:sp>
        <p:nvSpPr>
          <p:cNvPr id="10" name="Carte AWS Skill Builder"/>
          <p:cNvSpPr/>
          <p:nvPr/>
        </p:nvSpPr>
        <p:spPr>
          <a:xfrm>
            <a:off x="3390824" y="1600200"/>
            <a:ext cx="2567864" cy="4206240"/>
          </a:xfrm>
          <a:prstGeom prst="roundRect">
            <a:avLst>
              <a:gd name="adj" fmla="val 4273"/>
            </a:avLst>
          </a:prstGeom>
          <a:solidFill>
            <a:schemeClr val="bg2"/>
          </a:solidFill>
          <a:ln w="12700">
            <a:solidFill>
              <a:schemeClr val="bg2"/>
            </a:solidFill>
            <a:prstDash val="solid"/>
          </a:ln>
        </p:spPr>
      </p:sp>
      <p:sp>
        <p:nvSpPr>
          <p:cNvPr id="11" name="Pastille FaGraduationCap"/>
          <p:cNvSpPr/>
          <p:nvPr/>
        </p:nvSpPr>
        <p:spPr>
          <a:xfrm>
            <a:off x="3665144" y="1874520"/>
            <a:ext cx="685800" cy="685800"/>
          </a:xfrm>
          <a:prstGeom prst="ellipse">
            <a:avLst/>
          </a:prstGeom>
          <a:solidFill>
            <a:schemeClr val="accent3"/>
          </a:solidFill>
          <a:ln w="12700">
            <a:solidFill>
              <a:schemeClr val="accent3"/>
            </a:solidFill>
            <a:prstDash val="solid"/>
          </a:ln>
        </p:spPr>
      </p:sp>
      <p:pic>
        <p:nvPicPr>
          <p:cNvPr id="12" name="Icône FaGraduationCap" descr="icône">    </p:cNvPr>
          <p:cNvPicPr>
            <a:picLocks noChangeAspect="1"/>
          </p:cNvPicPr>
          <p:nvPr/>
        </p:nvPicPr>
        <p:blipFill>
          <a:blip r:embed="rId2"/>
          <a:stretch>
            <a:fillRect/>
          </a:stretch>
        </p:blipFill>
        <p:spPr>
          <a:xfrm>
            <a:off x="3843452" y="2052828"/>
            <a:ext cx="329184" cy="329184"/>
          </a:xfrm>
          <a:prstGeom prst="rect">
            <a:avLst/>
          </a:prstGeom>
        </p:spPr>
      </p:pic>
      <p:sp>
        <p:nvSpPr>
          <p:cNvPr id="13" name="Text 8"/>
          <p:cNvSpPr txBox="1"/>
          <p:nvPr/>
        </p:nvSpPr>
        <p:spPr>
          <a:xfrm>
            <a:off x="3665144"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AWS Skill Builder</a:t>
            </a:r>
            <a:endParaRPr lang="en-US" sz="2200" dirty="0"/>
          </a:p>
        </p:txBody>
      </p:sp>
      <p:sp>
        <p:nvSpPr>
          <p:cNvPr id="14" name="Text 9"/>
          <p:cNvSpPr txBox="1"/>
          <p:nvPr/>
        </p:nvSpPr>
        <p:spPr>
          <a:xfrm>
            <a:off x="3665144"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Cours officiels et examens blancs officiels.</a:t>
            </a:r>
            <a:endParaRPr lang="en-US" sz="1900" dirty="0"/>
          </a:p>
        </p:txBody>
      </p:sp>
      <p:sp>
        <p:nvSpPr>
          <p:cNvPr id="15" name="Carte AWS Workshops"/>
          <p:cNvSpPr/>
          <p:nvPr/>
        </p:nvSpPr>
        <p:spPr>
          <a:xfrm>
            <a:off x="6233008" y="1600200"/>
            <a:ext cx="2567864" cy="4206240"/>
          </a:xfrm>
          <a:prstGeom prst="roundRect">
            <a:avLst>
              <a:gd name="adj" fmla="val 4273"/>
            </a:avLst>
          </a:prstGeom>
          <a:solidFill>
            <a:schemeClr val="bg2"/>
          </a:solidFill>
          <a:ln w="12700">
            <a:solidFill>
              <a:schemeClr val="bg2"/>
            </a:solidFill>
            <a:prstDash val="solid"/>
          </a:ln>
        </p:spPr>
      </p:sp>
      <p:sp>
        <p:nvSpPr>
          <p:cNvPr id="16" name="Pastille FaTools"/>
          <p:cNvSpPr/>
          <p:nvPr/>
        </p:nvSpPr>
        <p:spPr>
          <a:xfrm>
            <a:off x="6507328" y="1874520"/>
            <a:ext cx="685800" cy="685800"/>
          </a:xfrm>
          <a:prstGeom prst="ellipse">
            <a:avLst/>
          </a:prstGeom>
          <a:solidFill>
            <a:schemeClr val="accent2"/>
          </a:solidFill>
          <a:ln w="12700">
            <a:solidFill>
              <a:schemeClr val="accent2"/>
            </a:solidFill>
            <a:prstDash val="solid"/>
          </a:ln>
        </p:spPr>
      </p:sp>
      <p:pic>
        <p:nvPicPr>
          <p:cNvPr id="17" name="Icône FaTools" descr="icône">    </p:cNvPr>
          <p:cNvPicPr>
            <a:picLocks noChangeAspect="1"/>
          </p:cNvPicPr>
          <p:nvPr/>
        </p:nvPicPr>
        <p:blipFill>
          <a:blip r:embed="rId3"/>
          <a:stretch>
            <a:fillRect/>
          </a:stretch>
        </p:blipFill>
        <p:spPr>
          <a:xfrm>
            <a:off x="6685636" y="2052828"/>
            <a:ext cx="329184" cy="329184"/>
          </a:xfrm>
          <a:prstGeom prst="rect">
            <a:avLst/>
          </a:prstGeom>
        </p:spPr>
      </p:pic>
      <p:sp>
        <p:nvSpPr>
          <p:cNvPr id="18" name="Text 12"/>
          <p:cNvSpPr txBox="1"/>
          <p:nvPr/>
        </p:nvSpPr>
        <p:spPr>
          <a:xfrm>
            <a:off x="6507328"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AWS Workshops</a:t>
            </a:r>
            <a:endParaRPr lang="en-US" sz="2200" dirty="0"/>
          </a:p>
        </p:txBody>
      </p:sp>
      <p:sp>
        <p:nvSpPr>
          <p:cNvPr id="19" name="Text 13"/>
          <p:cNvSpPr txBox="1"/>
          <p:nvPr/>
        </p:nvSpPr>
        <p:spPr>
          <a:xfrm>
            <a:off x="6507328"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workshops.aws et Well-Architected Labs pour pratiquer.</a:t>
            </a:r>
            <a:endParaRPr lang="en-US" sz="1900" dirty="0"/>
          </a:p>
        </p:txBody>
      </p:sp>
      <p:sp>
        <p:nvSpPr>
          <p:cNvPr id="20" name="Carte Communauté"/>
          <p:cNvSpPr/>
          <p:nvPr/>
        </p:nvSpPr>
        <p:spPr>
          <a:xfrm>
            <a:off x="9075191" y="1600200"/>
            <a:ext cx="2567864" cy="4206240"/>
          </a:xfrm>
          <a:prstGeom prst="roundRect">
            <a:avLst>
              <a:gd name="adj" fmla="val 4273"/>
            </a:avLst>
          </a:prstGeom>
          <a:solidFill>
            <a:schemeClr val="bg2"/>
          </a:solidFill>
          <a:ln w="12700">
            <a:solidFill>
              <a:schemeClr val="bg2"/>
            </a:solidFill>
            <a:prstDash val="solid"/>
          </a:ln>
        </p:spPr>
      </p:sp>
      <p:sp>
        <p:nvSpPr>
          <p:cNvPr id="21" name="Pastille FaUsers"/>
          <p:cNvSpPr/>
          <p:nvPr/>
        </p:nvSpPr>
        <p:spPr>
          <a:xfrm>
            <a:off x="9349511" y="1874520"/>
            <a:ext cx="685800" cy="685800"/>
          </a:xfrm>
          <a:prstGeom prst="ellipse">
            <a:avLst/>
          </a:prstGeom>
          <a:solidFill>
            <a:schemeClr val="accent4"/>
          </a:solidFill>
          <a:ln w="12700">
            <a:solidFill>
              <a:schemeClr val="accent4"/>
            </a:solidFill>
            <a:prstDash val="solid"/>
          </a:ln>
        </p:spPr>
      </p:sp>
      <p:pic>
        <p:nvPicPr>
          <p:cNvPr id="22" name="Icône FaUsers" descr="icône">    </p:cNvPr>
          <p:cNvPicPr>
            <a:picLocks noChangeAspect="1"/>
          </p:cNvPicPr>
          <p:nvPr/>
        </p:nvPicPr>
        <p:blipFill>
          <a:blip r:embed="rId4"/>
          <a:stretch>
            <a:fillRect/>
          </a:stretch>
        </p:blipFill>
        <p:spPr>
          <a:xfrm>
            <a:off x="9527819" y="2052828"/>
            <a:ext cx="329184" cy="329184"/>
          </a:xfrm>
          <a:prstGeom prst="rect">
            <a:avLst/>
          </a:prstGeom>
        </p:spPr>
      </p:pic>
      <p:sp>
        <p:nvSpPr>
          <p:cNvPr id="23" name="Text 16"/>
          <p:cNvSpPr txBox="1"/>
          <p:nvPr/>
        </p:nvSpPr>
        <p:spPr>
          <a:xfrm>
            <a:off x="9349511" y="2788920"/>
            <a:ext cx="2019224" cy="731520"/>
          </a:xfrm>
          <a:prstGeom prst="rect">
            <a:avLst/>
          </a:prstGeom>
          <a:noFill/>
          <a:ln/>
        </p:spPr>
        <p:txBody>
          <a:bodyPr wrap="square" lIns="0" tIns="0" rIns="0" bIns="0" rtlCol="0" anchor="t"/>
          <a:lstStyle/>
          <a:p>
            <a:pPr indent="0" marL="0">
              <a:buNone/>
            </a:pPr>
            <a:r>
              <a:rPr lang="en-US" sz="2200" b="1" dirty="0">
                <a:solidFill>
                  <a:schemeClr val="tx1"/>
                </a:solidFill>
              </a:rPr>
              <a:t>Communauté</a:t>
            </a:r>
            <a:endParaRPr lang="en-US" sz="2200" dirty="0"/>
          </a:p>
        </p:txBody>
      </p:sp>
      <p:sp>
        <p:nvSpPr>
          <p:cNvPr id="24" name="Text 17"/>
          <p:cNvSpPr txBox="1"/>
          <p:nvPr/>
        </p:nvSpPr>
        <p:spPr>
          <a:xfrm>
            <a:off x="9349511" y="3566160"/>
            <a:ext cx="2019224" cy="2103120"/>
          </a:xfrm>
          <a:prstGeom prst="rect">
            <a:avLst/>
          </a:prstGeom>
          <a:noFill/>
          <a:ln/>
        </p:spPr>
        <p:txBody>
          <a:bodyPr wrap="square" lIns="0" tIns="0" rIns="0" bIns="0" rtlCol="0" anchor="t"/>
          <a:lstStyle/>
          <a:p>
            <a:pPr indent="0" marL="0">
              <a:buNone/>
            </a:pPr>
            <a:r>
              <a:rPr lang="en-US" sz="1900" dirty="0">
                <a:solidFill>
                  <a:schemeClr val="tx2"/>
                </a:solidFill>
              </a:rPr>
              <a:t>re:Post, r/AWSCertifications, vidéos re:Invent.</a:t>
            </a:r>
            <a:endParaRPr lang="en-US" sz="1900" dirty="0"/>
          </a:p>
        </p:txBody>
      </p:sp>
      <p:sp>
        <p:nvSpPr>
          <p:cNvPr id="25" name="Slide Number Placeholder 0"/>
          <p:cNvSpPr>
            <a:spLocks noGrp="1"/>
          </p:cNvSpPr>
          <p:nvPr>
            <p:ph type="sldNum" sz="quarter" idx="4294967295"/>
          </p:nvPr>
        </p:nvSpPr>
        <p:spPr>
          <a:xfrm>
            <a:off x="1097280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7863840" cy="2194560"/>
          </a:xfrm>
          <a:prstGeom prst="rect">
            <a:avLst/>
          </a:prstGeom>
          <a:noFill/>
          <a:ln/>
        </p:spPr>
        <p:txBody>
          <a:bodyPr wrap="square" lIns="0" tIns="0" rIns="0" bIns="0" rtlCol="0" anchor="b"/>
          <a:lstStyle/>
          <a:p>
            <a:pPr algn="l" indent="0" marL="0">
              <a:buNone/>
            </a:pPr>
            <a:r>
              <a:rPr lang="en-US" sz="5200" b="1" dirty="0">
                <a:solidFill>
                  <a:schemeClr val="bg1"/>
                </a:solidFill>
              </a:rPr>
              <a:t>Merci</a:t>
            </a:r>
            <a:endParaRPr lang="en-US" sz="5200" dirty="0"/>
          </a:p>
        </p:txBody>
      </p:sp>
      <p:sp>
        <p:nvSpPr>
          <p:cNvPr id="3" name="Text 1"/>
          <p:cNvSpPr txBox="1"/>
          <p:nvPr/>
        </p:nvSpPr>
        <p:spPr>
          <a:xfrm>
            <a:off x="822960" y="4251960"/>
            <a:ext cx="7680960" cy="914400"/>
          </a:xfrm>
          <a:prstGeom prst="rect">
            <a:avLst/>
          </a:prstGeom>
          <a:noFill/>
          <a:ln/>
        </p:spPr>
        <p:txBody>
          <a:bodyPr wrap="square" lIns="0" tIns="0" rIns="0" bIns="0" rtlCol="0" anchor="t"/>
          <a:lstStyle/>
          <a:p>
            <a:pPr indent="0" marL="0">
              <a:buNone/>
            </a:pPr>
            <a:r>
              <a:rPr lang="en-US" sz="2200" dirty="0">
                <a:solidFill>
                  <a:schemeClr val="bg2"/>
                </a:solidFill>
              </a:rPr>
              <a:t>Questions, retours et amélioration du cours : ouvrez une issue sur le dépôt</a:t>
            </a:r>
            <a:endParaRPr lang="en-US" sz="2200" dirty="0"/>
          </a:p>
        </p:txBody>
      </p:sp>
      <p:sp>
        <p:nvSpPr>
          <p:cNvPr id="4" name="Pastille FaCheckCircle"/>
          <p:cNvSpPr/>
          <p:nvPr/>
        </p:nvSpPr>
        <p:spPr>
          <a:xfrm>
            <a:off x="9509760" y="1828800"/>
            <a:ext cx="2377440" cy="2377440"/>
          </a:xfrm>
          <a:prstGeom prst="ellipse">
            <a:avLst/>
          </a:prstGeom>
          <a:solidFill>
            <a:schemeClr val="accent2"/>
          </a:solidFill>
          <a:ln w="12700">
            <a:solidFill>
              <a:schemeClr val="accent2"/>
            </a:solidFill>
            <a:prstDash val="solid"/>
          </a:ln>
        </p:spPr>
      </p:sp>
      <p:pic>
        <p:nvPicPr>
          <p:cNvPr id="5" name="Icône FaCheckCircle" descr="icône">    </p:cNvPr>
          <p:cNvPicPr>
            <a:picLocks noChangeAspect="1"/>
          </p:cNvPicPr>
          <p:nvPr/>
        </p:nvPicPr>
        <p:blipFill>
          <a:blip r:embed="rId1"/>
          <a:stretch>
            <a:fillRect/>
          </a:stretch>
        </p:blipFill>
        <p:spPr>
          <a:xfrm>
            <a:off x="10127894" y="2446934"/>
            <a:ext cx="1141171" cy="1141171"/>
          </a:xfrm>
          <a:prstGeom prst="rect">
            <a:avLst/>
          </a:prstGeom>
        </p:spPr>
      </p:pic>
    </p:spTree>
  </p:cSld>
  <p:clrMapOvr>
    <a:masterClrMapping/>
  </p:clrMapOvr>
</p:sld>
</file>

<file path=ppt/theme/theme1.xml><?xml version="1.0" encoding="utf-8"?>
<a:theme xmlns:a="http://schemas.openxmlformats.org/drawingml/2006/main" name="Formation AWS">
  <a:themeElements>
    <a:clrScheme name="Formation AWS">
      <a:dk1>
        <a:srgbClr val="17233B"/>
      </a:dk1>
      <a:lt1>
        <a:srgbClr val="FFFFFF"/>
      </a:lt1>
      <a:dk2>
        <a:srgbClr val="3A4A66"/>
      </a:dk2>
      <a:lt2>
        <a:srgbClr val="F1F4F9"/>
      </a:lt2>
      <a:accent1>
        <a:srgbClr val="E07B16"/>
      </a:accent1>
      <a:accent2>
        <a:srgbClr val="1F9E8E"/>
      </a:accent2>
      <a:accent3>
        <a:srgbClr val="4A62E0"/>
      </a:accent3>
      <a:accent4>
        <a:srgbClr val="D9482B"/>
      </a:accent4>
      <a:accent5>
        <a:srgbClr val="7C8AA5"/>
      </a:accent5>
      <a:accent6>
        <a:srgbClr val="6FA35B"/>
      </a:accent6>
      <a:hlink>
        <a:srgbClr val="4A62E0"/>
      </a:hlink>
      <a:folHlink>
        <a:srgbClr val="7C8AA5"/>
      </a:folHlink>
    </a:clrScheme>
    <a:fontScheme name="Formation AW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124</Slides>
  <Notes>124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124</vt:i4>
      </vt:variant>
    </vt:vector>
  </HeadingPairs>
  <TitlesOfParts>
    <vt:vector size="1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Formation AWS pour ingénieur DevOps</dc:title>
  <dc:subject>Du débutant à l'expert cloud AWS</dc:subject>
  <dc:creator>Formation AWS DevOps</dc:creator>
  <cp:lastModifiedBy>Formation AWS DevOps</cp:lastModifiedBy>
  <cp:revision>1</cp:revision>
  <dcterms:created xsi:type="dcterms:W3CDTF">2026-10-25T20:56:30Z</dcterms:created>
  <dcterms:modified xsi:type="dcterms:W3CDTF">2026-10-25T20:56:30Z</dcterms:modified>
</cp:coreProperties>
</file>